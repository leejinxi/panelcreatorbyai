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72" r:id="rId9"/>
    <p:sldId id="269" r:id="rId10"/>
    <p:sldId id="274" r:id="rId11"/>
    <p:sldId id="277" r:id="rId12"/>
    <p:sldId id="276" r:id="rId13"/>
    <p:sldId id="281" r:id="rId14"/>
    <p:sldId id="264" r:id="rId15"/>
    <p:sldId id="273" r:id="rId16"/>
    <p:sldId id="286" r:id="rId17"/>
    <p:sldId id="260" r:id="rId18"/>
    <p:sldId id="282" r:id="rId19"/>
    <p:sldId id="285" r:id="rId20"/>
    <p:sldId id="266" r:id="rId21"/>
    <p:sldId id="283" r:id="rId22"/>
    <p:sldId id="284" r:id="rId23"/>
    <p:sldId id="287" r:id="rId24"/>
    <p:sldId id="267" r:id="rId25"/>
    <p:sldId id="268" r:id="rId2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约25秒。本项目提交题目是AI辅助板架自动创建，项目初心始终没有改变。最初解决用户提出创建需求后，AI如何安全生成板架创建请求。进一步开发时发现，真实工程中的创建和重建需求还会由版本升级、数据迁移和关联修改触发，因此增加错误治理作为上游判断机制。本次汇报介绍两部分如何形成完整闭环。当前CAD数据与执行仍为Mock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目录约15秒。先说明项目为什么从单块板架创建扩展到全船错误治理，再展示两条流程如何共用板架创建执行底座，随后说明Agent如何判断哪些问题能够进入创建或重建链，最后展示双阶段Demo和公司CAD落地路线。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55秒。项目分为三个递进阶段。第一阶段证明自然语言能够转换为结构化PanelRequest，通过工程对象查询和安全检查后调用模拟create_panel。第二阶段解决什么时候需要创建或重建板架，错误治理从全船错误中识别可恢复对象。第三阶段保证只有影响范围明确、候选有效并满足安全条件的任务才能进入原板架创建链。错误治理负责找任务和选路线，板架创建负责把合格任务变成可执行请求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40秒。版本升级可能改变数据格式、对象关系和计算规则。数据转换遗漏可能导致板架边界缺失，父对象更新后可能需要重新计算，子构件也可能继续引用旧数据。这里的关键是不同错误不能采用同一种处理方式。板架数据缺失或迁移不完整可以形成恢复候选，肘板边界失效需要设计人员重新选择，几何内核异常则交给CAD研发排查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目录约15秒。先说明项目为什么从单块板架创建扩展到全船错误治理，再展示两条流程如何共用板架创建执行底座，随后说明Agent如何判断哪些问题能够进入创建或重建链，最后展示双阶段Demo和公司CAD落地路线。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55秒。板架任务有两个来源。第一类是设计人员主动提出创建需求，系统整理出定位面、厚度、材料和边界，形成板架请求。第二类由CAD模型错误触发，系统先分析错误和受影响对象，再判断能否通过板架更新或重建解决。可以恢复时形成板架恢复任务，并转换为板架请求；不能恢复时转给设计人员或CAD研发。两类任务形成板架请求后，共用板架创建流程、用户确认、执行前安全检查、CAD连接层和结果复查。当前Demo通过下钻页面展示衔接，自动转换和真实更新接口尚未实现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45秒。第6页来源二的第一步是取得模型错误。当前Demo从固定JSON文件读取错误快照，快照绑定工程ID和工程版本。每条错误包含对象ID、对象类型、上级对象ID和错误码，同时读取CAD给出的候选操作与预检结果。进入下一步前，程序检查对象ID是否重复、诊断引用是否有效。当前并未接入真实CAD扫描，因此这里验证的是错误数据的结构、校验和流程入口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60秒。错误原因不是由Agent自由推断，而是由CAD错误码和确定性映射规则得到。程序先沿上级对象关系找到最上层错误对象，再查询错误原因映射表。相同错误原因合并为同一个问题组，并补齐所有受影响对象。Group A来自边界数据迁移失败，Group B来自重新计算要求，Group C把板架方向变化和安装面变化统一归为肘板边界失效，Group D来自几何模块错误。对象关系只决定影响范围，CAD诊断只补充候选操作。遇到未知错误码时，系统停止自动归类并转人工确认。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60秒。第三步回答哪些错误能通过板架更新或重建解决。CAD事实和预检结果先进入规则代码，规则生成每个问题组允许选择的路线。Agent再结合本轮策略选择自动处理、确认后处理、人工处理或转CAD研发。执行前安全检查会复核工程版本、候选唯一性和用户授权。父板架重算可以自动执行，板架边界迁移需要确认后更新，肘板边界失效转设计人员，几何内核异常转CAD研发。Agent只能在允许路线中选择，越界方案会被安全规则覆盖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70秒。这是项目最初建立的AI辅助板架创建基础能力。设计人员输入自然语言后，LLM只负责提取定位面、边界、厚度和材料等候选参数。Agent检查缺失、冲突和边界格式，只有通过校验的数据才能形成PanelRequest。随后工程对象查询确认定位面和边界对象是否存在且唯一，Agent和Workflow根据结果决定继续、补充信息、等待确认或停止。进入执行阶段后，CAD Provider负责接口适配，MCP负责传递工具调用和结果，最终由C++ CAD软件完成真实建模并返回CadExecutionResult。当前原型已经验证前面的流程和Mock调用，真实MCP通信及C++ CAD建模尚未接入。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40秒。方案的主要价值是复用已经完成的板架创建原子能力，让人工创建和错误恢复共享数据格式、工程查询、安全检查和CAD接口。Agent根据工程事实和用户策略动态分流，系统优先恢复父对象并重新检查子构件。安全边界包括不让LLM判断真实几何，不处理未知或歧义对象，不把更新悄悄改成新建。最终几何始终由C++ CAD软件完成。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目录约15秒。先说明项目为什么从单块板架创建扩展到全船错误治理，再展示两条流程如何共用板架创建执行底座，随后说明Agent如何判断哪些问题能够进入创建或重建链，最后展示双阶段Demo和公司CAD落地路线。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60秒。LLM是Agent调用的一项语言能力，负责理解用户表达、生成候选参数和路线建议，但它不能确认工程对象，也不能直接操作CAD。Agent是流程控制中心，负责状态管理、确定性校验、安全路由和工具调用。CAD Provider是连接与适配层，它将统一的PanelRequest转换为具体CAD调用，并把工程查询和执行结果转换成统一格式。MCP是模型上下文协议，负责规范Agent侧和CAD侧如何传递工具调用、参数、结果及错误，它本身不进行智能决策。最终的工程对象、几何验证和正式建模由C++ CAD软件完成。当前演示中的工程目录、CAD Provider和MCP接口均为Mock，尚未接入真实CAD软件。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45秒。代码中已经存在两条LangGraph。model_error_graph负责错误治理，输出问题组、允许路线和恢复候选。agent/graph负责板架创建，处理PanelRequest、工程对象查询、安全检查和create_panel调用。两条流程共用schemas、tools、Qwen客户端和CadBackend接口。目前Web下钻页已经复用原板架创建链，但恢复候选自动转换为PanelRequest还没有接通，这也是下一阶段最直接的开发任务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55秒。Demo第一段展示错误治理。用户先选择本轮策略，再读取36条Mock错误。系统形成问题组、允许路线和Agent选择。安全项自动处理只放行唯一候选且预检查通过的低风险重算；板架更新仍要确认。只分析模式不会执行，所有修改需确认模式把可执行动作停在确认点。这里的重点是错误治理先找到真正需要恢复的板架，为下一页的板架创建链提供上游任务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55秒。Demo第一段展示错误治理。用户先选择本轮策略，再读取36条Mock错误。系统形成问题组、允许路线和Agent选择。安全项自动处理只放行唯一候选且预检查通过的低风险重算；板架更新仍要确认。只分析模式不会执行，所有修改需确认模式把可执行动作停在确认点。这里的重点是错误治理先找到真正需要恢复的板架，为下一页的板架创建链提供上游任务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65秒。Demo第二段从可恢复错误下钻到板架自动更新说明。页面先锁定错误板架，读取CAD候选，判断重算还是更新，并说明父板架恢复后需要重新检查子构件。下方直接复用原有板架创建链，展示Qwen参数解析、两次Agent决策、Mock工程查询、Safety Gate和CAD Provider。示例PanelRequest包含FR100、14毫米、AH36和两条边界。当前这段衔接通过页面说明和手动示例完成，RepairCandidate自动转换和真实错误板架更新尚未实现。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65秒。Demo第二段从可恢复错误下钻到板架自动更新说明。页面先锁定错误板架，读取CAD候选，判断重算还是更新，并说明父板架恢复后需要重新检查子构件。下方直接复用原有板架创建链，展示Qwen参数解析、两次Agent决策、Mock工程查询、Safety Gate和CAD Provider。示例PanelRequest包含FR100、14毫米、AH36和两条边界。当前这段衔接通过页面说明和手动示例完成，RepairCandidate自动转换和真实错误板架更新尚未实现。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目录约15秒。先说明项目为什么从单块板架创建扩展到全船错误治理，再展示两条流程如何共用板架创建执行底座，随后说明Agent如何判断哪些问题能够进入创建或重建链，最后展示双阶段Demo和公司CAD落地路线。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55秒。当前已经证明两类核心能力：自然语言能够形成PanelRequest并完成模拟创建；36条原始错误能够归为4个问题组，默认策略下模拟恢复26条，剩余10条转人工或研发。当前不足是数据和执行仍为Mock，恢复候选还没有自动转换，真实按ID更新、事务回滚、几何和强度校核也没有实现。公司落地建议从只读错误分析开始，再做确认后板架更新，随后试点低风险自动重算，最终形成真实全船闭环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约55秒。当前已经证明两类核心能力：自然语言能够形成PanelRequest并完成模拟创建；36条原始错误能够归为4个问题组，默认策略下模拟恢复26条，剩余10条转人工或研发。当前不足是数据和执行仍为Mock，恢复候选还没有自动转换，真实按ID更新、事务回滚、几何和强度校核也没有实现。公司落地建议从只读错误分析开始，再做确认后板架更新，随后试点低风险自动重算，最终形成真实全船闭环。 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结束约10秒。项目初心仍然是AI辅助板架自动创建。错误治理让系统进一步知道何时需要创建或重建，并保证只有安全、可验证的任务进入创建链。进入提问。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/>
      <p:pic>
        <p:nvPicPr>
          <p:cNvPr id="3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9525">
            <a:noFill/>
            <a:miter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8475" y="359410"/>
            <a:ext cx="4175126" cy="388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/>
      <p:pic>
        <p:nvPicPr>
          <p:cNvPr id="9" name="图片 6"/>
          <p:cNvPicPr>
            <a:picLocks noChangeAspect="1"/>
          </p:cNvPicPr>
          <p:nvPr/>
        </p:nvPicPr>
        <p:blipFill rotWithShape="1">
          <a:blip r:embed="rId2">
            <a:alphaModFix amt="21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1156335" y="1270000"/>
            <a:ext cx="11035665" cy="4561499"/>
          </a:xfrm>
          <a:prstGeom prst="rect">
            <a:avLst/>
          </a:prstGeom>
        </p:spPr>
      </p:pic>
      <p:pic>
        <p:nvPicPr>
          <p:cNvPr id="10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6240463"/>
            <a:ext cx="12192000" cy="617537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4" name="任意多边形: 形状 9"/>
          <p:cNvSpPr>
            <a:spLocks noGrp="1"/>
          </p:cNvSpPr>
          <p:nvPr/>
        </p:nvSpPr>
        <p:spPr>
          <a:xfrm rot="2770149">
            <a:off x="-515937" y="1771649"/>
            <a:ext cx="3600450" cy="3600451"/>
          </a:xfrm>
          <a:custGeom>
            <a:avLst/>
            <a:gdLst>
              <a:gd name="connsiteX0" fmla="*/ 175740 w 3600000"/>
              <a:gd name="connsiteY0" fmla="*/ 175740 h 3600000"/>
              <a:gd name="connsiteX1" fmla="*/ 600012 w 3600000"/>
              <a:gd name="connsiteY1" fmla="*/ 0 h 3600000"/>
              <a:gd name="connsiteX2" fmla="*/ 2999988 w 3600000"/>
              <a:gd name="connsiteY2" fmla="*/ 0 h 3600000"/>
              <a:gd name="connsiteX3" fmla="*/ 3600000 w 3600000"/>
              <a:gd name="connsiteY3" fmla="*/ 600012 h 3600000"/>
              <a:gd name="connsiteX4" fmla="*/ 3600000 w 3600000"/>
              <a:gd name="connsiteY4" fmla="*/ 2999988 h 3600000"/>
              <a:gd name="connsiteX5" fmla="*/ 2999988 w 3600000"/>
              <a:gd name="connsiteY5" fmla="*/ 3600000 h 3600000"/>
              <a:gd name="connsiteX6" fmla="*/ 1820707 w 3600000"/>
              <a:gd name="connsiteY6" fmla="*/ 3600000 h 3600000"/>
              <a:gd name="connsiteX7" fmla="*/ 0 w 3600000"/>
              <a:gd name="connsiteY7" fmla="*/ 1852122 h 3600000"/>
              <a:gd name="connsiteX8" fmla="*/ 0 w 3600000"/>
              <a:gd name="connsiteY8" fmla="*/ 600012 h 3600000"/>
              <a:gd name="connsiteX9" fmla="*/ 175740 w 3600000"/>
              <a:gd name="connsiteY9" fmla="*/ 175740 h 3600000"/>
            </a:gdLst>
            <a:ahLst/>
            <a:cxnLst/>
            <a:rect l="l" t="t" r="r" b="b"/>
            <a:pathLst>
              <a:path w="3600000" h="3600000">
                <a:moveTo>
                  <a:pt x="175740" y="175740"/>
                </a:moveTo>
                <a:cubicBezTo>
                  <a:pt x="284321" y="67159"/>
                  <a:pt x="434324" y="0"/>
                  <a:pt x="600012" y="0"/>
                </a:cubicBezTo>
                <a:lnTo>
                  <a:pt x="2999988" y="0"/>
                </a:lnTo>
                <a:cubicBezTo>
                  <a:pt x="3331365" y="0"/>
                  <a:pt x="3600000" y="268635"/>
                  <a:pt x="3600000" y="600012"/>
                </a:cubicBezTo>
                <a:lnTo>
                  <a:pt x="3600000" y="2999988"/>
                </a:lnTo>
                <a:cubicBezTo>
                  <a:pt x="3600000" y="3331365"/>
                  <a:pt x="3331365" y="3600000"/>
                  <a:pt x="2999988" y="3600000"/>
                </a:cubicBezTo>
                <a:lnTo>
                  <a:pt x="1820707" y="3600000"/>
                </a:lnTo>
                <a:lnTo>
                  <a:pt x="0" y="1852122"/>
                </a:lnTo>
                <a:lnTo>
                  <a:pt x="0" y="600012"/>
                </a:lnTo>
                <a:cubicBezTo>
                  <a:pt x="0" y="434323"/>
                  <a:pt x="67159" y="284320"/>
                  <a:pt x="175740" y="17574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文本框 7"/>
          <p:cNvSpPr>
            <a:spLocks noGrp="1"/>
          </p:cNvSpPr>
          <p:nvPr/>
        </p:nvSpPr>
        <p:spPr>
          <a:xfrm>
            <a:off x="1298575" y="2971800"/>
            <a:ext cx="2057400" cy="11988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endParaRPr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endParaRPr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8475" y="359410"/>
            <a:ext cx="4175126" cy="388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/>
      <p:pic>
        <p:nvPicPr>
          <p:cNvPr id="13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240463"/>
            <a:ext cx="12192000" cy="617537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838200" y="6496050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  <a:r>
              <a:t>2022/7/5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4038600" y="6496050"/>
            <a:ext cx="41148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610600" y="6496050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8200" y="447140"/>
            <a:ext cx="360000" cy="35825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8" name="图片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08659" y="88883"/>
            <a:ext cx="3869526" cy="35825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/>
      <p:pic>
        <p:nvPicPr>
          <p:cNvPr id="9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240463"/>
            <a:ext cx="12192000" cy="617537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838200" y="6496050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  <a:r>
              <a:t>2022/7/5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4038600" y="6496050"/>
            <a:ext cx="41148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610600" y="6496050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08659" y="88883"/>
            <a:ext cx="3869526" cy="35825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/>
      <p:pic>
        <p:nvPicPr>
          <p:cNvPr id="3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9525">
            <a:noFill/>
            <a:miter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8475" y="359410"/>
            <a:ext cx="4175126" cy="388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/>
      <p:pic>
        <p:nvPicPr>
          <p:cNvPr id="9" name="图片 6"/>
          <p:cNvPicPr>
            <a:picLocks noChangeAspect="1"/>
          </p:cNvPicPr>
          <p:nvPr/>
        </p:nvPicPr>
        <p:blipFill rotWithShape="1">
          <a:blip r:embed="rId2">
            <a:alphaModFix amt="21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1156335" y="1270000"/>
            <a:ext cx="11035665" cy="4561499"/>
          </a:xfrm>
          <a:prstGeom prst="rect">
            <a:avLst/>
          </a:prstGeom>
        </p:spPr>
      </p:pic>
      <p:pic>
        <p:nvPicPr>
          <p:cNvPr id="10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6240463"/>
            <a:ext cx="12192000" cy="617537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4" name="任意多边形: 形状 9"/>
          <p:cNvSpPr>
            <a:spLocks noGrp="1"/>
          </p:cNvSpPr>
          <p:nvPr/>
        </p:nvSpPr>
        <p:spPr>
          <a:xfrm rot="2770149">
            <a:off x="-515937" y="1771649"/>
            <a:ext cx="3600450" cy="3600451"/>
          </a:xfrm>
          <a:custGeom>
            <a:avLst/>
            <a:gdLst>
              <a:gd name="connsiteX0" fmla="*/ 175740 w 3600000"/>
              <a:gd name="connsiteY0" fmla="*/ 175740 h 3600000"/>
              <a:gd name="connsiteX1" fmla="*/ 600012 w 3600000"/>
              <a:gd name="connsiteY1" fmla="*/ 0 h 3600000"/>
              <a:gd name="connsiteX2" fmla="*/ 2999988 w 3600000"/>
              <a:gd name="connsiteY2" fmla="*/ 0 h 3600000"/>
              <a:gd name="connsiteX3" fmla="*/ 3600000 w 3600000"/>
              <a:gd name="connsiteY3" fmla="*/ 600012 h 3600000"/>
              <a:gd name="connsiteX4" fmla="*/ 3600000 w 3600000"/>
              <a:gd name="connsiteY4" fmla="*/ 2999988 h 3600000"/>
              <a:gd name="connsiteX5" fmla="*/ 2999988 w 3600000"/>
              <a:gd name="connsiteY5" fmla="*/ 3600000 h 3600000"/>
              <a:gd name="connsiteX6" fmla="*/ 1820707 w 3600000"/>
              <a:gd name="connsiteY6" fmla="*/ 3600000 h 3600000"/>
              <a:gd name="connsiteX7" fmla="*/ 0 w 3600000"/>
              <a:gd name="connsiteY7" fmla="*/ 1852122 h 3600000"/>
              <a:gd name="connsiteX8" fmla="*/ 0 w 3600000"/>
              <a:gd name="connsiteY8" fmla="*/ 600012 h 3600000"/>
              <a:gd name="connsiteX9" fmla="*/ 175740 w 3600000"/>
              <a:gd name="connsiteY9" fmla="*/ 175740 h 3600000"/>
            </a:gdLst>
            <a:ahLst/>
            <a:cxnLst/>
            <a:rect l="l" t="t" r="r" b="b"/>
            <a:pathLst>
              <a:path w="3600000" h="3600000">
                <a:moveTo>
                  <a:pt x="175740" y="175740"/>
                </a:moveTo>
                <a:cubicBezTo>
                  <a:pt x="284321" y="67159"/>
                  <a:pt x="434324" y="0"/>
                  <a:pt x="600012" y="0"/>
                </a:cubicBezTo>
                <a:lnTo>
                  <a:pt x="2999988" y="0"/>
                </a:lnTo>
                <a:cubicBezTo>
                  <a:pt x="3331365" y="0"/>
                  <a:pt x="3600000" y="268635"/>
                  <a:pt x="3600000" y="600012"/>
                </a:cubicBezTo>
                <a:lnTo>
                  <a:pt x="3600000" y="2999988"/>
                </a:lnTo>
                <a:cubicBezTo>
                  <a:pt x="3600000" y="3331365"/>
                  <a:pt x="3331365" y="3600000"/>
                  <a:pt x="2999988" y="3600000"/>
                </a:cubicBezTo>
                <a:lnTo>
                  <a:pt x="1820707" y="3600000"/>
                </a:lnTo>
                <a:lnTo>
                  <a:pt x="0" y="1852122"/>
                </a:lnTo>
                <a:lnTo>
                  <a:pt x="0" y="600012"/>
                </a:lnTo>
                <a:cubicBezTo>
                  <a:pt x="0" y="434323"/>
                  <a:pt x="67159" y="284320"/>
                  <a:pt x="175740" y="17574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文本框 7"/>
          <p:cNvSpPr>
            <a:spLocks noGrp="1"/>
          </p:cNvSpPr>
          <p:nvPr/>
        </p:nvSpPr>
        <p:spPr>
          <a:xfrm>
            <a:off x="1298575" y="2971800"/>
            <a:ext cx="2057400" cy="11988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endParaRPr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endParaRPr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8475" y="359410"/>
            <a:ext cx="4175126" cy="388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/>
      <p:pic>
        <p:nvPicPr>
          <p:cNvPr id="13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240463"/>
            <a:ext cx="12192000" cy="617537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838200" y="6496050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  <a:r>
              <a:t>2022/7/5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4038600" y="6496050"/>
            <a:ext cx="41148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610600" y="6496050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8200" y="447140"/>
            <a:ext cx="360000" cy="35825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8" name="图片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08659" y="88883"/>
            <a:ext cx="3869526" cy="35825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/>
      <p:pic>
        <p:nvPicPr>
          <p:cNvPr id="9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240463"/>
            <a:ext cx="12192000" cy="617537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838200" y="6496050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  <a:r>
              <a:t>2022/7/5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4038600" y="6496050"/>
            <a:ext cx="41148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610600" y="6496050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buNone/>
            </a:pPr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08659" y="88883"/>
            <a:ext cx="3869526" cy="35825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r>
              <a:t>2022/7/5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/>
  <p:txStyles>
    <p:titleStyle>
      <a:lvl1pPr algn="l">
        <a:lnSpc>
          <a:spcPct val="90000"/>
        </a:lnSpc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2pPr>
      <a:lvl3pPr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3pPr>
      <a:lvl4pPr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4pPr>
      <a:lvl5pPr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5pPr>
      <a:lvl6pPr marL="4572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6pPr>
      <a:lvl7pPr marL="9144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7pPr>
      <a:lvl8pPr marL="13716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8pPr>
      <a:lvl9pPr marL="18288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9pPr>
    </p:titleStyle>
    <p:bodyStyle>
      <a:lvl1pPr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r>
              <a:t>2022/7/5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/>
  <p:txStyles>
    <p:titleStyle>
      <a:lvl1pPr algn="l">
        <a:lnSpc>
          <a:spcPct val="90000"/>
        </a:lnSpc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2pPr>
      <a:lvl3pPr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3pPr>
      <a:lvl4pPr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4pPr>
      <a:lvl5pPr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5pPr>
      <a:lvl6pPr marL="4572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6pPr>
      <a:lvl7pPr marL="9144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7pPr>
      <a:lvl8pPr marL="13716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8pPr>
      <a:lvl9pPr marL="18288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 panose="020F0302020204030204"/>
          <a:ea typeface="Calibri Light" panose="020F0302020204030204"/>
          <a:cs typeface="Calibri Light" panose="020F0302020204030204"/>
        </a:defRPr>
      </a:lvl9pPr>
    </p:titleStyle>
    <p:bodyStyle>
      <a:lvl1pPr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3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5" Type="http://schemas.openxmlformats.org/officeDocument/2006/relationships/notesSlide" Target="../notesSlides/notesSlide15.xml"/><Relationship Id="rId24" Type="http://schemas.openxmlformats.org/officeDocument/2006/relationships/slideLayout" Target="../slideLayouts/slideLayout8.xml"/><Relationship Id="rId23" Type="http://schemas.openxmlformats.org/officeDocument/2006/relationships/image" Target="../media/image7.png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tags" Target="../tags/tag58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3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21"/>
          <p:cNvSpPr>
            <a:spLocks noGrp="1"/>
          </p:cNvSpPr>
          <p:nvPr/>
        </p:nvSpPr>
        <p:spPr>
          <a:xfrm>
            <a:off x="0" y="1887855"/>
            <a:ext cx="12192000" cy="2944495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endParaRPr sz="4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-1270" y="1887855"/>
            <a:ext cx="12192000" cy="27501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ctr" defTabSz="86677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4400"/>
              <a:t>AI辅助板架自动创建</a:t>
            </a:r>
            <a:endParaRPr sz="4400"/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-1270" y="5634355"/>
            <a:ext cx="1219327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2026年9月</a:t>
            </a:r>
            <a:endParaRPr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-50800" y="5222875"/>
            <a:ext cx="12242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详设</a:t>
            </a: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｜面向全船模型错误治理的安全创建与恢复闭环</a:t>
            </a:r>
            <a:endParaRPr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332054" y="2011362"/>
            <a:ext cx="4692678" cy="28352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1F4E7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640705" y="1809750"/>
            <a:ext cx="5170170" cy="3048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项目初心与问题演化</a:t>
            </a:r>
            <a:endParaRPr sz="1875" b="0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板架创建与错误治理一体化方案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Agent决策、安全边界与双阶段Demo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阶段效果、不足与公司软件落地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项目初心与演化逻辑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96202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核心目标始终是让AI安全地辅助板架创建</a:t>
            </a:r>
            <a:endParaRPr sz="16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14375" y="1571625"/>
            <a:ext cx="3000375" cy="2238375"/>
          </a:xfrm>
          <a:prstGeom prst="roundRect">
            <a:avLst>
              <a:gd name="adj" fmla="val 3404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9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 能创建</a:t>
            </a:r>
            <a:endParaRPr sz="139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90"/>
          </a:p>
          <a:p>
            <a:pPr algn="ctr">
              <a:defRPr sz="139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 → 板架请求（PanelRequest）</a:t>
            </a:r>
            <a:endParaRPr sz="139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9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工程对象查询 → 安全检查</a:t>
            </a:r>
            <a:endParaRPr sz="139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9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 create_panel() Mock</a:t>
            </a:r>
            <a:endParaRPr sz="139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0575" y="1571625"/>
            <a:ext cx="3000375" cy="2238375"/>
          </a:xfrm>
          <a:prstGeom prst="roundRect">
            <a:avLst>
              <a:gd name="adj" fmla="val 3404"/>
            </a:avLst>
          </a:prstGeom>
          <a:solidFill>
            <a:srgbClr val="FFF5E8"/>
          </a:solidFill>
          <a:ln w="11430">
            <a:solidFill>
              <a:srgbClr val="C56A00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 知道何时需要创建或重建</a:t>
            </a:r>
            <a:endParaRPr sz="135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ctr">
              <a:def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模型升级产生关联错误</a:t>
            </a:r>
            <a:endParaRPr sz="135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从全船错误中找出可恢复板架</a:t>
            </a:r>
            <a:endParaRPr sz="135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生成板架恢复候选</a:t>
            </a:r>
            <a:endParaRPr sz="135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477250" y="1571625"/>
            <a:ext cx="3000375" cy="2238375"/>
          </a:xfrm>
          <a:prstGeom prst="roundRect">
            <a:avLst>
              <a:gd name="adj" fmla="val 3404"/>
            </a:avLst>
          </a:prstGeom>
          <a:solidFill>
            <a:srgbClr val="EAF7F2"/>
          </a:solidFill>
          <a:ln w="11430">
            <a:solidFill>
              <a:srgbClr val="14805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  只在安全时创建</a:t>
            </a:r>
            <a:endParaRPr sz="13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ctr">
              <a:def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确认影响范围和允许路线</a:t>
            </a:r>
            <a:endParaRPr sz="13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合格任务进入原板架创建链</a:t>
            </a:r>
            <a:endParaRPr sz="13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人工与软件问题不自动执行</a:t>
            </a:r>
            <a:endParaRPr sz="13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直接箭头连接符 19"/>
          <p:cNvCxnSpPr>
            <a:stCxn id="7" idx="1"/>
            <a:endCxn id="6" idx="3"/>
          </p:cNvCxnSpPr>
          <p:nvPr>
            <p:custDataLst>
              <p:tags r:id="rId3"/>
            </p:custDataLst>
          </p:nvPr>
        </p:nvCxnSpPr>
        <p:spPr>
          <a:xfrm flipH="1">
            <a:off x="3714750" y="2690813"/>
            <a:ext cx="885825" cy="0"/>
          </a:xfrm>
          <a:prstGeom prst="straightConnector1">
            <a:avLst/>
          </a:prstGeom>
          <a:ln w="19050">
            <a:solidFill>
              <a:srgbClr val="C56A00"/>
            </a:solidFill>
            <a:prstDash val="solid"/>
            <a:headEnd type="triangle" w="sm" len="sm"/>
          </a:ln>
        </p:spPr>
      </p:cxnSp>
      <p:cxnSp>
        <p:nvCxnSpPr>
          <p:cNvPr id="21" name="直接箭头连接符 20"/>
          <p:cNvCxnSpPr>
            <a:stCxn id="8" idx="1"/>
            <a:endCxn id="7" idx="3"/>
          </p:cNvCxnSpPr>
          <p:nvPr>
            <p:custDataLst>
              <p:tags r:id="rId4"/>
            </p:custDataLst>
          </p:nvPr>
        </p:nvCxnSpPr>
        <p:spPr>
          <a:xfrm flipH="1">
            <a:off x="7600950" y="2690813"/>
            <a:ext cx="876300" cy="0"/>
          </a:xfrm>
          <a:prstGeom prst="straightConnector1">
            <a:avLst/>
          </a:prstGeom>
          <a:ln w="19050">
            <a:solidFill>
              <a:srgbClr val="14805E"/>
            </a:solidFill>
            <a:prstDash val="solid"/>
            <a:headEnd type="triangle" w="sm" len="sm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1190625" y="4381500"/>
            <a:ext cx="9810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错误治理负责：为什么处理、处理哪个对象、允许采用什么方式</a:t>
            </a:r>
            <a:endParaRPr sz="150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90625" y="4905375"/>
            <a:ext cx="9810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板架创建负责：参数是否完整、工程对象是否有效、能否提交CAD执行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00125" y="5572125"/>
            <a:ext cx="10191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项目由单次创建原型扩展为“发现问题 → 判断能否恢复 → 安全创建或更新 → 复查结果”的工程闭环。</a:t>
            </a:r>
            <a:endParaRPr sz="1275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常见错误原因分析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962025"/>
            <a:ext cx="10287000" cy="7340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CAD软件版本</a:t>
            </a:r>
            <a:r>
              <a:rPr lang="zh-CN"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由于方案修正、属性修改等原因，全船升级时</a:t>
            </a:r>
            <a:r>
              <a:rPr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存在节点计算失败，</a:t>
            </a:r>
            <a:r>
              <a:rPr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部分错误会形成新的板架</a:t>
            </a:r>
            <a:r>
              <a:rPr lang="zh-CN"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</a:t>
            </a:r>
            <a:r>
              <a:rPr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、更新或重算需求</a:t>
            </a:r>
            <a:endParaRPr sz="16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0" y="1888490"/>
            <a:ext cx="2095500" cy="647700"/>
          </a:xfrm>
          <a:prstGeom prst="roundRect">
            <a:avLst>
              <a:gd name="adj" fmla="val 11765"/>
            </a:avLst>
          </a:prstGeom>
          <a:solidFill>
            <a:srgbClr val="EAF4FA"/>
          </a:solidFill>
          <a:ln w="12383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旧版本工程数据</a:t>
            </a:r>
            <a:endParaRPr sz="135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476625" y="1888490"/>
            <a:ext cx="2286000" cy="647700"/>
          </a:xfrm>
          <a:prstGeom prst="roundRect">
            <a:avLst>
              <a:gd name="adj" fmla="val 11765"/>
            </a:avLst>
          </a:prstGeom>
          <a:solidFill>
            <a:srgbClr val="FFF5E8"/>
          </a:solidFill>
          <a:ln w="12383">
            <a:solidFill>
              <a:srgbClr val="E8B86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版本升级与数据转换</a:t>
            </a:r>
            <a:endParaRPr sz="135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77000" y="1888490"/>
            <a:ext cx="2381250" cy="647700"/>
          </a:xfrm>
          <a:prstGeom prst="roundRect">
            <a:avLst>
              <a:gd name="adj" fmla="val 11765"/>
            </a:avLst>
          </a:prstGeom>
          <a:solidFill>
            <a:srgbClr val="EAF7F2"/>
          </a:solidFill>
          <a:ln w="12383">
            <a:solidFill>
              <a:srgbClr val="79B99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对象关系更新与重新计算</a:t>
            </a:r>
            <a:endParaRPr sz="13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572625" y="1888490"/>
            <a:ext cx="1952625" cy="647700"/>
          </a:xfrm>
          <a:prstGeom prst="roundRect">
            <a:avLst>
              <a:gd name="adj" fmla="val 11765"/>
            </a:avLst>
          </a:prstGeom>
          <a:solidFill>
            <a:srgbClr val="EAF4FA"/>
          </a:solidFill>
          <a:ln w="12383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新版本错误检查</a:t>
            </a:r>
            <a:endParaRPr sz="135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直接箭头连接符 57"/>
          <p:cNvCxnSpPr>
            <a:stCxn id="7" idx="1"/>
            <a:endCxn id="6" idx="3"/>
          </p:cNvCxnSpPr>
          <p:nvPr>
            <p:custDataLst>
              <p:tags r:id="rId5"/>
            </p:custDataLst>
          </p:nvPr>
        </p:nvCxnSpPr>
        <p:spPr>
          <a:xfrm flipH="1">
            <a:off x="2762250" y="2212340"/>
            <a:ext cx="714375" cy="0"/>
          </a:xfrm>
          <a:prstGeom prst="straightConnector1">
            <a:avLst/>
          </a:prstGeom>
          <a:ln w="19050">
            <a:solidFill>
              <a:srgbClr val="1674B8"/>
            </a:solidFill>
            <a:prstDash val="solid"/>
            <a:headEnd type="triangle" w="sm" len="sm"/>
          </a:ln>
        </p:spPr>
      </p:cxnSp>
      <p:cxnSp>
        <p:nvCxnSpPr>
          <p:cNvPr id="59" name="直接箭头连接符 58"/>
          <p:cNvCxnSpPr>
            <a:stCxn id="8" idx="1"/>
            <a:endCxn id="7" idx="3"/>
          </p:cNvCxnSpPr>
          <p:nvPr>
            <p:custDataLst>
              <p:tags r:id="rId6"/>
            </p:custDataLst>
          </p:nvPr>
        </p:nvCxnSpPr>
        <p:spPr>
          <a:xfrm flipH="1">
            <a:off x="5762625" y="2212340"/>
            <a:ext cx="714375" cy="0"/>
          </a:xfrm>
          <a:prstGeom prst="straightConnector1">
            <a:avLst/>
          </a:prstGeom>
          <a:ln w="19050">
            <a:solidFill>
              <a:srgbClr val="1674B8"/>
            </a:solidFill>
            <a:prstDash val="solid"/>
            <a:headEnd type="triangle" w="sm" len="sm"/>
          </a:ln>
        </p:spPr>
      </p:cxnSp>
      <p:cxnSp>
        <p:nvCxnSpPr>
          <p:cNvPr id="60" name="直接箭头连接符 59"/>
          <p:cNvCxnSpPr>
            <a:stCxn id="9" idx="1"/>
            <a:endCxn id="8" idx="3"/>
          </p:cNvCxnSpPr>
          <p:nvPr>
            <p:custDataLst>
              <p:tags r:id="rId7"/>
            </p:custDataLst>
          </p:nvPr>
        </p:nvCxnSpPr>
        <p:spPr>
          <a:xfrm flipH="1">
            <a:off x="8858250" y="2212340"/>
            <a:ext cx="714375" cy="0"/>
          </a:xfrm>
          <a:prstGeom prst="straightConnector1">
            <a:avLst/>
          </a:prstGeom>
          <a:ln w="19050">
            <a:solidFill>
              <a:srgbClr val="1674B8"/>
            </a:solidFill>
            <a:prstDash val="solid"/>
            <a:headEnd type="triangle" w="sm" len="sm"/>
          </a:ln>
        </p:spPr>
      </p:cxn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66750" y="287401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1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1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219200" y="2826385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数据格式不兼容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210310" y="3302635"/>
            <a:ext cx="200914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旧字段被调整或删除</a:t>
            </a:r>
            <a:endParaRPr sz="12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不同版本读取规则不一致</a:t>
            </a:r>
            <a:endParaRPr sz="12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219200" y="3255010"/>
            <a:ext cx="1762125" cy="19050"/>
          </a:xfrm>
          <a:prstGeom prst="rect">
            <a:avLst/>
          </a:prstGeom>
          <a:solidFill>
            <a:srgbClr val="1674B8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476625" y="287401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1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10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029075" y="2826385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数据转换不完整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4029075" y="3302635"/>
            <a:ext cx="2000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批量转换中断或遗漏</a:t>
            </a:r>
            <a:endParaRPr sz="12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部分边界、引用没有写入新格式</a:t>
            </a:r>
            <a:endParaRPr sz="12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029075" y="3255010"/>
            <a:ext cx="1762125" cy="19050"/>
          </a:xfrm>
          <a:prstGeom prst="rect">
            <a:avLst/>
          </a:prstGeom>
          <a:solidFill>
            <a:srgbClr val="C56A00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286500" y="287401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1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10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838950" y="2826385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对象关系没有同步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838950" y="3302635"/>
            <a:ext cx="2000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父对象已经更新</a:t>
            </a:r>
            <a:endParaRPr sz="12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子对象仍引用旧数据或旧结果</a:t>
            </a:r>
            <a:endParaRPr sz="12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6838950" y="3255010"/>
            <a:ext cx="1762125" cy="19050"/>
          </a:xfrm>
          <a:prstGeom prst="rect">
            <a:avLst/>
          </a:prstGeom>
          <a:solidFill>
            <a:srgbClr val="14805E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096375" y="287401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1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10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9648825" y="2826385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重新计算或软件异常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9648825" y="3302635"/>
            <a:ext cx="2000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计算顺序、容差或算法发生变化</a:t>
            </a:r>
            <a:endParaRPr sz="12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几何计算可能失败</a:t>
            </a:r>
            <a:endParaRPr sz="127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9648825" y="3255010"/>
            <a:ext cx="1762125" cy="19050"/>
          </a:xfrm>
          <a:prstGeom prst="rect">
            <a:avLst/>
          </a:prstGeom>
          <a:solidFill>
            <a:srgbClr val="B73746"/>
          </a:solidFill>
          <a:ln w="0">
            <a:noFill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1095375" y="4779010"/>
            <a:ext cx="10001250" cy="685800"/>
          </a:xfrm>
          <a:prstGeom prst="roundRect">
            <a:avLst>
              <a:gd name="adj" fmla="val 11111"/>
            </a:avLst>
          </a:prstGeom>
          <a:solidFill>
            <a:srgbClr val="EEF6FB"/>
          </a:solidFill>
          <a:ln w="12383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42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当前Demo模拟四类问题：板架边界迁移不完整、父板架待重算、肘板边界失效、CAD计算异常</a:t>
            </a:r>
            <a:endParaRPr sz="1425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71625" y="5588635"/>
            <a:ext cx="9048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只有板架数据缺失或迁移不完整等可恢复问题，才进入板架创建或更新链；其余转人工</a:t>
            </a:r>
            <a:r>
              <a:rPr lang="zh-CN"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处理或开发</a:t>
            </a:r>
            <a:r>
              <a: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20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332054" y="2011362"/>
            <a:ext cx="4692678" cy="28352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1F4E7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640705" y="1809750"/>
            <a:ext cx="5170170" cy="3048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项目初心与问题演化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板架创建与错误治理一体化方案</a:t>
            </a:r>
            <a:endParaRPr sz="1875" b="0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Agent决策、安全边界与双阶段Demo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阶段效果、不足与公司软件落地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板架创建与错误治理一体化方案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5145" y="96202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两类任务来源不同，但进入CAD执行前都必须形成板架请求，并经过同一套检查</a:t>
            </a:r>
            <a:endParaRPr sz="1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25145" y="1434465"/>
            <a:ext cx="4124960" cy="56261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marL="285750" indent="-285750" algn="l">
              <a:buFont typeface="Wingdings" panose="05000000000000000000" charset="0"/>
              <a:buChar char="Ø"/>
              <a:defRPr sz="15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5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辅助板架创建</a:t>
            </a:r>
            <a:r>
              <a:rPr lang="en-US" altLang="zh-CN" sz="15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5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设计员主动输入</a:t>
            </a:r>
            <a:r>
              <a:rPr lang="zh-CN" altLang="en-US" sz="15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</a:t>
            </a:r>
            <a:endParaRPr lang="zh-CN" altLang="en-US" sz="15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737360" y="1997075"/>
            <a:ext cx="2571750" cy="685800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设计人员主动提出</a:t>
            </a:r>
            <a:endParaRPr sz="135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板架创建需求</a:t>
            </a:r>
            <a:endParaRPr sz="135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66360" y="1997075"/>
            <a:ext cx="2333625" cy="685800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形成板架请求</a:t>
            </a:r>
            <a:endParaRPr sz="1425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 flipH="1">
            <a:off x="4309110" y="2372995"/>
            <a:ext cx="857250" cy="0"/>
          </a:xfrm>
          <a:prstGeom prst="straightConnector1">
            <a:avLst/>
          </a:prstGeom>
          <a:ln w="19050">
            <a:solidFill>
              <a:srgbClr val="1674B8"/>
            </a:solidFill>
            <a:prstDash val="solid"/>
            <a:headEnd type="triangle" w="sm" len="sm"/>
          </a:ln>
        </p:spPr>
      </p:cxnSp>
      <p:sp>
        <p:nvSpPr>
          <p:cNvPr id="10" name="矩形 9"/>
          <p:cNvSpPr>
            <a:spLocks noGrp="1"/>
          </p:cNvSpPr>
          <p:nvPr/>
        </p:nvSpPr>
        <p:spPr>
          <a:xfrm>
            <a:off x="5166360" y="271145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90" b="0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定位面、厚度、材料和边界</a:t>
            </a:r>
            <a:endParaRPr sz="1200" b="1">
              <a:solidFill>
                <a:srgbClr val="163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5145" y="3232785"/>
            <a:ext cx="6008370" cy="561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marL="285750" lvl="0" indent="-285750" algn="l">
              <a:buClrTx/>
              <a:buSzTx/>
              <a:buFont typeface="Wingdings" panose="05000000000000000000" charset="0"/>
              <a:buChar char="Ø"/>
              <a:defRPr sz="15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决策生成板架创建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更新清单</a:t>
            </a:r>
            <a:r>
              <a:rPr lang="en-US" altLang="zh-CN">
                <a:sym typeface="+mn-ea"/>
              </a:rPr>
              <a:t> —— </a:t>
            </a:r>
            <a:r>
              <a:rPr lang="zh-CN" altLang="en-US">
                <a:sym typeface="+mn-ea"/>
              </a:rPr>
              <a:t>错误治理方案自动生成 </a:t>
            </a:r>
            <a:endParaRPr lang="en-US" altLang="zh-CN">
              <a:sym typeface="+mn-ea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80110" y="4114800"/>
            <a:ext cx="1571625" cy="685800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CAD发现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模型错误</a:t>
            </a:r>
            <a:endParaRPr>
              <a:sym typeface="+mn-ea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880360" y="4114800"/>
            <a:ext cx="1762125" cy="685800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分析错误和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受影响对象</a:t>
            </a:r>
            <a:endParaRPr>
              <a:sym typeface="+mn-ea"/>
            </a:endParaRPr>
          </a:p>
        </p:txBody>
      </p:sp>
      <p:sp>
        <p:nvSpPr>
          <p:cNvPr id="14" name="菱形 13"/>
          <p:cNvSpPr>
            <a:spLocks noGrp="1"/>
          </p:cNvSpPr>
          <p:nvPr/>
        </p:nvSpPr>
        <p:spPr>
          <a:xfrm>
            <a:off x="4851400" y="3907790"/>
            <a:ext cx="2580005" cy="1100455"/>
          </a:xfrm>
          <a:prstGeom prst="diamond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 fontScale="90000"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能否通过板架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更新或重建解决？</a:t>
            </a:r>
            <a:endParaRPr>
              <a:sym typeface="+mn-ea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583170" y="4114800"/>
            <a:ext cx="1666875" cy="685800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构建</a:t>
            </a:r>
            <a:r>
              <a:rPr>
                <a:sym typeface="+mn-ea"/>
              </a:rPr>
              <a:t>板架恢复任务</a:t>
            </a:r>
            <a:endParaRPr>
              <a:sym typeface="+mn-ea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606915" y="4114800"/>
            <a:ext cx="1714500" cy="685800"/>
          </a:xfrm>
          <a:prstGeom prst="roundRect">
            <a:avLst>
              <a:gd name="adj" fmla="val 11111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转成板架请求</a:t>
            </a:r>
            <a:endParaRPr>
              <a:sym typeface="+mn-ea"/>
            </a:endParaRPr>
          </a:p>
        </p:txBody>
      </p:sp>
      <p:cxnSp>
        <p:nvCxnSpPr>
          <p:cNvPr id="49" name="直接箭头连接符 48"/>
          <p:cNvCxnSpPr>
            <a:stCxn id="13" idx="1"/>
            <a:endCxn id="12" idx="3"/>
          </p:cNvCxnSpPr>
          <p:nvPr/>
        </p:nvCxnSpPr>
        <p:spPr>
          <a:xfrm flipH="1">
            <a:off x="2451735" y="4457700"/>
            <a:ext cx="428625" cy="0"/>
          </a:xfrm>
          <a:prstGeom prst="straightConnector1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</p:cxnSp>
      <p:cxnSp>
        <p:nvCxnSpPr>
          <p:cNvPr id="50" name="直接箭头连接符 49"/>
          <p:cNvCxnSpPr>
            <a:stCxn id="14" idx="1"/>
            <a:endCxn id="13" idx="3"/>
          </p:cNvCxnSpPr>
          <p:nvPr/>
        </p:nvCxnSpPr>
        <p:spPr>
          <a:xfrm flipH="1" flipV="1">
            <a:off x="4642485" y="4457700"/>
            <a:ext cx="208915" cy="635"/>
          </a:xfrm>
          <a:prstGeom prst="straightConnector1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</p:cxnSp>
      <p:cxnSp>
        <p:nvCxnSpPr>
          <p:cNvPr id="51" name="直接箭头连接符 50"/>
          <p:cNvCxnSpPr>
            <a:stCxn id="15" idx="1"/>
            <a:endCxn id="14" idx="3"/>
          </p:cNvCxnSpPr>
          <p:nvPr/>
        </p:nvCxnSpPr>
        <p:spPr>
          <a:xfrm flipH="1">
            <a:off x="7431405" y="4457700"/>
            <a:ext cx="151765" cy="635"/>
          </a:xfrm>
          <a:prstGeom prst="straightConnector1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</p:cxnSp>
      <p:cxnSp>
        <p:nvCxnSpPr>
          <p:cNvPr id="52" name="直接箭头连接符 51"/>
          <p:cNvCxnSpPr>
            <a:stCxn id="16" idx="1"/>
            <a:endCxn id="15" idx="3"/>
          </p:cNvCxnSpPr>
          <p:nvPr/>
        </p:nvCxnSpPr>
        <p:spPr>
          <a:xfrm flipH="1">
            <a:off x="9250045" y="4457700"/>
            <a:ext cx="356870" cy="0"/>
          </a:xfrm>
          <a:prstGeom prst="straightConnector1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</p:cxnSp>
      <p:sp>
        <p:nvSpPr>
          <p:cNvPr id="21" name="圆角矩形 20"/>
          <p:cNvSpPr>
            <a:spLocks noGrp="1"/>
          </p:cNvSpPr>
          <p:nvPr/>
        </p:nvSpPr>
        <p:spPr>
          <a:xfrm>
            <a:off x="5285105" y="5565140"/>
            <a:ext cx="1714500" cy="628650"/>
          </a:xfrm>
          <a:prstGeom prst="roundRect">
            <a:avLst>
              <a:gd name="adj" fmla="val 12121"/>
            </a:avLst>
          </a:prstGeom>
          <a:solidFill>
            <a:srgbClr val="FCEEF0"/>
          </a:solidFill>
          <a:ln w="11430">
            <a:solidFill>
              <a:srgbClr val="B73746"/>
            </a:solidFill>
            <a:prstDash val="solid"/>
          </a:ln>
        </p:spPr>
        <p:txBody>
          <a:bodyPr anchor="ctr">
            <a:normAutofit fontScale="95266"/>
          </a:bodyPr>
          <a:lstStyle/>
          <a:p>
            <a:pPr algn="ctr">
              <a:def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不可以</a:t>
            </a:r>
            <a:endParaRPr sz="120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转设计人员或CAD研发</a:t>
            </a:r>
            <a:endParaRPr sz="120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下箭头 21"/>
          <p:cNvSpPr>
            <a:spLocks noGrp="1"/>
          </p:cNvSpPr>
          <p:nvPr/>
        </p:nvSpPr>
        <p:spPr>
          <a:xfrm>
            <a:off x="5913120" y="5175250"/>
            <a:ext cx="457200" cy="361950"/>
          </a:xfrm>
          <a:prstGeom prst="downArrow">
            <a:avLst/>
          </a:prstGeom>
          <a:solidFill>
            <a:srgbClr val="B73746"/>
          </a:solidFill>
          <a:ln w="0"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错误治理方案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CAD发现模型错误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580515" y="1020445"/>
            <a:ext cx="2143125" cy="1428750"/>
          </a:xfrm>
          <a:prstGeom prst="roundRect">
            <a:avLst>
              <a:gd name="adj" fmla="val 5333"/>
            </a:avLst>
          </a:prstGeom>
          <a:solidFill>
            <a:srgbClr val="FFF5E8"/>
          </a:solidFill>
          <a:ln w="13335">
            <a:solidFill>
              <a:srgbClr val="C56A00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读取</a:t>
            </a:r>
            <a:r>
              <a:rPr>
                <a:sym typeface="+mn-ea"/>
              </a:rPr>
              <a:t>错误对象</a:t>
            </a:r>
            <a:endParaRPr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75"/>
          </a:p>
          <a:p>
            <a:pPr algn="ctr">
              <a:def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Marine</a:t>
            </a:r>
            <a:r>
              <a:rPr lang="zh-CN" altLang="en-US"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</a:t>
            </a:r>
            <a:r>
              <a: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工程ID和版本</a:t>
            </a:r>
            <a:endParaRPr sz="1275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版本升级记录</a:t>
            </a:r>
            <a:r>
              <a:rPr lang="zh-CN"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>
                <a:sym typeface="+mn-ea"/>
              </a:rPr>
              <a:t>错误</a:t>
            </a:r>
            <a:r>
              <a:rPr>
                <a:sym typeface="+mn-ea"/>
              </a:rPr>
              <a:t>对象ID、对象类型</a:t>
            </a:r>
            <a:endParaRPr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75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461770" y="2804160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EAF7F1"/>
          </a:solidFill>
          <a:ln w="13335">
            <a:solidFill>
              <a:srgbClr val="18885F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读取CAD诊断信息</a:t>
            </a:r>
            <a:endParaRPr sz="1275" b="1">
              <a:solidFill>
                <a:srgbClr val="188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ctr">
              <a:def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建议操作、预检结果</a:t>
            </a:r>
            <a:endParaRPr sz="1275" b="1">
              <a:solidFill>
                <a:srgbClr val="188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候选对象和设计影响</a:t>
            </a:r>
            <a:endParaRPr sz="1275" b="1">
              <a:solidFill>
                <a:srgbClr val="188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366520" y="4587875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检查数据是否可用</a:t>
            </a:r>
            <a:endParaRPr sz="127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ctr">
              <a:def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对象ID不能重复</a:t>
            </a:r>
            <a:endParaRPr sz="127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诊断对象必须存在</a:t>
            </a:r>
            <a:endParaRPr sz="127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直接箭头连接符 21"/>
          <p:cNvCxnSpPr>
            <a:stCxn id="8" idx="0"/>
            <a:endCxn id="6" idx="2"/>
          </p:cNvCxnSpPr>
          <p:nvPr/>
        </p:nvCxnSpPr>
        <p:spPr>
          <a:xfrm flipV="1">
            <a:off x="2652395" y="2449195"/>
            <a:ext cx="0" cy="354965"/>
          </a:xfrm>
          <a:prstGeom prst="straightConnector1">
            <a:avLst/>
          </a:prstGeom>
          <a:ln w="19050">
            <a:solidFill>
              <a:srgbClr val="C56A00"/>
            </a:solidFill>
            <a:prstDash val="solid"/>
            <a:headEnd type="triangle" w="sm" len="sm"/>
          </a:ln>
        </p:spPr>
      </p:cxnSp>
      <p:sp>
        <p:nvSpPr>
          <p:cNvPr id="13" name="圆角矩形 12"/>
          <p:cNvSpPr>
            <a:spLocks noGrp="1"/>
          </p:cNvSpPr>
          <p:nvPr/>
        </p:nvSpPr>
        <p:spPr>
          <a:xfrm>
            <a:off x="5735320" y="5671820"/>
            <a:ext cx="5339080" cy="647700"/>
          </a:xfrm>
          <a:prstGeom prst="roundRect">
            <a:avLst>
              <a:gd name="adj" fmla="val 8696"/>
            </a:avLst>
          </a:prstGeom>
          <a:solidFill>
            <a:srgbClr val="EAF5FC"/>
          </a:solidFill>
          <a:ln w="1714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输出：结构化、可追溯的错误清单</a:t>
            </a:r>
            <a:endParaRPr sz="142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下一步可按对象关系分析主要问题和受影响对象</a:t>
            </a:r>
            <a:endParaRPr sz="142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68240" y="868045"/>
            <a:ext cx="4772025" cy="380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sz="16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错误信息：</a:t>
            </a:r>
            <a:r>
              <a:rPr sz="16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demo_model_errors.json</a:t>
            </a:r>
            <a:endParaRPr lang="zh-CN" altLang="en-US" sz="160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8240" y="1352550"/>
            <a:ext cx="6873240" cy="418211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2652395" y="4232910"/>
            <a:ext cx="0" cy="354965"/>
          </a:xfrm>
          <a:prstGeom prst="straightConnector1">
            <a:avLst/>
          </a:prstGeom>
          <a:ln w="19050">
            <a:solidFill>
              <a:srgbClr val="C56A00"/>
            </a:solidFill>
            <a:prstDash val="solid"/>
            <a:headEnd type="triangl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2.2.2 错误原因归类与受影响对象合并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28625" y="952500"/>
            <a:ext cx="10287000" cy="304800"/>
          </a:xfrm>
          <a:prstGeom prst="rect">
            <a:avLst/>
          </a:prstGeom>
          <a:ln w="19050">
            <a:noFill/>
            <a:prstDash val="solid"/>
            <a:headEnd type="triangle" w="sm" len="sm"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错误码决定错误类别，对象关系决定影响范围，Agent不生成或修改工程事实</a:t>
            </a:r>
            <a:endParaRPr sz="1600" b="1">
              <a:solidFill>
                <a:srgbClr val="0877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28625" y="1428750"/>
            <a:ext cx="1952625" cy="742950"/>
          </a:xfrm>
          <a:prstGeom prst="roundRect">
            <a:avLst>
              <a:gd name="adj" fmla="val 10256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读取CAD错误码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对象ID和上级对象ID</a:t>
            </a:r>
            <a:endParaRPr>
              <a:sym typeface="+mn-ea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714625" y="14287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查找最上层错误对象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确定主要问题从哪里开始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095875" y="1428750"/>
            <a:ext cx="2047875" cy="742950"/>
          </a:xfrm>
          <a:prstGeom prst="roundRect">
            <a:avLst>
              <a:gd name="adj" fmla="val 10256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查询错误原因映射表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错误码转换为统一原因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477125" y="1428750"/>
            <a:ext cx="1952625" cy="742950"/>
          </a:xfrm>
          <a:prstGeom prst="roundRect">
            <a:avLst>
              <a:gd name="adj" fmla="val 10256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FF0000"/>
                </a:solidFill>
                <a:sym typeface="+mn-ea"/>
              </a:rPr>
              <a:t>合并相同错误原因</a:t>
            </a:r>
            <a:endParaRPr>
              <a:solidFill>
                <a:srgbClr val="FF0000"/>
              </a:solidFill>
              <a:sym typeface="+mn-ea"/>
            </a:endParaRPr>
          </a:p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形成Group</a:t>
            </a:r>
            <a:r>
              <a:rPr lang="en-US">
                <a:sym typeface="+mn-ea"/>
              </a:rPr>
              <a:t>s</a:t>
            </a:r>
            <a:endParaRPr lang="en-US">
              <a:sym typeface="+mn-ea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763125" y="1428750"/>
            <a:ext cx="2000250" cy="742950"/>
          </a:xfrm>
          <a:prstGeom prst="roundRect">
            <a:avLst>
              <a:gd name="adj" fmla="val 10256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补齐受影响对象</a:t>
            </a:r>
            <a:endParaRPr sz="112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关联CAD诊断和候选操作</a:t>
            </a:r>
            <a:endParaRPr sz="112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直接箭头连接符 25"/>
          <p:cNvCxnSpPr>
            <a:stCxn id="7" idx="1"/>
            <a:endCxn id="6" idx="3"/>
          </p:cNvCxnSpPr>
          <p:nvPr/>
        </p:nvCxnSpPr>
        <p:spPr>
          <a:xfrm flipH="1">
            <a:off x="2381250" y="1800225"/>
            <a:ext cx="333375" cy="0"/>
          </a:xfrm>
          <a:prstGeom prst="straightConnector1">
            <a:avLst/>
          </a:prstGeom>
          <a:ln w="19050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27" name="直接箭头连接符 26"/>
          <p:cNvCxnSpPr>
            <a:stCxn id="8" idx="1"/>
            <a:endCxn id="7" idx="3"/>
          </p:cNvCxnSpPr>
          <p:nvPr/>
        </p:nvCxnSpPr>
        <p:spPr>
          <a:xfrm flipH="1">
            <a:off x="4762500" y="1800225"/>
            <a:ext cx="333375" cy="0"/>
          </a:xfrm>
          <a:prstGeom prst="straightConnector1">
            <a:avLst/>
          </a:prstGeom>
          <a:ln w="19050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28" name="直接箭头连接符 27"/>
          <p:cNvCxnSpPr>
            <a:stCxn id="9" idx="1"/>
            <a:endCxn id="8" idx="3"/>
          </p:cNvCxnSpPr>
          <p:nvPr/>
        </p:nvCxnSpPr>
        <p:spPr>
          <a:xfrm flipH="1">
            <a:off x="7143750" y="1800225"/>
            <a:ext cx="333375" cy="0"/>
          </a:xfrm>
          <a:prstGeom prst="straightConnector1">
            <a:avLst/>
          </a:prstGeom>
          <a:ln w="19050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29" name="直接箭头连接符 28"/>
          <p:cNvCxnSpPr>
            <a:stCxn id="10" idx="1"/>
            <a:endCxn id="9" idx="3"/>
          </p:cNvCxnSpPr>
          <p:nvPr/>
        </p:nvCxnSpPr>
        <p:spPr>
          <a:xfrm flipH="1">
            <a:off x="9429750" y="1800225"/>
            <a:ext cx="333375" cy="0"/>
          </a:xfrm>
          <a:prstGeom prst="straightConnector1">
            <a:avLst/>
          </a:prstGeom>
          <a:ln w="19050">
            <a:solidFill>
              <a:srgbClr val="0877C9"/>
            </a:solidFill>
            <a:prstDash val="solid"/>
            <a:headEnd type="triangle" w="sm" len="sm"/>
          </a:ln>
        </p:spPr>
      </p:cxnSp>
      <p:graphicFrame>
        <p:nvGraphicFramePr>
          <p:cNvPr id="30" name="表格 29"/>
          <p:cNvGraphicFramePr/>
          <p:nvPr/>
        </p:nvGraphicFramePr>
        <p:xfrm>
          <a:off x="428625" y="2571750"/>
          <a:ext cx="11334750" cy="3086100"/>
        </p:xfrm>
        <a:graphic>
          <a:graphicData uri="http://schemas.openxmlformats.org/drawingml/2006/table">
            <a:tbl>
              <a:tblPr firstRow="1" bandRow="1"/>
              <a:tblGrid>
                <a:gridCol w="1143000"/>
                <a:gridCol w="3238500"/>
                <a:gridCol w="3238500"/>
                <a:gridCol w="371475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问题组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150" marR="57150" marT="38100" marB="38100" anchor="ctr">
                    <a:solidFill>
                      <a:srgbClr val="17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来源错误码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150" marR="57150" marT="38100" marB="38100" anchor="ctr">
                    <a:solidFill>
                      <a:srgbClr val="17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统一后的错误原因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150" marR="57150" marT="38100" marB="38100" anchor="ctr">
                    <a:solidFill>
                      <a:srgbClr val="17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错误原因如何得到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7150" marR="57150" marT="38100" marB="38100" anchor="ctr">
                    <a:solidFill>
                      <a:srgbClr val="173B7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Group A</a:t>
                      </a:r>
                      <a:endParaRPr sz="105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BOUNDARY_DATA_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MIGRATION_FAILED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版本升级时板架边界数据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没有完整转换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错误码直接映射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版本升级记录补充说明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Group B</a:t>
                      </a:r>
                      <a:endParaRPr sz="105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RECOMPUTE_REQUIRED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父板架需要重新计算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错误码直接映射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Group C</a:t>
                      </a:r>
                      <a:endParaRPr sz="105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PANEL_NORMAL_CHANGED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STIFFENER_MOUNT_FACE_CHANGED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支撑对象变化导致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肘板边界失效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两个错误码映射到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同一类工程问题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Group D</a:t>
                      </a:r>
                      <a:endParaRPr sz="105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GEOMETRY_KERNEL_ERROR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CAD几何计算出现异常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15">
                          <a:solidFill>
                            <a:srgbClr val="3341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几何模块错误码直接映射</a:t>
                      </a:r>
                      <a:endParaRPr sz="1015">
                        <a:solidFill>
                          <a:srgbClr val="3341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6675" marR="66675" marT="38100" marB="38100" anchor="ctr"/>
                </a:tc>
              </a:tr>
            </a:tbl>
          </a:graphicData>
        </a:graphic>
      </p:graphicFrame>
      <p:sp>
        <p:nvSpPr>
          <p:cNvPr id="17" name="矩形 16"/>
          <p:cNvSpPr>
            <a:spLocks noGrp="1"/>
          </p:cNvSpPr>
          <p:nvPr/>
        </p:nvSpPr>
        <p:spPr>
          <a:xfrm>
            <a:off x="1809750" y="5348605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遇到未知错误码时停止自动归类并转人工确认，Agent不得猜测错误原因</a:t>
            </a:r>
            <a:endParaRPr sz="1125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5140" y="5775325"/>
            <a:ext cx="11358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从错误清单识别级联影响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，但离真实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CAD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影响分析还有明显距离。真正接入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CAD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后，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parent_id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应由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Provider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提供稳定语义，并补充反向依赖查询、边界引用、拓扑依赖和修复预览，才能得到完整的受影响对象范围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42608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错误治理方案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—— 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判断能否通过板架更新或重建解决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323800" y="63277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42925" y="981075"/>
            <a:ext cx="114776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Provider</a:t>
            </a:r>
            <a:r>
              <a:rPr lang="zh-CN" altLang="en-US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提供工程事实，确定性规则限定处理边界，</a:t>
            </a:r>
            <a:r>
              <a:rPr lang="en-US" altLang="zh-CN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在允许范围内选择，</a:t>
            </a:r>
            <a:r>
              <a:rPr lang="en-US" altLang="zh-CN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  <a:r>
              <a:rPr lang="zh-CN" altLang="en-US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根据执行方式完成分流</a:t>
            </a:r>
            <a:endParaRPr lang="zh-CN" altLang="en-US" sz="1600" b="1">
              <a:solidFill>
                <a:srgbClr val="0877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2610" y="2981325"/>
            <a:ext cx="5338445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主要错误对象是否为板架？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↓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否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处理实际主要错误对象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参数、边界和几何仍有效？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↓</a:t>
            </a:r>
            <a:endParaRPr lang="en-US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重新计算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否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能否保留现有板架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panel_id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，通过补全或修正数据恢复板架？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↓</a:t>
            </a:r>
            <a:endParaRPr lang="en-US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更新板架，保留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panel_id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否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是否同时满足三项重建条件？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↓</a:t>
            </a:r>
            <a:endParaRPr lang="en-US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继续根据规则限定给出建议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否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转人工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475990" y="4694555"/>
            <a:ext cx="2334260" cy="1198880"/>
          </a:xfrm>
          <a:prstGeom prst="rect">
            <a:avLst/>
          </a:prstGeom>
          <a:solidFill>
            <a:schemeClr val="accent6">
              <a:lumMod val="20000"/>
              <a:lumOff val="80000"/>
              <a:alpha val="37000"/>
            </a:schemeClr>
          </a:solidFill>
          <a:ln w="19050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三项重建条件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创建参数完整且来源可靠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新旧板架替换关系明确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子构件能够安全重新关联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2610" y="2607945"/>
            <a:ext cx="34817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根据错误分类，判断是否需要重建</a:t>
            </a:r>
            <a:endParaRPr lang="zh-CN" altLang="en-US" sz="140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562610" y="1428750"/>
            <a:ext cx="2533015" cy="838200"/>
          </a:xfrm>
          <a:prstGeom prst="roundRect">
            <a:avLst>
              <a:gd name="adj" fmla="val 9091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根据错误分类，判断是否需要重建</a:t>
            </a:r>
            <a:endParaRPr>
              <a:sym typeface="+mn-ea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3571875" y="1428750"/>
            <a:ext cx="2238375" cy="838200"/>
          </a:xfrm>
          <a:prstGeom prst="roundRect">
            <a:avLst>
              <a:gd name="adj" fmla="val 9091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>
                <a:sym typeface="+mn-ea"/>
              </a:rPr>
              <a:t>确定性规则</a:t>
            </a:r>
            <a:endParaRPr lang="zh-CN" altLang="en-US">
              <a:sym typeface="+mn-ea"/>
            </a:endParaRPr>
          </a:p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>
                <a:sym typeface="+mn-ea"/>
              </a:rPr>
              <a:t>生成允许执行方式</a:t>
            </a:r>
            <a:endParaRPr lang="zh-CN" altLang="en-US">
              <a:sym typeface="+mn-ea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286500" y="1428750"/>
            <a:ext cx="2238375" cy="838200"/>
          </a:xfrm>
          <a:prstGeom prst="roundRect">
            <a:avLst>
              <a:gd name="adj" fmla="val 9091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Agent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>
                <a:sym typeface="+mn-ea"/>
              </a:rPr>
              <a:t>结合用户策略，在允许范围内选择执行路线</a:t>
            </a:r>
            <a:endParaRPr lang="zh-CN" altLang="en-US">
              <a:sym typeface="+mn-ea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001125" y="1428750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Workflow</a:t>
            </a:r>
            <a:r>
              <a:rPr lang="zh-CN" altLang="en-US">
                <a:sym typeface="+mn-ea"/>
              </a:rPr>
              <a:t>按照规则指定执行方式</a:t>
            </a:r>
            <a:endParaRPr lang="zh-CN" altLang="en-US">
              <a:sym typeface="+mn-ea"/>
            </a:endParaRPr>
          </a:p>
        </p:txBody>
      </p:sp>
      <p:cxnSp>
        <p:nvCxnSpPr>
          <p:cNvPr id="31" name="直接箭头连接符 30"/>
          <p:cNvCxnSpPr>
            <a:stCxn id="28" idx="1"/>
            <a:endCxn id="27" idx="3"/>
          </p:cNvCxnSpPr>
          <p:nvPr/>
        </p:nvCxnSpPr>
        <p:spPr>
          <a:xfrm flipH="1">
            <a:off x="3095625" y="1847850"/>
            <a:ext cx="476250" cy="0"/>
          </a:xfrm>
          <a:prstGeom prst="straightConnector1">
            <a:avLst/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</p:cxnSp>
      <p:cxnSp>
        <p:nvCxnSpPr>
          <p:cNvPr id="32" name="直接箭头连接符 31"/>
          <p:cNvCxnSpPr>
            <a:stCxn id="29" idx="1"/>
            <a:endCxn id="28" idx="3"/>
          </p:cNvCxnSpPr>
          <p:nvPr/>
        </p:nvCxnSpPr>
        <p:spPr>
          <a:xfrm flipH="1">
            <a:off x="5810250" y="1847850"/>
            <a:ext cx="476250" cy="0"/>
          </a:xfrm>
          <a:prstGeom prst="straightConnector1">
            <a:avLst/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</p:cxnSp>
      <p:cxnSp>
        <p:nvCxnSpPr>
          <p:cNvPr id="33" name="直接箭头连接符 32"/>
          <p:cNvCxnSpPr>
            <a:stCxn id="30" idx="1"/>
            <a:endCxn id="29" idx="3"/>
          </p:cNvCxnSpPr>
          <p:nvPr/>
        </p:nvCxnSpPr>
        <p:spPr>
          <a:xfrm flipH="1">
            <a:off x="8524875" y="1847850"/>
            <a:ext cx="476250" cy="0"/>
          </a:xfrm>
          <a:prstGeom prst="straightConnector1">
            <a:avLst/>
          </a:prstGeom>
          <a:solidFill>
            <a:srgbClr val="EAF5FC"/>
          </a:solidFill>
          <a:ln w="13335">
            <a:solidFill>
              <a:srgbClr val="0877C9"/>
            </a:solidFill>
            <a:prstDash val="solid"/>
          </a:ln>
        </p:spPr>
      </p:cxnSp>
      <p:sp>
        <p:nvSpPr>
          <p:cNvPr id="34" name="文本框 33"/>
          <p:cNvSpPr txBox="1"/>
          <p:nvPr/>
        </p:nvSpPr>
        <p:spPr>
          <a:xfrm>
            <a:off x="5901055" y="2470785"/>
            <a:ext cx="6096000" cy="3067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规则代码生成允许执行方式</a:t>
            </a:r>
            <a:endParaRPr lang="zh-CN" altLang="en-US" sz="140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01055" y="2816225"/>
            <a:ext cx="4622165" cy="755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修复候选：重新计算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更新板架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人工重选边界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Provider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允许执行方式：自动执行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确认后执行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人工处理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研发排查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044565" y="5208270"/>
            <a:ext cx="35337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自动执行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CAD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等待确认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进入确认状态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用户同意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CAD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接口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用户拒绝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停止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人工处理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转设计人员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集合异常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CAD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研发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901055" y="3571240"/>
            <a:ext cx="6096000" cy="30670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Agent结合用户策略选择</a:t>
            </a:r>
            <a:endParaRPr lang="zh-CN" altLang="en-US" sz="140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901055" y="3881120"/>
            <a:ext cx="50203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在允许路线中选择处理方案，越界方案会被安全规则覆盖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只分析，不修改：返回分析结果，不调用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CAD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所有修改需确认：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暂停流程，等待用户确认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安全项自动处理：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仅允许低风险操作自动执行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901055" y="4845050"/>
            <a:ext cx="6096000" cy="27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285750" lvl="0" indent="-285750" algn="l">
              <a:buClrTx/>
              <a:buSzTx/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Workflow</a:t>
            </a:r>
            <a:r>
              <a:rPr lang="zh-CN" altLang="en-US" sz="14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读取所选路线的执行方式</a:t>
            </a:r>
            <a:endParaRPr lang="zh-CN" altLang="en-US" sz="140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AI辅助板架创建基础能力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962025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两类来源最终都形成板架请求，统一进入</a:t>
            </a:r>
            <a:r>
              <a:rPr lang="en-US" altLang="zh-CN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辅助板架</a:t>
            </a:r>
            <a:endParaRPr lang="zh-CN" altLang="en-US" sz="1600" b="1">
              <a:solidFill>
                <a:srgbClr val="0877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23875" y="1786255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ym typeface="+mn-ea"/>
              </a:rPr>
              <a:t>01 语言理解</a:t>
            </a:r>
            <a:endParaRPr sz="1200">
              <a:sym typeface="+mn-ea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3875" y="2138680"/>
            <a:ext cx="2428875" cy="2266950"/>
          </a:xfrm>
          <a:prstGeom prst="roundRect">
            <a:avLst>
              <a:gd name="adj" fmla="val 3361"/>
            </a:avLst>
          </a:prstGeom>
          <a:solidFill>
            <a:srgbClr val="EAF5FC"/>
          </a:solidFill>
          <a:ln w="16193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marL="171450" lvl="0" indent="-171450" algn="l">
              <a:buClrTx/>
              <a:buSzTx/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设计人员输入自然语言</a:t>
            </a:r>
            <a:endParaRPr>
              <a:sym typeface="+mn-ea"/>
            </a:endParaRPr>
          </a:p>
          <a:p>
            <a:pPr lvl="0" algn="l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>
              <a:sym typeface="+mn-ea"/>
            </a:endParaRPr>
          </a:p>
          <a:p>
            <a:pPr marL="171450" lvl="0" indent="-171450" algn="l">
              <a:buClrTx/>
              <a:buSzTx/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LLM提取候选参数</a:t>
            </a:r>
            <a:endParaRPr>
              <a:sym typeface="+mn-ea"/>
            </a:endParaRPr>
          </a:p>
          <a:p>
            <a:pPr lvl="0" algn="l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定位面</a:t>
            </a:r>
            <a:endParaRPr>
              <a:sym typeface="+mn-ea"/>
            </a:endParaRPr>
          </a:p>
          <a:p>
            <a:pPr lvl="0" algn="l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边界</a:t>
            </a:r>
            <a:endParaRPr>
              <a:sym typeface="+mn-ea"/>
            </a:endParaRPr>
          </a:p>
          <a:p>
            <a:pPr lvl="0" algn="l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厚度和材料</a:t>
            </a:r>
            <a:endParaRPr>
              <a:sym typeface="+mn-ea"/>
            </a:endParaRPr>
          </a:p>
          <a:p>
            <a:pPr lvl="0" algn="l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>
              <a:sym typeface="+mn-ea"/>
            </a:endParaRPr>
          </a:p>
          <a:p>
            <a:pPr marL="171450" lvl="0" indent="-171450" algn="l">
              <a:buClrTx/>
              <a:buSzTx/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输出：候选参数</a:t>
            </a:r>
            <a:endParaRPr>
              <a:sym typeface="+mn-ea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333750" y="1786255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请求校验</a:t>
            </a:r>
            <a:endParaRPr sz="135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333750" y="2138680"/>
            <a:ext cx="2428875" cy="2266950"/>
          </a:xfrm>
          <a:prstGeom prst="roundRect">
            <a:avLst>
              <a:gd name="adj" fmla="val 3361"/>
            </a:avLst>
          </a:prstGeom>
          <a:solidFill>
            <a:srgbClr val="EAF5FC"/>
          </a:solidFill>
          <a:ln w="16193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Agent检查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缺失字段、参数冲突和边界格式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sz="1140"/>
          </a:p>
          <a:p>
            <a:pPr marL="228600" indent="-228600" algn="l"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不完整：要求用户补充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通过：形成PanelRequest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sz="1140"/>
          </a:p>
          <a:p>
            <a:pPr marL="171450" indent="-171450" algn="l"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核心字段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reference_plane</a:t>
            </a:r>
            <a:r>
              <a:rPr lang="zh-CN"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：定位定位面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boundaries</a:t>
            </a:r>
            <a:r>
              <a:rPr lang="zh-CN"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：板架边界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thickness</a:t>
            </a:r>
            <a:r>
              <a:rPr lang="zh-CN"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：厚度</a:t>
            </a:r>
            <a:endParaRPr lang="zh-CN"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material</a:t>
            </a:r>
            <a:r>
              <a:rPr lang="zh-CN"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：材质</a:t>
            </a:r>
            <a:endParaRPr lang="zh-CN"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143625" y="1786255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工程查询与分流</a:t>
            </a:r>
            <a:endParaRPr sz="135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143625" y="2138680"/>
            <a:ext cx="2428875" cy="2266950"/>
          </a:xfrm>
          <a:prstGeom prst="roundRect">
            <a:avLst>
              <a:gd name="adj" fmla="val 3361"/>
            </a:avLst>
          </a:prstGeom>
          <a:solidFill>
            <a:srgbClr val="EAF5FC"/>
          </a:solidFill>
          <a:ln w="16193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工程对象查询（Provider）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40"/>
          </a:p>
          <a:p>
            <a:pPr marL="171450" indent="-171450" algn="l"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确认定位面和边界对象是否存在且唯一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endParaRPr sz="1140"/>
          </a:p>
          <a:p>
            <a:pPr marL="171450" indent="-171450" algn="l"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Agent根据结果分流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buFont typeface="Wingdings" panose="05000000000000000000" charset="0"/>
              <a:buNone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继续执行 / 补充信息 / 停止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endParaRPr sz="1140"/>
          </a:p>
          <a:p>
            <a:pPr marL="171450" indent="-171450" algn="l">
              <a:buFont typeface="Wingdings" panose="05000000000000000000" charset="0"/>
              <a:buChar char="Ø"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Workflow读取执行方式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buFont typeface="Wingdings" panose="05000000000000000000" charset="0"/>
              <a:buNone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自动执行 / 等待确认</a:t>
            </a:r>
            <a:endParaRPr sz="114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953500" y="1786255"/>
            <a:ext cx="2714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185"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04 CAD执行与结果</a:t>
            </a:r>
            <a:endParaRPr>
              <a:sym typeface="+mn-ea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953500" y="2138680"/>
            <a:ext cx="2714625" cy="2266950"/>
          </a:xfrm>
          <a:prstGeom prst="roundRect">
            <a:avLst>
              <a:gd name="adj" fmla="val 3361"/>
            </a:avLst>
          </a:prstGeom>
          <a:solidFill>
            <a:srgbClr val="EAF5FC"/>
          </a:solidFill>
          <a:ln w="16193">
            <a:solidFill>
              <a:srgbClr val="0877C9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CAD Provider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转换为CAD工具调用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MCP通信接口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传递请求、结果和错误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C++ CAD软件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完成真实板架创建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返回CadExecutionResult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14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success / object_id / error_code</a:t>
            </a:r>
            <a:endParaRPr>
              <a:sym typeface="+mn-ea"/>
            </a:endParaRPr>
          </a:p>
        </p:txBody>
      </p:sp>
      <p:cxnSp>
        <p:nvCxnSpPr>
          <p:cNvPr id="33" name="直接箭头连接符 32"/>
          <p:cNvCxnSpPr>
            <a:stCxn id="10" idx="1"/>
            <a:endCxn id="8" idx="3"/>
          </p:cNvCxnSpPr>
          <p:nvPr>
            <p:custDataLst>
              <p:tags r:id="rId7"/>
            </p:custDataLst>
          </p:nvPr>
        </p:nvCxnSpPr>
        <p:spPr>
          <a:xfrm flipH="1">
            <a:off x="2952750" y="3272155"/>
            <a:ext cx="381000" cy="0"/>
          </a:xfrm>
          <a:prstGeom prst="straightConnector1">
            <a:avLst/>
          </a:prstGeom>
          <a:ln w="21908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34" name="直接箭头连接符 33"/>
          <p:cNvCxnSpPr>
            <a:stCxn id="12" idx="1"/>
            <a:endCxn id="10" idx="3"/>
          </p:cNvCxnSpPr>
          <p:nvPr>
            <p:custDataLst>
              <p:tags r:id="rId8"/>
            </p:custDataLst>
          </p:nvPr>
        </p:nvCxnSpPr>
        <p:spPr>
          <a:xfrm flipH="1">
            <a:off x="5762625" y="3272155"/>
            <a:ext cx="381000" cy="0"/>
          </a:xfrm>
          <a:prstGeom prst="straightConnector1">
            <a:avLst/>
          </a:prstGeom>
          <a:ln w="21908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35" name="直接箭头连接符 34"/>
          <p:cNvCxnSpPr>
            <a:stCxn id="14" idx="1"/>
            <a:endCxn id="12" idx="3"/>
          </p:cNvCxnSpPr>
          <p:nvPr>
            <p:custDataLst>
              <p:tags r:id="rId9"/>
            </p:custDataLst>
          </p:nvPr>
        </p:nvCxnSpPr>
        <p:spPr>
          <a:xfrm flipH="1">
            <a:off x="8572500" y="3272155"/>
            <a:ext cx="381000" cy="0"/>
          </a:xfrm>
          <a:prstGeom prst="straightConnector1">
            <a:avLst/>
          </a:prstGeom>
          <a:ln w="21908">
            <a:solidFill>
              <a:srgbClr val="0877C9"/>
            </a:solidFill>
            <a:prstDash val="solid"/>
            <a:headEnd type="triangle" w="sm" len="sm"/>
          </a:ln>
        </p:spPr>
      </p:cxnSp>
      <p:sp>
        <p:nvSpPr>
          <p:cNvPr id="3" name="文本框 2"/>
          <p:cNvSpPr txBox="1"/>
          <p:nvPr/>
        </p:nvSpPr>
        <p:spPr>
          <a:xfrm>
            <a:off x="1941195" y="5043805"/>
            <a:ext cx="80238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defRPr sz="12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职责划分：LLM理解语言，Agent校验和编排，Provider确认工程事实并适配CAD，C++ CAD软件完成最终建模</a:t>
            </a:r>
            <a:endParaRPr lang="zh-CN" altLang="en-US" sz="120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 方案特点与安全边界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75970" y="102044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同一板架创建能力服务人工需求和错误恢复，但执行条件始终由确定性检查约束</a:t>
            </a:r>
            <a:endParaRPr sz="16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14375" y="159639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1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24000" y="157734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复用创建原子能力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24000" y="1939290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人工创建与错误恢复共用 PanelRequest、工程查询、安全检查和CAD接口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4375" y="259651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10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524000" y="257746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按工程事实动态分流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524000" y="293941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Agent只从规则允许路线中选择，不能把所有错误都改成自动创建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14375" y="359664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10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524000" y="357759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父对象优先并复查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524000" y="3939540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先恢复板架，再重新检查依赖它的肘板和其他子构件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14375" y="459676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10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524000" y="457771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异常时保守收口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524000" y="4939665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模型超时或建议越权时，转确认、人工或研发，不继续执行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953375" y="1428750"/>
            <a:ext cx="2857500" cy="552450"/>
          </a:xfrm>
          <a:prstGeom prst="roundRect">
            <a:avLst>
              <a:gd name="adj" fmla="val 13793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53375" y="2162175"/>
            <a:ext cx="3000375" cy="141414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LLM不判断真实几何</a:t>
            </a:r>
            <a:endParaRPr sz="13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对象未找到或有歧义时不执行</a:t>
            </a:r>
            <a:endParaRPr sz="13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更新操作不能悄悄改为新建</a:t>
            </a:r>
            <a:endParaRPr sz="13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当前Mock不修改真实CAD</a:t>
            </a:r>
            <a:endParaRPr sz="13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未验证强度和规范符合性</a:t>
            </a:r>
            <a:endParaRPr sz="135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14970" y="4324350"/>
            <a:ext cx="3048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5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Agent选择处理路线</a:t>
            </a:r>
            <a:endParaRPr sz="135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Agent</a:t>
            </a:r>
            <a:r>
              <a:rPr lang="zh-CN">
                <a:sym typeface="+mn-ea"/>
              </a:rPr>
              <a:t>自动调用板架创建接口</a:t>
            </a:r>
            <a:endParaRPr sz="135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 CAD软件完成最终建模</a:t>
            </a:r>
            <a:endParaRPr sz="135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332054" y="2011362"/>
            <a:ext cx="4692678" cy="28352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1F4E7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640705" y="1809750"/>
            <a:ext cx="5170170" cy="3048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项目初心与问题演化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板架创建与错误治理一体化方案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</a:t>
            </a:r>
            <a:r>
              <a:rPr sz="18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Agent决策、安全边界与双阶段Demo</a:t>
            </a:r>
            <a:endParaRPr sz="1875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阶段效果、不足与公司软件落地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Agent与CAD软件的连接关系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962025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65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87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LLM负责语言理解，Agent负责流程与安全控制，C++ CAD软件负责工程验证和真实建模</a:t>
            </a:r>
            <a:endParaRPr sz="1600" b="1">
              <a:solidFill>
                <a:srgbClr val="0877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9545" y="178689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 algn="ctr">
              <a:def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语言理解能力</a:t>
            </a:r>
            <a:endParaRPr sz="1275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31140" y="2182178"/>
            <a:ext cx="1980000" cy="1440000"/>
          </a:xfrm>
          <a:prstGeom prst="roundRect">
            <a:avLst>
              <a:gd name="adj" fmla="val 6061"/>
            </a:avLst>
          </a:prstGeom>
          <a:solidFill>
            <a:srgbClr val="FFF5E8"/>
          </a:solidFill>
          <a:ln w="14288">
            <a:solidFill>
              <a:srgbClr val="C56A00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6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LLM（大语言模型）</a:t>
            </a:r>
            <a:endParaRPr sz="1165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65"/>
          </a:p>
          <a:p>
            <a:pPr algn="ctr">
              <a:defRPr sz="116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理解用户表达</a:t>
            </a:r>
            <a:endParaRPr sz="1165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6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生成候选参数和路线建议</a:t>
            </a:r>
            <a:endParaRPr sz="1165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6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不确认工程对象</a:t>
            </a:r>
            <a:endParaRPr sz="1165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455545" y="178689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 algn="ctr">
              <a:def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流程与安全控制</a:t>
            </a:r>
            <a:endParaRPr sz="127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664190" y="2182178"/>
            <a:ext cx="1980000" cy="1440000"/>
          </a:xfrm>
          <a:prstGeom prst="roundRect">
            <a:avLst>
              <a:gd name="adj" fmla="val 4706"/>
            </a:avLst>
          </a:prstGeom>
          <a:solidFill>
            <a:srgbClr val="EAF5FC"/>
          </a:solidFill>
          <a:ln w="17145">
            <a:solidFill>
              <a:srgbClr val="0877C9"/>
            </a:solidFill>
            <a:prstDash val="solid"/>
          </a:ln>
        </p:spPr>
        <p:txBody>
          <a:bodyPr anchor="ctr">
            <a:normAutofit lnSpcReduction="20000"/>
          </a:bodyPr>
          <a:lstStyle/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Agent（流程控制中心）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65"/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管理任务状态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调用LLM和工具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执行确定性校验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在允许路线中选择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896485" y="178689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 algn="ctr">
              <a:def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CAD连接与适配</a:t>
            </a:r>
            <a:endParaRPr sz="127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96875" y="2182178"/>
            <a:ext cx="1980000" cy="1440000"/>
          </a:xfrm>
          <a:prstGeom prst="roundRect">
            <a:avLst>
              <a:gd name="adj" fmla="val 4706"/>
            </a:avLst>
          </a:prstGeom>
          <a:solidFill>
            <a:srgbClr val="EAF5FC"/>
          </a:solidFill>
          <a:ln w="17145">
            <a:solidFill>
              <a:srgbClr val="0877C9"/>
            </a:solidFill>
            <a:prstDash val="solid"/>
          </a:ln>
        </p:spPr>
        <p:txBody>
          <a:bodyPr anchor="ctr">
            <a:normAutofit lnSpcReduction="20000"/>
          </a:bodyPr>
          <a:lstStyle/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 Provider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（CAD连接与适配层）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65"/>
          </a:p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转换统一请求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查询工程对象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返回统一格式的结果</a:t>
            </a:r>
            <a:endParaRPr sz="1165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924800" y="1786890"/>
            <a:ext cx="1190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 algn="ctr">
              <a:def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标准通信</a:t>
            </a:r>
            <a:endParaRPr sz="1275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529560" y="2182178"/>
            <a:ext cx="1980000" cy="1440000"/>
          </a:xfrm>
          <a:prstGeom prst="roundRect">
            <a:avLst>
              <a:gd name="adj" fmla="val 6400"/>
            </a:avLst>
          </a:prstGeom>
          <a:solidFill>
            <a:srgbClr val="FFF5E8"/>
          </a:solidFill>
          <a:ln w="16193">
            <a:solidFill>
              <a:srgbClr val="C56A00"/>
            </a:solidFill>
            <a:prstDash val="solid"/>
          </a:ln>
        </p:spPr>
        <p:txBody>
          <a:bodyPr anchor="ctr">
            <a:normAutofit lnSpcReduction="10000"/>
          </a:bodyPr>
          <a:lstStyle/>
          <a:p>
            <a:pPr algn="ctr">
              <a:def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sz="109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模型上下文协议</a:t>
            </a:r>
            <a:endParaRPr sz="109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090"/>
          </a:p>
          <a:p>
            <a:pPr algn="ctr">
              <a:def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传递工具调用</a:t>
            </a:r>
            <a:endParaRPr sz="109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参数、结果和错误</a:t>
            </a:r>
            <a:endParaRPr sz="109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不进行决策</a:t>
            </a:r>
            <a:endParaRPr sz="109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213975" y="1786890"/>
            <a:ext cx="147637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 algn="ctr">
              <a:def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工程事实与执行</a:t>
            </a:r>
            <a:endParaRPr sz="1275" b="1">
              <a:solidFill>
                <a:srgbClr val="188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962245" y="2182178"/>
            <a:ext cx="1980000" cy="1440000"/>
          </a:xfrm>
          <a:prstGeom prst="roundRect">
            <a:avLst>
              <a:gd name="adj" fmla="val 5161"/>
            </a:avLst>
          </a:prstGeom>
          <a:solidFill>
            <a:srgbClr val="EAF7F1"/>
          </a:solidFill>
          <a:ln w="17145">
            <a:solidFill>
              <a:srgbClr val="18885F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 CAD软件</a:t>
            </a:r>
            <a:endParaRPr sz="1125" b="1">
              <a:solidFill>
                <a:srgbClr val="188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125"/>
          </a:p>
          <a:p>
            <a:pPr algn="ctr">
              <a:defRPr sz="112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维护真实工程对象</a:t>
            </a:r>
            <a:endParaRPr sz="1125" b="1">
              <a:solidFill>
                <a:srgbClr val="188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验证几何和依赖</a:t>
            </a:r>
            <a:endParaRPr sz="1125" b="1">
              <a:solidFill>
                <a:srgbClr val="188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888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创建或更新板架</a:t>
            </a:r>
            <a:endParaRPr sz="1125" b="1">
              <a:solidFill>
                <a:srgbClr val="1888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直接箭头连接符 40"/>
          <p:cNvCxnSpPr>
            <a:stCxn id="10" idx="1"/>
            <a:endCxn id="8" idx="3"/>
          </p:cNvCxnSpPr>
          <p:nvPr/>
        </p:nvCxnSpPr>
        <p:spPr>
          <a:xfrm flipH="1">
            <a:off x="2211070" y="2902585"/>
            <a:ext cx="453390" cy="0"/>
          </a:xfrm>
          <a:prstGeom prst="straightConnector1">
            <a:avLst/>
          </a:prstGeom>
          <a:ln w="20955">
            <a:solidFill>
              <a:srgbClr val="C56A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2" name="直接箭头连接符 41"/>
          <p:cNvCxnSpPr>
            <a:stCxn id="12" idx="1"/>
            <a:endCxn id="10" idx="3"/>
          </p:cNvCxnSpPr>
          <p:nvPr>
            <p:custDataLst>
              <p:tags r:id="rId7"/>
            </p:custDataLst>
          </p:nvPr>
        </p:nvCxnSpPr>
        <p:spPr>
          <a:xfrm flipH="1">
            <a:off x="4644390" y="2902585"/>
            <a:ext cx="452755" cy="0"/>
          </a:xfrm>
          <a:prstGeom prst="straightConnector1">
            <a:avLst/>
          </a:prstGeom>
          <a:ln w="20955">
            <a:solidFill>
              <a:srgbClr val="0877C9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3" name="直接箭头连接符 42"/>
          <p:cNvCxnSpPr>
            <a:stCxn id="14" idx="1"/>
            <a:endCxn id="12" idx="3"/>
          </p:cNvCxnSpPr>
          <p:nvPr>
            <p:custDataLst>
              <p:tags r:id="rId8"/>
            </p:custDataLst>
          </p:nvPr>
        </p:nvCxnSpPr>
        <p:spPr>
          <a:xfrm flipH="1">
            <a:off x="7077075" y="2902585"/>
            <a:ext cx="452755" cy="0"/>
          </a:xfrm>
          <a:prstGeom prst="straightConnector1">
            <a:avLst/>
          </a:prstGeom>
          <a:ln w="20955">
            <a:solidFill>
              <a:srgbClr val="C56A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4" name="直接箭头连接符 43"/>
          <p:cNvCxnSpPr>
            <a:stCxn id="16" idx="1"/>
            <a:endCxn id="14" idx="3"/>
          </p:cNvCxnSpPr>
          <p:nvPr>
            <p:custDataLst>
              <p:tags r:id="rId9"/>
            </p:custDataLst>
          </p:nvPr>
        </p:nvCxnSpPr>
        <p:spPr>
          <a:xfrm flipH="1">
            <a:off x="9509760" y="2902585"/>
            <a:ext cx="452755" cy="0"/>
          </a:xfrm>
          <a:prstGeom prst="straightConnector1">
            <a:avLst/>
          </a:prstGeom>
          <a:ln w="20955">
            <a:solidFill>
              <a:srgbClr val="18885F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1" name="矩形 20"/>
          <p:cNvSpPr>
            <a:spLocks noGrp="1"/>
          </p:cNvSpPr>
          <p:nvPr/>
        </p:nvSpPr>
        <p:spPr>
          <a:xfrm>
            <a:off x="2598420" y="403479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171450" indent="-171450" algn="l">
              <a:buFont typeface="Wingdings" panose="05000000000000000000" charset="0"/>
              <a:buChar char="Ø"/>
              <a:defRPr sz="135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责任边界</a:t>
            </a:r>
            <a:endParaRPr sz="1600" b="1">
              <a:solidFill>
                <a:srgbClr val="173B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143000" y="5876925"/>
            <a:ext cx="10048875" cy="361950"/>
          </a:xfrm>
          <a:prstGeom prst="roundRect">
            <a:avLst>
              <a:gd name="adj" fmla="val 21053"/>
            </a:avLst>
          </a:prstGeom>
          <a:solidFill>
            <a:srgbClr val="FCEEF0"/>
          </a:solidFill>
          <a:ln w="13335">
            <a:solidFill>
              <a:srgbClr val="B737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9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当前演示：工程目录、CAD Provider和MCP接口均为Mock，尚未连接真实C++ CAD软件</a:t>
            </a:r>
            <a:endParaRPr sz="109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2250" y="4419600"/>
            <a:ext cx="6096000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LLM提供理解能力，Agent掌握流程控制权</a:t>
            </a:r>
            <a:endParaRPr sz="14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Provider隔离CAD接口，MCP统一通信方式</a:t>
            </a:r>
            <a:endParaRPr sz="14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rgbClr val="173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CAD软件确认工程事实并完成最终建模</a:t>
            </a:r>
            <a:endParaRPr lang="zh-CN" altLang="en-US" sz="14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工程代码结构：两条流程共用执行底座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96202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错误治理负责发现和分流，板架创建负责参数校验与执行</a:t>
            </a:r>
            <a:endParaRPr sz="16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19125" y="1381125"/>
            <a:ext cx="1905000" cy="647700"/>
          </a:xfrm>
          <a:prstGeom prst="roundRect">
            <a:avLst>
              <a:gd name="adj" fmla="val 11765"/>
            </a:avLst>
          </a:prstGeom>
          <a:solidFill>
            <a:srgbClr val="F6FAFD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交互入口</a:t>
            </a:r>
            <a:endParaRPr sz="135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714625" y="1381125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webapp/ · agent/main.py</a:t>
            </a:r>
            <a:endParaRPr sz="1200" b="1">
              <a:solidFill>
                <a:srgbClr val="163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715125" y="138112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接收治理策略或板架创建需求，展示确认和执行结果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19125" y="2219325"/>
            <a:ext cx="1905000" cy="647700"/>
          </a:xfrm>
          <a:prstGeom prst="roundRect">
            <a:avLst>
              <a:gd name="adj" fmla="val 11765"/>
            </a:avLst>
          </a:prstGeom>
          <a:solidFill>
            <a:srgbClr val="F6FAFD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错误治理流程</a:t>
            </a:r>
            <a:endParaRPr>
              <a:sym typeface="+mn-ea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714625" y="2219325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agent/model_error_graph.py</a:t>
            </a:r>
            <a:endParaRPr sz="1200" b="1">
              <a:solidFill>
                <a:srgbClr val="163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715125" y="221932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读取错误快照，形成问题组、允许路线和恢复候选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19125" y="3057525"/>
            <a:ext cx="1905000" cy="647700"/>
          </a:xfrm>
          <a:prstGeom prst="roundRect">
            <a:avLst>
              <a:gd name="adj" fmla="val 11765"/>
            </a:avLst>
          </a:prstGeom>
          <a:solidFill>
            <a:srgbClr val="F6FAFD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板架创建流程</a:t>
            </a:r>
            <a:endParaRPr>
              <a:sym typeface="+mn-ea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714625" y="3057525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agent/graph.py</a:t>
            </a:r>
            <a:endParaRPr sz="1200" b="1">
              <a:solidFill>
                <a:srgbClr val="163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15125" y="305752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 PanelRequest，查询工程对象，经安全检查调用 create_panel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19125" y="3895725"/>
            <a:ext cx="1905000" cy="647700"/>
          </a:xfrm>
          <a:prstGeom prst="roundRect">
            <a:avLst>
              <a:gd name="adj" fmla="val 11765"/>
            </a:avLst>
          </a:prstGeom>
          <a:solidFill>
            <a:srgbClr val="F6FAFD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共用数据与规则</a:t>
            </a:r>
            <a:endParaRPr>
              <a:sym typeface="+mn-ea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714625" y="3895725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schemas/ · tools/</a:t>
            </a:r>
            <a:endParaRPr sz="1200" b="1">
              <a:solidFill>
                <a:srgbClr val="163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715125" y="389572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统一错误、板架、工程对象、决策和执行结果的数据格式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9125" y="4733925"/>
            <a:ext cx="1905000" cy="647700"/>
          </a:xfrm>
          <a:prstGeom prst="roundRect">
            <a:avLst>
              <a:gd name="adj" fmla="val 11765"/>
            </a:avLst>
          </a:prstGeom>
          <a:solidFill>
            <a:srgbClr val="F6FAFD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模型与CAD接口</a:t>
            </a:r>
            <a:endParaRPr>
              <a:sym typeface="+mn-ea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714625" y="4733925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9FC6D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llm/qwen_client.py · CadBackend · MCP</a:t>
            </a:r>
            <a:endParaRPr sz="1200" b="1">
              <a:solidFill>
                <a:srgbClr val="163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15125" y="473392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本地Qwen辅助理解，CAD连接层提供工程事实并执行最终操作</a:t>
            </a:r>
            <a:endParaRPr sz="12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95375" y="5715000"/>
            <a:ext cx="1000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当前衔接状态：</a:t>
            </a:r>
            <a:r>
              <a:rPr lang="en-US"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</a:t>
            </a:r>
            <a:r>
              <a:rPr sz="1200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已复用板架创建链；恢复候选自动转换为板架请求仍是下一步开发。</a:t>
            </a:r>
            <a:endParaRPr sz="1200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Demo第一段：发现问题并选择处理路线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004945"/>
            <a:ext cx="2047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 algn="l">
              <a:buFont typeface="Wingdings" panose="05000000000000000000" charset="0"/>
              <a:buChar char="Ø"/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用户策略模拟</a:t>
            </a:r>
            <a:endParaRPr lang="zh-CN" sz="1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4045" y="4444365"/>
            <a:ext cx="5695950" cy="1619250"/>
            <a:chOff x="900" y="2700"/>
            <a:chExt cx="8970" cy="2550"/>
          </a:xfrm>
        </p:grpSpPr>
        <p:sp>
          <p:nvSpPr>
            <p:cNvPr id="6" name="圆角矩形 5"/>
            <p:cNvSpPr>
              <a:spLocks noGrp="1"/>
            </p:cNvSpPr>
            <p:nvPr/>
          </p:nvSpPr>
          <p:spPr>
            <a:xfrm>
              <a:off x="900" y="2700"/>
              <a:ext cx="8970" cy="25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0478">
              <a:solidFill>
                <a:srgbClr val="9FC6DE"/>
              </a:solidFill>
              <a:prstDash val="solid"/>
            </a:ln>
          </p:spPr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"/>
            <a:srcRect l="181" r="181"/>
            <a:stretch>
              <a:fillRect/>
            </a:stretch>
          </p:blipFill>
          <p:spPr>
            <a:xfrm>
              <a:off x="960" y="2760"/>
              <a:ext cx="8850" cy="2430"/>
            </a:xfrm>
            <a:prstGeom prst="roundRect">
              <a:avLst>
                <a:gd name="adj" fmla="val 3704"/>
              </a:avLst>
            </a:prstGeom>
          </p:spPr>
        </p:pic>
      </p:grpSp>
      <p:sp>
        <p:nvSpPr>
          <p:cNvPr id="8" name="矩形 7"/>
          <p:cNvSpPr>
            <a:spLocks noGrp="1"/>
          </p:cNvSpPr>
          <p:nvPr/>
        </p:nvSpPr>
        <p:spPr>
          <a:xfrm>
            <a:off x="6486525" y="3914775"/>
            <a:ext cx="4905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 lnSpcReduction="10000"/>
          </a:bodyPr>
          <a:lstStyle/>
          <a:p>
            <a:pPr algn="l">
              <a:buNone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三种策略控制Agent的自动执行范围，以及哪些可恢复任务必须先征得用户确认。 </a:t>
            </a:r>
            <a:endParaRPr sz="1275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534150" y="4482465"/>
            <a:ext cx="4905375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14805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34150" y="4482465"/>
            <a:ext cx="57150" cy="514350"/>
          </a:xfrm>
          <a:prstGeom prst="rect">
            <a:avLst/>
          </a:prstGeom>
          <a:solidFill>
            <a:srgbClr val="14805E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724650" y="4520565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583"/>
          </a:bodyPr>
          <a:lstStyle/>
          <a:p>
            <a:pPr algn="l">
              <a:buNone/>
              <a:defRPr sz="12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安全项自动处理</a:t>
            </a:r>
            <a:endParaRPr sz="120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172450" y="4511040"/>
            <a:ext cx="31051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buNone/>
              <a:defRPr sz="109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低风险、候选唯一且预检查通过的重算可自动；板架数据更新仍需确认。</a:t>
            </a:r>
            <a:endParaRPr sz="109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534150" y="5092065"/>
            <a:ext cx="4905375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1674B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534150" y="5092065"/>
            <a:ext cx="57150" cy="514350"/>
          </a:xfrm>
          <a:prstGeom prst="rect">
            <a:avLst/>
          </a:prstGeom>
          <a:solidFill>
            <a:srgbClr val="1674B8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724650" y="5130165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583"/>
          </a:bodyPr>
          <a:lstStyle/>
          <a:p>
            <a:pPr algn="l">
              <a:buNone/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只分析，不修改</a:t>
            </a:r>
            <a:endParaRPr sz="12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172450" y="5120640"/>
            <a:ext cx="31051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buNone/>
              <a:defRPr sz="109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只生成问题归类、Agent选择和建议，不进入任何修改流程。</a:t>
            </a:r>
            <a:endParaRPr sz="109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534150" y="5701665"/>
            <a:ext cx="4905375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C56A0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534150" y="5701665"/>
            <a:ext cx="57150" cy="514350"/>
          </a:xfrm>
          <a:prstGeom prst="rect">
            <a:avLst/>
          </a:prstGeom>
          <a:solidFill>
            <a:srgbClr val="C56A00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724650" y="5739765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583"/>
          </a:bodyPr>
          <a:lstStyle/>
          <a:p>
            <a:pPr algn="l">
              <a:buNone/>
              <a:defRPr sz="12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所有修改需确认</a:t>
            </a:r>
            <a:endParaRPr sz="120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172450" y="5730240"/>
            <a:ext cx="31051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buNone/>
              <a:defRPr sz="109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每项可执行修改都先等待确认；人工和软件问题仍不自动处理。</a:t>
            </a:r>
            <a:endParaRPr sz="109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灯片编号占位符 1"/>
          <p:cNvSpPr>
            <a:spLocks noGrp="1"/>
          </p:cNvSpPr>
          <p:nvPr/>
        </p:nvSpPr>
        <p:spPr>
          <a:xfrm>
            <a:off x="11321895" y="3926840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78205" y="2762250"/>
            <a:ext cx="342900" cy="266700"/>
          </a:xfrm>
          <a:prstGeom prst="rect">
            <a:avLst/>
          </a:prstGeom>
          <a:solidFill>
            <a:srgbClr val="EAF4FA"/>
          </a:solidFill>
          <a:ln w="9525">
            <a:solidFill>
              <a:srgbClr val="1674B8"/>
            </a:solidFill>
            <a:prstDash val="solid"/>
          </a:ln>
        </p:spPr>
        <p:txBody>
          <a:bodyPr anchor="ctr">
            <a:normAutofit fontScale="75185"/>
          </a:bodyPr>
          <a:lstStyle/>
          <a:p>
            <a:pPr algn="ctr">
              <a:buNone/>
              <a:defRPr sz="13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316355" y="276225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185"/>
          </a:bodyPr>
          <a:lstStyle/>
          <a:p>
            <a:pPr algn="l">
              <a:buNone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 Mock 场景</a:t>
            </a:r>
            <a:endParaRPr sz="135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16305" y="3105150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展示演示船、版本升级背景、36条Mock错误及能力边界。</a:t>
            </a:r>
            <a:endParaRPr sz="11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507230" y="2762250"/>
            <a:ext cx="342900" cy="266700"/>
          </a:xfrm>
          <a:prstGeom prst="rect">
            <a:avLst/>
          </a:prstGeom>
          <a:solidFill>
            <a:srgbClr val="EAF4FA"/>
          </a:solidFill>
          <a:ln w="9525">
            <a:solidFill>
              <a:srgbClr val="1674B8"/>
            </a:solidFill>
            <a:prstDash val="solid"/>
          </a:ln>
        </p:spPr>
        <p:txBody>
          <a:bodyPr anchor="ctr">
            <a:normAutofit fontScale="75185"/>
          </a:bodyPr>
          <a:lstStyle/>
          <a:p>
            <a:pPr algn="ctr">
              <a:buNone/>
              <a:defRPr sz="13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945380" y="276225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185"/>
          </a:bodyPr>
          <a:lstStyle/>
          <a:p>
            <a:pPr algn="l">
              <a:buNone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分析当前工程错误</a:t>
            </a:r>
            <a:endParaRPr sz="135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4545330" y="3105150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读取错误</a:t>
            </a:r>
            <a:r>
              <a:rPr lang="zh-CN"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，生成问题分组、可选处理方式与Agent选择；不修改</a:t>
            </a:r>
            <a:endParaRPr sz="11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136255" y="2762250"/>
            <a:ext cx="342900" cy="266700"/>
          </a:xfrm>
          <a:prstGeom prst="rect">
            <a:avLst/>
          </a:prstGeom>
          <a:solidFill>
            <a:srgbClr val="EAF4FA"/>
          </a:solidFill>
          <a:ln w="9525">
            <a:solidFill>
              <a:srgbClr val="1674B8"/>
            </a:solidFill>
            <a:prstDash val="solid"/>
          </a:ln>
        </p:spPr>
        <p:txBody>
          <a:bodyPr anchor="ctr">
            <a:normAutofit fontScale="75185"/>
          </a:bodyPr>
          <a:lstStyle/>
          <a:p>
            <a:pPr algn="ctr">
              <a:buNone/>
              <a:defRPr sz="13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574405" y="276225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185"/>
          </a:bodyPr>
          <a:lstStyle/>
          <a:p>
            <a:pPr algn="l">
              <a:buNone/>
              <a:def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执行可恢复项</a:t>
            </a:r>
            <a:endParaRPr sz="135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174355" y="3105150"/>
            <a:ext cx="3238500" cy="4648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执行低风险重算；</a:t>
            </a:r>
            <a:endParaRPr sz="11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需更新或重建的板架形成恢复候选</a:t>
            </a:r>
            <a:endParaRPr sz="1140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609600" y="1536065"/>
            <a:ext cx="10972800" cy="1054100"/>
            <a:chOff x="900" y="5719"/>
            <a:chExt cx="17280" cy="1660"/>
          </a:xfrm>
        </p:grpSpPr>
        <p:sp>
          <p:nvSpPr>
            <p:cNvPr id="45" name="圆角矩形 44"/>
            <p:cNvSpPr>
              <a:spLocks noGrp="1"/>
            </p:cNvSpPr>
            <p:nvPr/>
          </p:nvSpPr>
          <p:spPr>
            <a:xfrm>
              <a:off x="900" y="5719"/>
              <a:ext cx="17280" cy="1661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0478">
              <a:solidFill>
                <a:srgbClr val="9FC6DE"/>
              </a:solidFill>
              <a:prstDash val="solid"/>
            </a:ln>
          </p:spPr>
        </p:sp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100" y="5820"/>
              <a:ext cx="16590" cy="1440"/>
            </a:xfrm>
            <a:prstGeom prst="rect">
              <a:avLst/>
            </a:prstGeom>
          </p:spPr>
        </p:pic>
      </p:grpSp>
      <p:cxnSp>
        <p:nvCxnSpPr>
          <p:cNvPr id="47" name="直接连接符 46"/>
          <p:cNvCxnSpPr/>
          <p:nvPr/>
        </p:nvCxnSpPr>
        <p:spPr>
          <a:xfrm>
            <a:off x="380365" y="3787140"/>
            <a:ext cx="116154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矩形 47"/>
          <p:cNvSpPr>
            <a:spLocks noGrp="1"/>
          </p:cNvSpPr>
          <p:nvPr/>
        </p:nvSpPr>
        <p:spPr>
          <a:xfrm>
            <a:off x="652145" y="1085850"/>
            <a:ext cx="252857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 algn="l">
              <a:buFont typeface="Wingdings" panose="05000000000000000000" charset="0"/>
              <a:buChar char="Ø"/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</a:t>
            </a:r>
            <a:r>
              <a:rPr lang="zh-CN" altLang="en-US" sz="1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模拟场景简介</a:t>
            </a:r>
            <a:endParaRPr lang="zh-CN" altLang="en-US" sz="1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</a:t>
            </a: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：模型错误归并与</a:t>
            </a:r>
            <a:r>
              <a:rPr lang="en-US" altLang="zh-CN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处理决策</a:t>
            </a:r>
            <a:endParaRPr lang="zh-CN" altLang="en-US"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85" y="1728470"/>
            <a:ext cx="11217910" cy="4764405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487045" y="1061720"/>
            <a:ext cx="2047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 algn="l">
              <a:buFont typeface="Wingdings" panose="05000000000000000000" charset="0"/>
              <a:buChar char="Ø"/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4520" y="933133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每组错误的主要问题是什么？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主要错误对象和受影响对象有哪些？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系统允许采用哪些处理方式？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最终选择了什么方案，当前处于什么状态？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Demo第二段：可恢复板架进入创建链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98615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将修正</a:t>
            </a:r>
            <a:r>
              <a: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错误板架与原有板架创建能力串联起来</a:t>
            </a:r>
            <a:endParaRPr sz="12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04825" y="174307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错误组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GROUP-A / B</a:t>
            </a:r>
            <a:endParaRPr>
              <a:sym typeface="+mn-ea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695575" y="1743075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锁定板架ID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读取CAD候选</a:t>
            </a:r>
            <a:endParaRPr>
              <a:sym typeface="+mn-ea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981575" y="1743075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RepairCandidate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恢复候选</a:t>
            </a:r>
            <a:endParaRPr>
              <a:sym typeface="+mn-ea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267575" y="1743075"/>
            <a:ext cx="1952625" cy="666750"/>
          </a:xfrm>
          <a:prstGeom prst="roundRect">
            <a:avLst>
              <a:gd name="adj" fmla="val 11429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候选 PanelRequest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进入创建LangGraph</a:t>
            </a:r>
            <a:endParaRPr>
              <a:sym typeface="+mn-ea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696450" y="1743075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Safety Gate</a:t>
            </a:r>
            <a:endParaRPr>
              <a:sym typeface="+mn-ea"/>
            </a:endParaRPr>
          </a:p>
          <a:p>
            <a:pPr lvl="0" algn="ctr">
              <a:buClrTx/>
              <a:buSzTx/>
              <a:buFontTx/>
              <a:defRPr sz="1275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Mock执行与复查</a:t>
            </a:r>
            <a:endParaRPr>
              <a:sym typeface="+mn-ea"/>
            </a:endParaRPr>
          </a:p>
        </p:txBody>
      </p:sp>
      <p:cxnSp>
        <p:nvCxnSpPr>
          <p:cNvPr id="39" name="直接箭头连接符 38"/>
          <p:cNvCxnSpPr>
            <a:stCxn id="7" idx="1"/>
            <a:endCxn id="6" idx="3"/>
          </p:cNvCxnSpPr>
          <p:nvPr/>
        </p:nvCxnSpPr>
        <p:spPr>
          <a:xfrm flipH="1">
            <a:off x="2219325" y="2076450"/>
            <a:ext cx="476250" cy="0"/>
          </a:xfrm>
          <a:prstGeom prst="straightConnector1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</p:cxnSp>
      <p:cxnSp>
        <p:nvCxnSpPr>
          <p:cNvPr id="40" name="直接箭头连接符 39"/>
          <p:cNvCxnSpPr>
            <a:stCxn id="8" idx="1"/>
            <a:endCxn id="7" idx="3"/>
          </p:cNvCxnSpPr>
          <p:nvPr/>
        </p:nvCxnSpPr>
        <p:spPr>
          <a:xfrm flipH="1">
            <a:off x="4505325" y="2076450"/>
            <a:ext cx="476250" cy="0"/>
          </a:xfrm>
          <a:prstGeom prst="straightConnector1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</p:cxnSp>
      <p:cxnSp>
        <p:nvCxnSpPr>
          <p:cNvPr id="41" name="直接箭头连接符 40"/>
          <p:cNvCxnSpPr>
            <a:stCxn id="9" idx="1"/>
            <a:endCxn id="8" idx="3"/>
          </p:cNvCxnSpPr>
          <p:nvPr/>
        </p:nvCxnSpPr>
        <p:spPr>
          <a:xfrm flipH="1">
            <a:off x="6791325" y="2076450"/>
            <a:ext cx="476250" cy="0"/>
          </a:xfrm>
          <a:prstGeom prst="straightConnector1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</p:cxnSp>
      <p:cxnSp>
        <p:nvCxnSpPr>
          <p:cNvPr id="42" name="直接箭头连接符 41"/>
          <p:cNvCxnSpPr>
            <a:stCxn id="10" idx="1"/>
            <a:endCxn id="9" idx="3"/>
          </p:cNvCxnSpPr>
          <p:nvPr/>
        </p:nvCxnSpPr>
        <p:spPr>
          <a:xfrm flipH="1">
            <a:off x="9220200" y="2076450"/>
            <a:ext cx="476250" cy="0"/>
          </a:xfrm>
          <a:prstGeom prst="straightConnector1">
            <a:avLst/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</p:cxnSp>
      <p:sp>
        <p:nvSpPr>
          <p:cNvPr id="15" name="矩形 14"/>
          <p:cNvSpPr>
            <a:spLocks noGrp="1"/>
          </p:cNvSpPr>
          <p:nvPr/>
        </p:nvSpPr>
        <p:spPr>
          <a:xfrm>
            <a:off x="638175" y="3030220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62050" y="3030220"/>
            <a:ext cx="4810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板架自动更新说明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0075" y="3392170"/>
            <a:ext cx="5410200" cy="1647825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0478">
            <a:solidFill>
              <a:srgbClr val="9FC6D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76275" y="5068570"/>
            <a:ext cx="52578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展示错误对象、CAD候选、重算或更新判断，以及父板架恢复后的关联复查。</a:t>
            </a:r>
            <a:endParaRPr sz="1125" b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53175" y="3030220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77050" y="3030220"/>
            <a:ext cx="47148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复用原板架创建执行链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315075" y="3326130"/>
            <a:ext cx="5314950" cy="206629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478">
            <a:solidFill>
              <a:srgbClr val="9FC6D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810" y="3477895"/>
            <a:ext cx="5339715" cy="10585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150" y="3400425"/>
            <a:ext cx="4819650" cy="18891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Demo第二段：可恢复板架进入创建链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7675" y="1147445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" y="1147445"/>
            <a:ext cx="47148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 PanelRequest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09575" y="2776855"/>
            <a:ext cx="52578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4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4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0550" y="1509395"/>
            <a:ext cx="6096000" cy="281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24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示例解析为 FR100、14mm、AH36、&gt;SL10 和 &lt;LV5，并通过Mock对象匹配。</a:t>
            </a:r>
            <a:endParaRPr lang="zh-CN" altLang="en-US" sz="124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2041525"/>
            <a:ext cx="7172325" cy="37020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515" y="2625090"/>
            <a:ext cx="4191635" cy="24561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332054" y="2011362"/>
            <a:ext cx="4692678" cy="28352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1F4E7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640705" y="1809750"/>
            <a:ext cx="5170170" cy="3048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项目初心与问题演化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板架创建与错误治理一体化方案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Agent决策、安全边界与双阶段Demo</a:t>
            </a:r>
            <a:endParaRPr sz="1875" b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阶段效果、不足与公司软件落地</a:t>
            </a:r>
            <a:endParaRPr sz="1875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方案总结</a:t>
            </a:r>
            <a:endParaRPr lang="zh-CN"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1325" y="1694180"/>
            <a:ext cx="5327015" cy="163957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建立“自然语言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板架参数提取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PanelRequest →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工程对象查询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CAD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调用”的板架创建基础能力。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错误快照，识别主要错误对象、关联错误和受影响对象。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将大量错误合并成可处理任务，避免逐条、重复处理级联错误。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根据错误情况生成重新计算、更新板架、人工处理或研发排查等候选方案。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将可恢复的板架问题重新转换为板架请求，复用原有板架创建执行链。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完成自动执行、等待确认、人工处理等流程分流。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67425" y="1483995"/>
            <a:ext cx="5080000" cy="1639570"/>
          </a:xfrm>
          <a:prstGeom prst="rect">
            <a:avLst/>
          </a:prstGeom>
        </p:spPr>
        <p:txBody>
          <a:bodyPr>
            <a:spAutoFit/>
          </a:bodyPr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创建与治理一体化：将板架创建作为可复用的基础能力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规则限定、Agent选择：确定性规则根据工程事实限定可选范围，Agent只在允许范围内结合任务背景和用户策略选择处理方案。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从单条报错转向关联任务：不直接处理每一条报错，而是识别主要问题和关联影响，形成以主要错误对象为中心的治理任务。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CAD能力解耦：通过CAD连接层（Provider）和MCP通信接口隔离Agent与具体CAD软件，为后续接入公司软件保留稳定接口。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1325" y="1087755"/>
            <a:ext cx="6096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本方案完成的工作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4230" y="1087755"/>
            <a:ext cx="6096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lvl="0" indent="-342900" algn="l">
              <a:spcAft>
                <a:spcPct val="600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方案创新点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9900" y="4182745"/>
            <a:ext cx="5080000" cy="1639570"/>
          </a:xfrm>
          <a:prstGeom prst="rect">
            <a:avLst/>
          </a:prstGeom>
        </p:spPr>
        <p:txBody>
          <a:bodyPr>
            <a:spAutoFit/>
          </a:bodyPr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理解需求：将自然语言转换为结构化板架创建参数。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综合判断：结合错误类型、影响对象、工程查询结果和用户策略选择处理方式。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动态路由：面对不同任务，动态选择重新计算、更新板架、等待确认或转人工。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任务转换：把错误分析结果转化为可进入板架创建链的恢复任务。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解释建议：说明选择某条处理路线的原因，辅助设计人员快速决策。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9900" y="3651250"/>
            <a:ext cx="31007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lvl="0" indent="-342900" algn="l">
              <a:spcAft>
                <a:spcPct val="600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Agent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带来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的增益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12230" y="418306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本方案使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从“接受指令后创建一块板架”，提升为“发现创建或恢复需求、形成处理任务、选择执行路线并连接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能力”的工程协作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913765" y="382905"/>
            <a:ext cx="11158630" cy="51562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方案总结</a:t>
            </a:r>
            <a:endParaRPr lang="zh-CN" sz="28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32995" y="6492875"/>
            <a:ext cx="553967" cy="365125"/>
          </a:xfr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10287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已经验证“发现任务、选择路线、安全创建”的流程骨架，下一步把Mock接口替换为公司CAD能力</a:t>
            </a:r>
            <a:endParaRPr sz="1400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00380" y="2181225"/>
            <a:ext cx="3429000" cy="523875"/>
          </a:xfrm>
          <a:prstGeom prst="roundRect">
            <a:avLst>
              <a:gd name="adj" fmla="val 14545"/>
            </a:avLst>
          </a:prstGeom>
          <a:solidFill>
            <a:srgbClr val="EAF7F2"/>
          </a:solidFill>
          <a:ln w="11430">
            <a:solidFill>
              <a:srgbClr val="14805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480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当前已证明</a:t>
            </a:r>
            <a:endParaRPr sz="1500" b="1">
              <a:solidFill>
                <a:srgbClr val="1480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3255" y="2847975"/>
            <a:ext cx="3319145" cy="105791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 → PanelRequest → 模拟创建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错误快照 → 4个问题组与允许路线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默认策略模拟恢复26条，剩余10条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错误治理页面复用板架创建链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310380" y="2181225"/>
            <a:ext cx="3429000" cy="523875"/>
          </a:xfrm>
          <a:prstGeom prst="roundRect">
            <a:avLst>
              <a:gd name="adj" fmla="val 14545"/>
            </a:avLst>
          </a:prstGeom>
          <a:solidFill>
            <a:srgbClr val="FFF5E8"/>
          </a:solidFill>
          <a:ln w="11430">
            <a:solidFill>
              <a:srgbClr val="C56A00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56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当前不足</a:t>
            </a:r>
            <a:endParaRPr sz="1500" b="1">
              <a:solidFill>
                <a:srgbClr val="C56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53255" y="2847975"/>
            <a:ext cx="3143250" cy="105854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错误、工程目录、执行和复查仍为Mock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恢复候选尚未自动进入板架请求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未实现按板架ID更新、事务和回滚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未验证真实几何、强度和全船规模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120380" y="2181225"/>
            <a:ext cx="3429000" cy="523875"/>
          </a:xfrm>
          <a:prstGeom prst="roundRect">
            <a:avLst>
              <a:gd name="adj" fmla="val 14545"/>
            </a:avLst>
          </a:prstGeom>
          <a:solidFill>
            <a:srgbClr val="EAF4FA"/>
          </a:solidFill>
          <a:ln w="11430">
            <a:solidFill>
              <a:srgbClr val="1674B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3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公司软件落地</a:t>
            </a:r>
            <a:endParaRPr sz="1500" b="1">
              <a:solidFill>
                <a:srgbClr val="0053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120380" y="2847975"/>
            <a:ext cx="3462020" cy="105791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确认错误快照、对象关系和创建/更新接口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接通</a:t>
            </a:r>
            <a:r>
              <a:rPr lang="en-US"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r>
              <a:rPr lang="zh-CN" altLang="en-US"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候选与板架请求</a:t>
            </a:r>
            <a:endParaRPr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明确安全修改权限边界</a:t>
            </a:r>
            <a:endParaRPr lang="zh-CN"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r>
              <a:rPr lang="en-US" altLang="zh-CN"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langgraph</a:t>
            </a:r>
            <a:r>
              <a:rPr lang="zh-CN" altLang="en-US"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ollama</a:t>
            </a:r>
            <a:r>
              <a:rPr lang="zh-CN" altLang="en-US" sz="1240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等组件的商业</a:t>
            </a:r>
            <a:endParaRPr lang="zh-CN" altLang="en-US" sz="1240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52475" y="4181475"/>
            <a:ext cx="10191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B7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落地原则：Python Agent负责理解和编排，CAD连接层提供工程事实，最终几何修改始终由C++ CAD软件完成。</a:t>
            </a:r>
            <a:endParaRPr sz="1275" b="1">
              <a:solidFill>
                <a:srgbClr val="B7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2190750"/>
            <a:ext cx="12192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15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63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AI辅助板架自动创建</a:t>
            </a:r>
            <a:endParaRPr sz="3150" b="1">
              <a:solidFill>
                <a:srgbClr val="163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43000" y="300037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674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从主动创建扩展到错误触发的安全恢复闭环</a:t>
            </a:r>
            <a:endParaRPr sz="1875" b="1">
              <a:solidFill>
                <a:srgbClr val="1674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3905250"/>
            <a:ext cx="1219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汇报完毕，谢谢！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6.25,&quot;left&quot;:292.5,&quot;top&quot;:123.75,&quot;width&quot;:611.25}"/>
</p:tagLst>
</file>

<file path=ppt/tags/tag2.xml><?xml version="1.0" encoding="utf-8"?>
<p:tagLst xmlns:p="http://schemas.openxmlformats.org/presentationml/2006/main">
  <p:tag name="KSO_WM_DIAGRAM_VIRTUALLY_FRAME" val="{&quot;height&quot;:176.25,&quot;left&quot;:292.5,&quot;top&quot;:123.75,&quot;width&quot;:611.25}"/>
</p:tagLst>
</file>

<file path=ppt/tags/tag3.xml><?xml version="1.0" encoding="utf-8"?>
<p:tagLst xmlns:p="http://schemas.openxmlformats.org/presentationml/2006/main">
  <p:tag name="KSO_WM_DIAGRAM_VIRTUALLY_FRAME" val="{&quot;height&quot;:176.25,&quot;left&quot;:292.5,&quot;top&quot;:123.75,&quot;width&quot;:611.25}"/>
</p:tagLst>
</file>

<file path=ppt/tags/tag4.xml><?xml version="1.0" encoding="utf-8"?>
<p:tagLst xmlns:p="http://schemas.openxmlformats.org/presentationml/2006/main">
  <p:tag name="KSO_WM_DIAGRAM_VIRTUALLY_FRAME" val="{&quot;height&quot;:176.25,&quot;left&quot;:292.5,&quot;top&quot;:123.75,&quot;width&quot;:611.25}"/>
</p:tagLst>
</file>

<file path=ppt/tags/tag5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6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7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8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9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0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1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2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3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4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5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6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7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8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19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0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1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2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3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4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5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6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7.xml><?xml version="1.0" encoding="utf-8"?>
<p:tagLst xmlns:p="http://schemas.openxmlformats.org/presentationml/2006/main">
  <p:tag name="KSO_WM_DIAGRAM_VIRTUALLY_FRAME" val="{&quot;height&quot;:202.5,&quot;left&quot;:52.5,&quot;top&quot;:108.75,&quot;width&quot;:864.75}"/>
</p:tagLst>
</file>

<file path=ppt/tags/tag28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29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30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31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32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33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34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35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36.xml><?xml version="1.0" encoding="utf-8"?>
<p:tagLst xmlns:p="http://schemas.openxmlformats.org/presentationml/2006/main">
  <p:tag name="KSO_WM_DIAGRAM_VIRTUALLY_FRAME" val="{&quot;height&quot;:206.25,&quot;left&quot;:41.25,&quot;top&quot;:140.65,&quot;width&quot;:633.75}"/>
</p:tagLst>
</file>

<file path=ppt/tags/tag37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38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39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0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1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2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3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4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5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6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7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8.xml><?xml version="1.0" encoding="utf-8"?>
<p:tagLst xmlns:p="http://schemas.openxmlformats.org/presentationml/2006/main">
  <p:tag name="KSO_WM_DIAGRAM_VIRTUALLY_FRAME" val="{&quot;height&quot;:302.25,&quot;left&quot;:56.25,&quot;top&quot;:114.75,&quot;width&quot;:513.75}"/>
</p:tagLst>
</file>

<file path=ppt/tags/tag49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0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1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2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3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4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5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6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7.xml><?xml version="1.0" encoding="utf-8"?>
<p:tagLst xmlns:p="http://schemas.openxmlformats.org/presentationml/2006/main">
  <p:tag name="KSO_WM_DIAGRAM_VIRTUALLY_FRAME" val="{&quot;height&quot;:256.05,&quot;left&quot;:347.25,&quot;top&quot;:140.7,&quot;width&quot;:625.3787353515625}"/>
</p:tagLst>
</file>

<file path=ppt/tags/tag58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59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0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1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2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3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4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5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6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7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8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69.xml><?xml version="1.0" encoding="utf-8"?>
<p:tagLst xmlns:p="http://schemas.openxmlformats.org/presentationml/2006/main">
  <p:tag name="KSO_WM_DIAGRAM_VIRTUALLY_FRAME" val="{&quot;height&quot;:136.5,&quot;left&quot;:520.5,&quot;top&quot;:135,&quot;width&quot;:386.25}"/>
</p:tagLst>
</file>

<file path=ppt/tags/tag70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1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2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3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4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5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6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7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8.xml><?xml version="1.0" encoding="utf-8"?>
<p:tagLst xmlns:p="http://schemas.openxmlformats.org/presentationml/2006/main">
  <p:tag name="KSO_WM_DIAGRAM_VIRTUALLY_FRAME" val="{&quot;height&quot;:79.5,&quot;left&quot;:69.15,&quot;top&quot;:217.5,&quot;width&quot;:829.5}"/>
</p:tagLst>
</file>

<file path=ppt/tags/tag79.xml><?xml version="1.0" encoding="utf-8"?>
<p:tagLst xmlns:p="http://schemas.openxmlformats.org/presentationml/2006/main">
  <p:tag name="KSO_WM_DIAGRAM_VIRTUALLY_FRAME" val="{&quot;height&quot;:364.5,&quot;left&quot;:45,&quot;top&quot;:112.5,&quot;width&quot;:872.6}"/>
</p:tagLst>
</file>

<file path=ppt/tags/tag80.xml><?xml version="1.0" encoding="utf-8"?>
<p:tagLst xmlns:p="http://schemas.openxmlformats.org/presentationml/2006/main">
  <p:tag name="KSO_WM_DIAGRAM_VIRTUALLY_FRAME" val="{&quot;height&quot;:364.5,&quot;left&quot;:45,&quot;top&quot;:112.5,&quot;width&quot;:872.6}"/>
</p:tagLst>
</file>

<file path=ppt/tags/tag81.xml><?xml version="1.0" encoding="utf-8"?>
<p:tagLst xmlns:p="http://schemas.openxmlformats.org/presentationml/2006/main">
  <p:tag name="KSO_WM_DIAGRAM_VIRTUALLY_FRAME" val="{&quot;height&quot;:364.5,&quot;left&quot;:45,&quot;top&quot;:112.5,&quot;width&quot;:872.6}"/>
</p:tagLst>
</file>

<file path=ppt/tags/tag82.xml><?xml version="1.0" encoding="utf-8"?>
<p:tagLst xmlns:p="http://schemas.openxmlformats.org/presentationml/2006/main">
  <p:tag name="KSO_WM_DIAGRAM_VIRTUALLY_FRAME" val="{&quot;height&quot;:364.5,&quot;left&quot;:45,&quot;top&quot;:112.5,&quot;width&quot;:872.6}"/>
</p:tagLst>
</file>

<file path=ppt/tags/tag83.xml><?xml version="1.0" encoding="utf-8"?>
<p:tagLst xmlns:p="http://schemas.openxmlformats.org/presentationml/2006/main">
  <p:tag name="KSO_WM_DIAGRAM_VIRTUALLY_FRAME" val="{&quot;height&quot;:364.5,&quot;left&quot;:45,&quot;top&quot;:112.5,&quot;width&quot;:872.6}"/>
</p:tagLst>
</file>

<file path=ppt/tags/tag84.xml><?xml version="1.0" encoding="utf-8"?>
<p:tagLst xmlns:p="http://schemas.openxmlformats.org/presentationml/2006/main">
  <p:tag name="KSO_WM_DIAGRAM_VIRTUALLY_FRAME" val="{&quot;height&quot;:364.5,&quot;left&quot;:45,&quot;top&quot;:112.5,&quot;width&quot;:872.6}"/>
</p:tagLst>
</file>

<file path=ppt/tags/tag85.xml><?xml version="1.0" encoding="utf-8"?>
<p:tagLst xmlns:p="http://schemas.openxmlformats.org/presentationml/2006/main">
  <p:tag name="KSO_WM_DIAGRAM_VIRTUALLY_FRAME" val="{&quot;height&quot;:364.5,&quot;left&quot;:45,&quot;top&quot;:112.5,&quot;width&quot;:872.6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5835</Words>
  <Application>WPS 演示</Application>
  <PresentationFormat>Converted Presentation</PresentationFormat>
  <Paragraphs>618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Calibri Light</vt:lpstr>
      <vt:lpstr>Arial</vt:lpstr>
      <vt:lpstr>微软雅黑</vt:lpstr>
      <vt:lpstr>黑体</vt:lpstr>
      <vt:lpstr>Arial Unicode MS</vt:lpstr>
      <vt:lpstr>Calibri</vt:lpstr>
      <vt:lpstr>Wingdings</vt:lpstr>
      <vt:lpstr>Calibri Light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渡渡鸟</cp:lastModifiedBy>
  <cp:revision>134</cp:revision>
  <dcterms:created xsi:type="dcterms:W3CDTF">2026-09-13T07:23:50Z</dcterms:created>
  <dcterms:modified xsi:type="dcterms:W3CDTF">2026-09-13T13:58:51Z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5C3F4A4F27F44D2CB9E713923AA2AB5E_13</vt:lpwstr>
  </property>
</Properties>
</file>