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a812f779514534" /><Relationship Type="http://schemas.openxmlformats.org/officeDocument/2006/relationships/extended-properties" Target="/docProps/app.xml" Id="R4ff9fe87d43b4cb3" /><Relationship Type="http://schemas.openxmlformats.org/officeDocument/2006/relationships/officeDocument" Target="/ppt/presentation.xml" Id="R4e3b39af77db4c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2dc17bed824efc"/>
    <p:sldMasterId xmlns:r="http://schemas.openxmlformats.org/officeDocument/2006/relationships" id="2147483654" r:id="R0ea8dc1cfcc94f0a"/>
  </p:sldMasterIdLst>
  <p:notesMasterIdLst>
    <p:notesMasterId xmlns:r="http://schemas.openxmlformats.org/officeDocument/2006/relationships" r:id="R779119e9f846434b"/>
  </p:notesMasterIdLst>
  <p:sldIdLst>
    <p:sldId xmlns:r="http://schemas.openxmlformats.org/officeDocument/2006/relationships" id="256" r:id="R6d8bfc3405984b6d"/>
    <p:sldId xmlns:r="http://schemas.openxmlformats.org/officeDocument/2006/relationships" id="257" r:id="R08ace201d1b24139"/>
    <p:sldId xmlns:r="http://schemas.openxmlformats.org/officeDocument/2006/relationships" id="258" r:id="Rdf4a65ba6ffe4206"/>
    <p:sldId xmlns:r="http://schemas.openxmlformats.org/officeDocument/2006/relationships" id="259" r:id="Rc8066c888961444f"/>
    <p:sldId xmlns:r="http://schemas.openxmlformats.org/officeDocument/2006/relationships" id="260" r:id="R1d6570117ca6441f"/>
    <p:sldId xmlns:r="http://schemas.openxmlformats.org/officeDocument/2006/relationships" id="261" r:id="R41ffc9c453214a83"/>
    <p:sldId xmlns:r="http://schemas.openxmlformats.org/officeDocument/2006/relationships" id="262" r:id="R4e10d12993b54a3f"/>
    <p:sldId xmlns:r="http://schemas.openxmlformats.org/officeDocument/2006/relationships" id="263" r:id="Rd9661dd76255449e"/>
    <p:sldId xmlns:r="http://schemas.openxmlformats.org/officeDocument/2006/relationships" id="264" r:id="R3cbebc338b864133"/>
    <p:sldId xmlns:r="http://schemas.openxmlformats.org/officeDocument/2006/relationships" id="265" r:id="R12e65176fd69428d"/>
    <p:sldId xmlns:r="http://schemas.openxmlformats.org/officeDocument/2006/relationships" id="266" r:id="R72b412b5735c4775"/>
    <p:sldId xmlns:r="http://schemas.openxmlformats.org/officeDocument/2006/relationships" id="267" r:id="R8e773f459fb54a7a"/>
    <p:sldId xmlns:r="http://schemas.openxmlformats.org/officeDocument/2006/relationships" id="268" r:id="R8f1e8f64d5e64993"/>
    <p:sldId xmlns:r="http://schemas.openxmlformats.org/officeDocument/2006/relationships" id="269" r:id="R14d0bb1a3b83433d"/>
    <p:sldId xmlns:r="http://schemas.openxmlformats.org/officeDocument/2006/relationships" id="270" r:id="R792d61ae025c40f1"/>
    <p:sldId xmlns:r="http://schemas.openxmlformats.org/officeDocument/2006/relationships" id="271" r:id="R76f640c5ae0743bd"/>
    <p:sldId xmlns:r="http://schemas.openxmlformats.org/officeDocument/2006/relationships" id="272" r:id="Rf6665efccda748d4"/>
    <p:sldId xmlns:r="http://schemas.openxmlformats.org/officeDocument/2006/relationships" id="273" r:id="R983d21ff90834073"/>
    <p:sldId xmlns:r="http://schemas.openxmlformats.org/officeDocument/2006/relationships" id="274" r:id="R3bcf8fd5165140da"/>
    <p:sldId xmlns:r="http://schemas.openxmlformats.org/officeDocument/2006/relationships" id="275" r:id="R8c1ca053c391425a"/>
    <p:sldId xmlns:r="http://schemas.openxmlformats.org/officeDocument/2006/relationships" id="276" r:id="Re286a8f71f0842a4"/>
    <p:sldId xmlns:r="http://schemas.openxmlformats.org/officeDocument/2006/relationships" id="277" r:id="Re32f245781424ea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3b1d726d9949b5" /><Relationship Type="http://schemas.openxmlformats.org/officeDocument/2006/relationships/slideMaster" Target="/ppt/slideMasters/slideMaster1.xml" Id="R1b2dc17bed824efc" /><Relationship Type="http://schemas.openxmlformats.org/officeDocument/2006/relationships/slideMaster" Target="/ppt/slideMasters/slideMaster2.xml" Id="R0ea8dc1cfcc94f0a" /><Relationship Type="http://schemas.openxmlformats.org/officeDocument/2006/relationships/notesMaster" Target="/ppt/notesMasters/notesMaster1.xml" Id="R779119e9f846434b" /><Relationship Type="http://schemas.openxmlformats.org/officeDocument/2006/relationships/presProps" Target="/ppt/presProps.xml" Id="R5ce34393c4e34431" /><Relationship Type="http://schemas.openxmlformats.org/officeDocument/2006/relationships/viewProps" Target="/ppt/viewProps.xml" Id="R53654bfa00e144c3" /><Relationship Type="http://schemas.openxmlformats.org/officeDocument/2006/relationships/tableStyles" Target="/ppt/tableStyles.xml" Id="R883868197dfa4c98" /><Relationship Type="http://schemas.openxmlformats.org/officeDocument/2006/relationships/slide" Target="/ppt/slides/slide1.xml" Id="R6d8bfc3405984b6d" /><Relationship Type="http://schemas.openxmlformats.org/officeDocument/2006/relationships/slide" Target="/ppt/slides/slide2.xml" Id="R08ace201d1b24139" /><Relationship Type="http://schemas.openxmlformats.org/officeDocument/2006/relationships/slide" Target="/ppt/slides/slide3.xml" Id="Rdf4a65ba6ffe4206" /><Relationship Type="http://schemas.openxmlformats.org/officeDocument/2006/relationships/slide" Target="/ppt/slides/slide4.xml" Id="Rc8066c888961444f" /><Relationship Type="http://schemas.openxmlformats.org/officeDocument/2006/relationships/slide" Target="/ppt/slides/slide5.xml" Id="R1d6570117ca6441f" /><Relationship Type="http://schemas.openxmlformats.org/officeDocument/2006/relationships/slide" Target="/ppt/slides/slide6.xml" Id="R41ffc9c453214a83" /><Relationship Type="http://schemas.openxmlformats.org/officeDocument/2006/relationships/slide" Target="/ppt/slides/slide7.xml" Id="R4e10d12993b54a3f" /><Relationship Type="http://schemas.openxmlformats.org/officeDocument/2006/relationships/slide" Target="/ppt/slides/slide8.xml" Id="Rd9661dd76255449e" /><Relationship Type="http://schemas.openxmlformats.org/officeDocument/2006/relationships/slide" Target="/ppt/slides/slide9.xml" Id="R3cbebc338b864133" /><Relationship Type="http://schemas.openxmlformats.org/officeDocument/2006/relationships/slide" Target="/ppt/slides/slide10.xml" Id="R12e65176fd69428d" /><Relationship Type="http://schemas.openxmlformats.org/officeDocument/2006/relationships/slide" Target="/ppt/slides/slide11.xml" Id="R72b412b5735c4775" /><Relationship Type="http://schemas.openxmlformats.org/officeDocument/2006/relationships/slide" Target="/ppt/slides/slide12.xml" Id="R8e773f459fb54a7a" /><Relationship Type="http://schemas.openxmlformats.org/officeDocument/2006/relationships/slide" Target="/ppt/slides/slide13.xml" Id="R8f1e8f64d5e64993" /><Relationship Type="http://schemas.openxmlformats.org/officeDocument/2006/relationships/slide" Target="/ppt/slides/slide14.xml" Id="R14d0bb1a3b83433d" /><Relationship Type="http://schemas.openxmlformats.org/officeDocument/2006/relationships/slide" Target="/ppt/slides/slide15.xml" Id="R792d61ae025c40f1" /><Relationship Type="http://schemas.openxmlformats.org/officeDocument/2006/relationships/slide" Target="/ppt/slides/slide16.xml" Id="R76f640c5ae0743bd" /><Relationship Type="http://schemas.openxmlformats.org/officeDocument/2006/relationships/slide" Target="/ppt/slides/slide17.xml" Id="Rf6665efccda748d4" /><Relationship Type="http://schemas.openxmlformats.org/officeDocument/2006/relationships/slide" Target="/ppt/slides/slide18.xml" Id="R983d21ff90834073" /><Relationship Type="http://schemas.openxmlformats.org/officeDocument/2006/relationships/slide" Target="/ppt/slides/slide19.xml" Id="R3bcf8fd5165140da" /><Relationship Type="http://schemas.openxmlformats.org/officeDocument/2006/relationships/slide" Target="/ppt/slides/slide20.xml" Id="R8c1ca053c391425a" /><Relationship Type="http://schemas.openxmlformats.org/officeDocument/2006/relationships/slide" Target="/ppt/slides/slide21.xml" Id="Re286a8f71f0842a4" /><Relationship Type="http://schemas.openxmlformats.org/officeDocument/2006/relationships/slide" Target="/ppt/slides/slide22.xml" Id="Re32f245781424e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8b04ce14c78f4a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12a57c18754681" /><Relationship Type="http://schemas.openxmlformats.org/officeDocument/2006/relationships/notesMaster" Target="/ppt/notesMasters/notesMaster1.xml" Id="R6d7bc88b587940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d255d26a844630" /><Relationship Type="http://schemas.openxmlformats.org/officeDocument/2006/relationships/notesMaster" Target="/ppt/notesMasters/notesMaster1.xml" Id="R9ae1487d388349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2ff7691bb4418a" /><Relationship Type="http://schemas.openxmlformats.org/officeDocument/2006/relationships/notesMaster" Target="/ppt/notesMasters/notesMaster1.xml" Id="R3c9b0bca863d4d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010df02a4b49f3" /><Relationship Type="http://schemas.openxmlformats.org/officeDocument/2006/relationships/notesMaster" Target="/ppt/notesMasters/notesMaster1.xml" Id="R7bc42b95c30549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744097f70043c2" /><Relationship Type="http://schemas.openxmlformats.org/officeDocument/2006/relationships/notesMaster" Target="/ppt/notesMasters/notesMaster1.xml" Id="R70e95058fdba47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09784ba4d144fb" /><Relationship Type="http://schemas.openxmlformats.org/officeDocument/2006/relationships/notesMaster" Target="/ppt/notesMasters/notesMaster1.xml" Id="R26367facf7c445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14392c4675047e4" /><Relationship Type="http://schemas.openxmlformats.org/officeDocument/2006/relationships/notesMaster" Target="/ppt/notesMasters/notesMaster1.xml" Id="Ree1d2714015a408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e83a2248c9b486b" /><Relationship Type="http://schemas.openxmlformats.org/officeDocument/2006/relationships/notesMaster" Target="/ppt/notesMasters/notesMaster1.xml" Id="Re997e6e15bc5420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5bee55ea8984dc0" /><Relationship Type="http://schemas.openxmlformats.org/officeDocument/2006/relationships/notesMaster" Target="/ppt/notesMasters/notesMaster1.xml" Id="Ra639cee8b218404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e2936cd984e4e0e" /><Relationship Type="http://schemas.openxmlformats.org/officeDocument/2006/relationships/notesMaster" Target="/ppt/notesMasters/notesMaster1.xml" Id="Rc8cb96328a744c1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1ab8c644f0641e2" /><Relationship Type="http://schemas.openxmlformats.org/officeDocument/2006/relationships/notesMaster" Target="/ppt/notesMasters/notesMaster1.xml" Id="Re98be6fe6fa6476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c19692c0c384a42" /><Relationship Type="http://schemas.openxmlformats.org/officeDocument/2006/relationships/notesMaster" Target="/ppt/notesMasters/notesMaster1.xml" Id="R77f34652451b4c6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e5b36f71cc74c21" /><Relationship Type="http://schemas.openxmlformats.org/officeDocument/2006/relationships/notesMaster" Target="/ppt/notesMasters/notesMaster1.xml" Id="R4494707426d5490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2cc443ade1e425f" /><Relationship Type="http://schemas.openxmlformats.org/officeDocument/2006/relationships/notesMaster" Target="/ppt/notesMasters/notesMaster1.xml" Id="Ra3d0a10e93484c0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fe612d328ef4127" /><Relationship Type="http://schemas.openxmlformats.org/officeDocument/2006/relationships/notesMaster" Target="/ppt/notesMasters/notesMaster1.xml" Id="R1573d5c81df04b3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49bcd94f62e4580" /><Relationship Type="http://schemas.openxmlformats.org/officeDocument/2006/relationships/notesMaster" Target="/ppt/notesMasters/notesMaster1.xml" Id="Rc73f94a0e9d8448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99aceff63bb4067" /><Relationship Type="http://schemas.openxmlformats.org/officeDocument/2006/relationships/notesMaster" Target="/ppt/notesMasters/notesMaster1.xml" Id="R672b87f1159946a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6d5ff53c2a5453a" /><Relationship Type="http://schemas.openxmlformats.org/officeDocument/2006/relationships/notesMaster" Target="/ppt/notesMasters/notesMaster1.xml" Id="R353b015c609940e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3fc3171152a4495" /><Relationship Type="http://schemas.openxmlformats.org/officeDocument/2006/relationships/notesMaster" Target="/ppt/notesMasters/notesMaster1.xml" Id="R45ecfc9396e24cb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0942463a23e4af7" /><Relationship Type="http://schemas.openxmlformats.org/officeDocument/2006/relationships/notesMaster" Target="/ppt/notesMasters/notesMaster1.xml" Id="Rc86b9fe59ee741f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c42741548384e3b" /><Relationship Type="http://schemas.openxmlformats.org/officeDocument/2006/relationships/notesMaster" Target="/ppt/notesMasters/notesMaster1.xml" Id="Rcde0813ad244490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b0d2e1e1ab8471d" /><Relationship Type="http://schemas.openxmlformats.org/officeDocument/2006/relationships/notesMaster" Target="/ppt/notesMasters/notesMaster1.xml" Id="R68ec31b11d784a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【建议时长：20秒】</a:t>
            </a:r>
          </a:p>
          <a:p xmlns:a="http://schemas.openxmlformats.org/drawingml/2006/main">
            <a:r>
              <a:t>各位好，我汇报的题目是“AI辅助板架自动创建”。项目最初解决设计人员提出需求后，AI如何形成可执行的板架请求。开发过程中，我们进一步把模型错误治理作为上游触发机制，让系统知道什么时候需要创建、更新或恢复板架。当前CAD数据和执行仍为Moc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【建议时长：10秒】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汇报分为四部分：先说明项目初心和问题演化，再介绍一体化方案与Agent决策，然后展示双阶段Demo，最后总结阶段效果、局限和公司软件落地路线。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【建议时长：35秒】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 xmlns:a="http://schemas.openxmlformats.org/drawingml/2006/main">
            <a:r>
              <a:t>项目经历了三个递进阶段。第一阶段解决“能创建”，把自然语言转成PanelRequest并完成模拟调用。第二阶段解决“何时需要创建或重建”，从模型错误中找到真正需要恢复的板架。第三阶段解决“在什么条件下可以处理”，只有对象、影响范围和处理方式明确的任务才进入创建链。因此，错误治理负责发现任务和选择方向，板架创建负责把合格任务变成可执行请求。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【建议时长：30秒】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 xmlns:a="http://schemas.openxmlformats.org/drawingml/2006/main">
            <a:r>
              <a:t>全船版本升级可能改变数据格式、对象关系和计算规则。旧字段不兼容、迁移遗漏、父子对象不同步，都可能产生新的错误；算法、容差或计算顺序变化也可能引发几何计算失败。不同问题需要不同处理方式。可恢复的板架数据问题可以进入更新或重建评估，边界失效和软件异常则应转设计人员或CAD研发。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【建议时长：5秒】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下面进入第二部分，说明板架创建与错误治理如何连接成一套流程。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【建议时长：35秒】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 xmlns:a="http://schemas.openxmlformats.org/drawingml/2006/main">
            <a:r>
              <a:t>板架任务有两个来源。上方是设计人员主动提出创建需求，系统形成包含定位面、厚度、材料和边界的板架请求。下方是CAD发现模型错误，系统先分析错误及受影响对象，再判断能否通过板架更新或重建解决。可以恢复时构建恢复任务并转成板架请求，不能恢复时转设计人员或CAD研发。两类来源最终复用同一套板架创建能力。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【建议时长：25秒】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 xmlns:a="http://schemas.openxmlformats.org/drawingml/2006/main">
            <a:r>
              <a:t>来源二的第一步是取得可信的错误输入。目标系统需要提供工程ID、版本、错误对象ID、对象类型、错误码和相关诊断信息。程序先检查对象是否重复、引用是否有效，再输出结构化错误清单。当前Demo读取固定的demo_model_errors.json，验证的是数据结构、入口校验和可追溯性，还没有连接真实CAD错误扫描。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【建议时长：35秒】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 xmlns:a="http://schemas.openxmlformats.org/drawingml/2006/main">
            <a:r>
              <a:t>错误原因不由Agent自由猜测。程序根据CAD错误码查询确定性映射表，再沿对象的上级关系找到问题起点。相同原因的错误合并成一个处理任务，并补齐受影响对象、CAD诊断和候选操作。页面中的Group只是本次Demo形成的分组，不是固定分类。换一条船或另一个工程，分组数量和内容都会随错误数据变化。未知错误码直接转人工确认。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【建议时长：40秒】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 xmlns:a="http://schemas.openxmlformats.org/drawingml/2006/main">
            <a:r>
              <a:t>这里是更新与重建的核心判断。主要错误对象不是板架时，系统处理实际对象；如果板架参数、边界和几何仍有效，只需重新计算。如果保留原panel_id并补全数据就能恢复，则选择更新。只有更新无法恢复，而且同时满足三个条件，系统才提出重建建议：创建参数完整且来源可靠，新旧板架替换关系明确，子构件能够安全重新关联。确定性规则先给出允许的处理方式，Agent结合用户策略在范围内选择，Workflow再按自动、待确认、人工或研发排查完成分流。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【建议时长：40秒】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 xmlns:a="http://schemas.openxmlformats.org/drawingml/2006/main">
            <a:r>
              <a:t>这一页展开项目的原子能力，也就是AI辅助板架创建。设计人员输入自然语言后，LLM只提取定位面、边界、厚度和材料等候选参数。Agent检查缺失、冲突和格式，通过后形成PanelRequest。随后CAD连接层查询定位面和边界对象是否存在且唯一。Workflow根据查询和授权状态继续、补充信息或停止。未来由CAD Provider完成接口适配，MCP传递调用，最终由C++ CAD软件创建真实板架；当前只完成Mock链路。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【建议时长：25秒】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 xmlns:a="http://schemas.openxmlformats.org/drawingml/2006/main">
            <a:r>
              <a:t>方案有四个特点。第一，人工创建和错误恢复复用同一板架请求与CAD接口。第二，Agent只能根据工程查询结果在允许范围内分流。第三，优先处理父板架，再复查依赖它的子构件。第四，遇到模型超时、对象歧义或建议越界时保守停止。LLM不负责确认真实几何，更新也不能被悄悄改成新建。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【建议时长：5秒】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第三部分说明Agent如何与LLM、CAD接口及工程代码协同，并进入Demo。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【建议时长：35秒】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 xmlns:a="http://schemas.openxmlformats.org/drawingml/2006/main">
            <a:r>
              <a:t>这五个部分职责不同。LLM负责理解语言并给出候选，不确认工程事实。Agent管理状态、调用工具并选择处理路线。CAD Provider是连接与适配层，把统一请求转换成CAD能够理解的调用，并返回工程查询结果。MCP只规定参数、结果和错误如何通信，不负责决策。真实工程对象、几何验证和最终建模始终由C++ CAD软件完成。当前Provider、MCP和工程目录均为Mock。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【建议时长：25秒】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 xmlns:a="http://schemas.openxmlformats.org/drawingml/2006/main">
            <a:r>
              <a:t>代码中有两条流程。model_error_graph负责读取错误快照，形成处理任务、允许路线和恢复候选；agent/graph负责板架创建，完成PanelRequest校验、工程对象查询和CAD调用。schemas与tools提供共用的数据结构和规则。当前Web页面已经能够下钻并复用创建链，恢复候选自动转换为PanelRequest仍是下一步开发内容。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【建议时长：30秒】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 xmlns:a="http://schemas.openxmlformats.org/drawingml/2006/main">
            <a:r>
              <a:t>录制视频的第一段展示错误治理。界面提供三种本轮策略。“安全项自动处理”只允许低风险、候选唯一且预检查通过的重算自动执行；板架更新仍需确认。“只分析，不修改”只返回分类和建议。“所有修改需确认”把可执行修改停在确认状态。视频依次展示Mock场景、分析当前错误和执行可恢复项。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【建议时长：35秒】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 xmlns:a="http://schemas.openxmlformats.org/drawingml/2006/main">
            <a:r>
              <a:t>这一页是错误治理结果总览。每张卡片回答四个问题：主要问题是什么，涉及哪些主要和受影响对象，允许采用哪些处理方式，Agent最终选择了什么。A到D只是Demo任务。A和B进入确认后更新，C需要设计人员处理，D表示CAD连接层或几何模块异常并转研发。这个结果说明Agent不会把所有错误都导向自动创建，而是根据工程事实选择不同路线。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【建议时长：30秒】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 xmlns:a="http://schemas.openxmlformats.org/drawingml/2006/main">
            <a:r>
              <a:t>视频第二段把可恢复板架接回原有创建能力。流程先锁定板架ID并读取CAD候选，形成RepairCandidate，再准备候选PanelRequest并进入创建LangGraph。左侧截图解释重算或更新依据，右侧截图展示原板架创建执行链。当前Demo通过页面下钻和示例请求完成衔接，恢复候选自动转换及真实板架更新接口尚未实现。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【建议时长：25秒】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 xmlns:a="http://schemas.openxmlformats.org/drawingml/2006/main">
            <a:r>
              <a:t>这里展示结构化PanelRequest。示例把自然语言解析成FR100、14毫米、AH36以及两条边界。第一次Agent决策要求查询工程上下文，Mock Provider确认定位面和边界唯一匹配；第二次决策才准备执行。这个过程体现了LLM输出只是候选，必须经过结构化校验和工程查询后才能进入CAD层。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【建议时长：5秒】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最后进入第四部分，总结已经完成的工作、实际价值和后续落地路线。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【建议时长：30秒】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 xmlns:a="http://schemas.openxmlformats.org/drawingml/2006/main">
            <a:r>
              <a:t>本方案建立了自然语言到板架请求的创建基础能力，并增加错误读取、原因归类、影响对象合并和处理路线生成。创新点在于把创建与治理连接起来，用确定性规则限定边界，再让Agent结合任务背景和用户策略动态选择。对设计生产而言，它可以减少逐条筛查和重复判断，把错误分析结果转成清晰、可确认的工程任务。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【建议时长：30秒】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 xmlns:a="http://schemas.openxmlformats.org/drawingml/2006/main">
            <a:r>
              <a:t>当前原型证明了两部分流程骨架。Demo将36条Mock错误合并成4个处理任务，默认策略下模拟处理26条，其余10条转人工或研发；自然语言也能形成PanelRequest并完成模拟创建。局限是错误、工程目录、执行和复查仍为Mock，真实更新、事务回滚、几何及强度校核尚未实现。落地建议先接入只读错误分析，再开放确认后更新，最后试点低风险自动重算。</a:t>
            </a:r>
            <a:endParaRPr sz="120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【建议时长：10秒】</a:t>
            </a:r>
          </a:p>
          <a:p xmlns:a="http://schemas.openxmlformats.org/drawingml/2006/main">
            <a:r>
              <a:t>项目初心始终是AI辅助板架自动创建。错误治理补上了“何时需要创建或恢复”的上游判断，使板架创建能力能够进入真实工程闭环。我的汇报完毕，谢谢。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62c06db0b04742" /><Relationship Type="http://schemas.openxmlformats.org/officeDocument/2006/relationships/image" Target="/ppt/media/image.png" Id="R444b7372557c4ace" /><Relationship Type="http://schemas.openxmlformats.org/officeDocument/2006/relationships/image" Target="/ppt/media/image2.png" Id="Rbf884d78b4e84ee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6fcd496e7547d5" /><Relationship Type="http://schemas.openxmlformats.org/officeDocument/2006/relationships/image" Target="/ppt/media/image3.png" Id="Re1febc7c738e4a52" /><Relationship Type="http://schemas.openxmlformats.org/officeDocument/2006/relationships/image" Target="/ppt/media/image4.png" Id="Ra61da8ba6c5e440a" /><Relationship Type="http://schemas.openxmlformats.org/officeDocument/2006/relationships/image" Target="/ppt/media/image2.png" Id="R70cb528f9b45468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0d9c3710b54904" /><Relationship Type="http://schemas.openxmlformats.org/officeDocument/2006/relationships/image" Target="/ppt/media/image4.png" Id="Rc07e8b9d49a64084" /><Relationship Type="http://schemas.openxmlformats.org/officeDocument/2006/relationships/image" Target="/ppt/media/image2.png" Id="R7f1bbc4e23dc467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f25e322a5248f3" /><Relationship Type="http://schemas.openxmlformats.org/officeDocument/2006/relationships/image" Target="/ppt/media/image4.png" Id="Rded389392c1b4949" /><Relationship Type="http://schemas.openxmlformats.org/officeDocument/2006/relationships/image" Target="/ppt/media/image2.png" Id="Rb1bee3c63981474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5c8ce24430424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9f6dcf6af1e4582" /><Relationship Type="http://schemas.openxmlformats.org/officeDocument/2006/relationships/image" Target="/ppt/media/image.png" Id="R8736706af90c41af" /><Relationship Type="http://schemas.openxmlformats.org/officeDocument/2006/relationships/image" Target="/ppt/media/image2.png" Id="Ra98e9b410b7c47c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22b7fb7f7134002" /><Relationship Type="http://schemas.openxmlformats.org/officeDocument/2006/relationships/image" Target="/ppt/media/image3.png" Id="R5cfc3fc9343344f0" /><Relationship Type="http://schemas.openxmlformats.org/officeDocument/2006/relationships/image" Target="/ppt/media/image4.png" Id="R04e29d192bfe49ed" /><Relationship Type="http://schemas.openxmlformats.org/officeDocument/2006/relationships/image" Target="/ppt/media/image2.png" Id="Rc16108dbe0a74f5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ffd693eaa124647" /><Relationship Type="http://schemas.openxmlformats.org/officeDocument/2006/relationships/image" Target="/ppt/media/image4.png" Id="Rf6991144b70f4365" /><Relationship Type="http://schemas.openxmlformats.org/officeDocument/2006/relationships/image" Target="/ppt/media/image2.png" Id="Rbceecc2c529e4e3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6edca621aeb488b" /><Relationship Type="http://schemas.openxmlformats.org/officeDocument/2006/relationships/image" Target="/ppt/media/image4.png" Id="R778aa62b9f8249bf" /><Relationship Type="http://schemas.openxmlformats.org/officeDocument/2006/relationships/image" Target="/ppt/media/image2.png" Id="Raad075b97da1452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a4ae90eddb849dd" /></Relationships>
</file>

<file path=ppt/slideLayouts/slideLayout1.xml><?xml version="1.0" encoding="utf-8"?>
<p:sldLayout xmlns:p="http://schemas.openxmlformats.org/presentationml/2006/main" userDrawn="1">
  <p:cSld name="5_自定义版式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4b7372557c4ac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pic>
        <p:nvPicPr>
          <p:cNvPr id="4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884d78b4e84ee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8475" y="359410"/>
            <a:ext cx="4175126" cy="3886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图片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1febc7c738e4a52">
            <a:alphaModFix amt="21000"/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6335" y="1270000"/>
            <a:ext cx="11035665" cy="4561499"/>
          </a:xfrm>
          <a:prstGeom xmlns:a="http://schemas.openxmlformats.org/drawingml/2006/main" prst="rect">
            <a:avLst/>
          </a:prstGeom>
        </p:spPr>
      </p:pic>
      <p:pic>
        <p:nvPicPr>
          <p:cNvPr id="10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1da8ba6c5e440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240463"/>
            <a:ext cx="12192000" cy="617537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4" name="任意多边形: 形状 9">
            <a:extLst xmlns:a="http://schemas.openxmlformats.org/drawingml/2006/main">
              <a:ext uri="{FF2B5EF4-FFF2-40B4-BE49-F238E27FC236}">
                <a16:creationId xmlns:a16="http://schemas.microsoft.com/office/drawing/2014/main" id="{901A4B2C-D27E-40AA-BD87-4682491C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70149">
            <a:off x="-515937" y="1771649"/>
            <a:ext cx="3600450" cy="3600451"/>
          </a:xfrm>
          <a:custGeom xmlns:a="http://schemas.openxmlformats.org/drawingml/2006/main">
            <a:gdLst>
              <a:gd name="connsiteX0" fmla="*/ 175740 w 3600000"/>
              <a:gd name="connsiteY0" fmla="*/ 175740 h 3600000"/>
              <a:gd name="connsiteX1" fmla="*/ 600012 w 3600000"/>
              <a:gd name="connsiteY1" fmla="*/ 0 h 3600000"/>
              <a:gd name="connsiteX2" fmla="*/ 2999988 w 3600000"/>
              <a:gd name="connsiteY2" fmla="*/ 0 h 3600000"/>
              <a:gd name="connsiteX3" fmla="*/ 3600000 w 3600000"/>
              <a:gd name="connsiteY3" fmla="*/ 600012 h 3600000"/>
              <a:gd name="connsiteX4" fmla="*/ 3600000 w 3600000"/>
              <a:gd name="connsiteY4" fmla="*/ 2999988 h 3600000"/>
              <a:gd name="connsiteX5" fmla="*/ 2999988 w 3600000"/>
              <a:gd name="connsiteY5" fmla="*/ 3600000 h 3600000"/>
              <a:gd name="connsiteX6" fmla="*/ 1820707 w 3600000"/>
              <a:gd name="connsiteY6" fmla="*/ 3600000 h 3600000"/>
              <a:gd name="connsiteX7" fmla="*/ 0 w 3600000"/>
              <a:gd name="connsiteY7" fmla="*/ 1852122 h 3600000"/>
              <a:gd name="connsiteX8" fmla="*/ 0 w 3600000"/>
              <a:gd name="connsiteY8" fmla="*/ 600012 h 3600000"/>
              <a:gd name="connsiteX9" fmla="*/ 175740 w 3600000"/>
              <a:gd name="connsiteY9" fmla="*/ 175740 h 3600000"/>
            </a:gdLst>
            <a:rect l="l" t="t" r="r" b="b"/>
            <a:pathLst>
              <a:path w="3600000" h="3600000">
                <a:moveTo>
                  <a:pt x="175740" y="175740"/>
                </a:moveTo>
                <a:cubicBezTo>
                  <a:pt x="284321" y="67159"/>
                  <a:pt x="434324" y="0"/>
                  <a:pt x="600012" y="0"/>
                </a:cubicBezTo>
                <a:lnTo>
                  <a:pt x="2999988" y="0"/>
                </a:lnTo>
                <a:cubicBezTo>
                  <a:pt x="3331365" y="0"/>
                  <a:pt x="3600000" y="268635"/>
                  <a:pt x="3600000" y="600012"/>
                </a:cubicBezTo>
                <a:lnTo>
                  <a:pt x="3600000" y="2999988"/>
                </a:lnTo>
                <a:cubicBezTo>
                  <a:pt x="3600000" y="3331365"/>
                  <a:pt x="3331365" y="3600000"/>
                  <a:pt x="2999988" y="3600000"/>
                </a:cubicBezTo>
                <a:lnTo>
                  <a:pt x="1820707" y="3600000"/>
                </a:lnTo>
                <a:lnTo>
                  <a:pt x="0" y="1852122"/>
                </a:lnTo>
                <a:lnTo>
                  <a:pt x="0" y="600012"/>
                </a:lnTo>
                <a:cubicBezTo>
                  <a:pt x="0" y="434323"/>
                  <a:pt x="67159" y="284320"/>
                  <a:pt x="175740" y="175740"/>
                </a:cubicBezTo>
                <a:close/>
              </a:path>
            </a:pathLst>
          </a:custGeom>
          <a:solidFill xmlns:a="http://schemas.openxmlformats.org/drawingml/2006/main">
            <a:schemeClr val="accent5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文本框 7">
            <a:extLst xmlns:a="http://schemas.openxmlformats.org/drawingml/2006/main">
              <a:ext uri="{FF2B5EF4-FFF2-40B4-BE49-F238E27FC236}">
                <a16:creationId xmlns:a16="http://schemas.microsoft.com/office/drawing/2014/main" id="{4DE248C3-0461-4834-9A9B-EDD473AB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575" y="2971800"/>
            <a:ext cx="2057400" cy="1198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sp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36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目</a:t>
            </a:r>
            <a:endParaRPr sz="36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</a:pPr>
            <a:r>
              <a:rPr sz="36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录</a:t>
            </a:r>
            <a:endParaRPr sz="36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cb528f9b45468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8475" y="359410"/>
            <a:ext cx="4175126" cy="3886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3.xml><?xml version="1.0" encoding="utf-8"?>
<p:sldLayout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7e8b9d49a6408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240463"/>
            <a:ext cx="12192000" cy="617537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9F8518E-7D47-4164-911E-5219964B2D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4960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>
              <a:buNone/>
            </a:pPr>
            <a:r>
              <a:t>2022/7/5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7158E32-B289-48D6-B48F-C0A439005A3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496050"/>
            <a:ext cx="4114800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304B04A-F7C1-44A7-B1B0-7CA4560E01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4960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68805CEB-EC34-4DF2-AF77-D48C7CAB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00" y="447140"/>
            <a:ext cx="360000" cy="3582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8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1bbc4e23dc467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08659" y="88883"/>
            <a:ext cx="3869526" cy="35825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4.xml><?xml version="1.0" encoding="utf-8"?>
<p:sldLayout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d389392c1b494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240463"/>
            <a:ext cx="12192000" cy="617537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D0E34F9-96A5-4EFF-B493-D5A1FEDDE1D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4960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>
              <a:buNone/>
            </a:pPr>
            <a:r>
              <a:t>2022/7/5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73237E4-ABC1-4EAC-BFD8-AB706B7AB8F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496050"/>
            <a:ext cx="4114800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C1B1C61-E1F4-4DA8-952C-6FBF82DA7B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4960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>
              <a:buNone/>
            </a:pPr>
          </a:p>
        </p:txBody>
      </p:sp>
      <p:pic>
        <p:nvPicPr>
          <p:cNvPr id="13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bee3c63981474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08659" y="88883"/>
            <a:ext cx="3869526" cy="35825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5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81A578C-26F7-4897-9BC1-B26262BBD3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95960" y="360000"/>
            <a:ext cx="10800000" cy="72000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CBCBF36-F284-4C83-9244-87B46A925EC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BFC76674-6EF3-4D37-A6E1-6ED56AD9094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242886D3-C2C7-4EB2-8E91-64A8577612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userDrawn="1">
  <p:cSld name="5_自定义版式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36706af90c41a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pic>
        <p:nvPicPr>
          <p:cNvPr id="4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8e9b410b7c47c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8475" y="359410"/>
            <a:ext cx="4175126" cy="3886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7.xml><?xml version="1.0" encoding="utf-8"?>
<p:sldLayout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图片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cfc3fc9343344f0">
            <a:alphaModFix amt="21000"/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6335" y="1270000"/>
            <a:ext cx="11035665" cy="4561499"/>
          </a:xfrm>
          <a:prstGeom xmlns:a="http://schemas.openxmlformats.org/drawingml/2006/main" prst="rect">
            <a:avLst/>
          </a:prstGeom>
        </p:spPr>
      </p:pic>
      <p:pic>
        <p:nvPicPr>
          <p:cNvPr id="10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e29d192bfe49e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240463"/>
            <a:ext cx="12192000" cy="617537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4" name="任意多边形: 形状 9">
            <a:extLst xmlns:a="http://schemas.openxmlformats.org/drawingml/2006/main">
              <a:ext uri="{FF2B5EF4-FFF2-40B4-BE49-F238E27FC236}">
                <a16:creationId xmlns:a16="http://schemas.microsoft.com/office/drawing/2014/main" id="{7B5EBFC0-152E-4E88-9CFC-E62E3EF4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70149">
            <a:off x="-515937" y="1771649"/>
            <a:ext cx="3600450" cy="3600451"/>
          </a:xfrm>
          <a:custGeom xmlns:a="http://schemas.openxmlformats.org/drawingml/2006/main">
            <a:gdLst>
              <a:gd name="connsiteX0" fmla="*/ 175740 w 3600000"/>
              <a:gd name="connsiteY0" fmla="*/ 175740 h 3600000"/>
              <a:gd name="connsiteX1" fmla="*/ 600012 w 3600000"/>
              <a:gd name="connsiteY1" fmla="*/ 0 h 3600000"/>
              <a:gd name="connsiteX2" fmla="*/ 2999988 w 3600000"/>
              <a:gd name="connsiteY2" fmla="*/ 0 h 3600000"/>
              <a:gd name="connsiteX3" fmla="*/ 3600000 w 3600000"/>
              <a:gd name="connsiteY3" fmla="*/ 600012 h 3600000"/>
              <a:gd name="connsiteX4" fmla="*/ 3600000 w 3600000"/>
              <a:gd name="connsiteY4" fmla="*/ 2999988 h 3600000"/>
              <a:gd name="connsiteX5" fmla="*/ 2999988 w 3600000"/>
              <a:gd name="connsiteY5" fmla="*/ 3600000 h 3600000"/>
              <a:gd name="connsiteX6" fmla="*/ 1820707 w 3600000"/>
              <a:gd name="connsiteY6" fmla="*/ 3600000 h 3600000"/>
              <a:gd name="connsiteX7" fmla="*/ 0 w 3600000"/>
              <a:gd name="connsiteY7" fmla="*/ 1852122 h 3600000"/>
              <a:gd name="connsiteX8" fmla="*/ 0 w 3600000"/>
              <a:gd name="connsiteY8" fmla="*/ 600012 h 3600000"/>
              <a:gd name="connsiteX9" fmla="*/ 175740 w 3600000"/>
              <a:gd name="connsiteY9" fmla="*/ 175740 h 3600000"/>
            </a:gdLst>
            <a:rect l="l" t="t" r="r" b="b"/>
            <a:pathLst>
              <a:path w="3600000" h="3600000">
                <a:moveTo>
                  <a:pt x="175740" y="175740"/>
                </a:moveTo>
                <a:cubicBezTo>
                  <a:pt x="284321" y="67159"/>
                  <a:pt x="434324" y="0"/>
                  <a:pt x="600012" y="0"/>
                </a:cubicBezTo>
                <a:lnTo>
                  <a:pt x="2999988" y="0"/>
                </a:lnTo>
                <a:cubicBezTo>
                  <a:pt x="3331365" y="0"/>
                  <a:pt x="3600000" y="268635"/>
                  <a:pt x="3600000" y="600012"/>
                </a:cubicBezTo>
                <a:lnTo>
                  <a:pt x="3600000" y="2999988"/>
                </a:lnTo>
                <a:cubicBezTo>
                  <a:pt x="3600000" y="3331365"/>
                  <a:pt x="3331365" y="3600000"/>
                  <a:pt x="2999988" y="3600000"/>
                </a:cubicBezTo>
                <a:lnTo>
                  <a:pt x="1820707" y="3600000"/>
                </a:lnTo>
                <a:lnTo>
                  <a:pt x="0" y="1852122"/>
                </a:lnTo>
                <a:lnTo>
                  <a:pt x="0" y="600012"/>
                </a:lnTo>
                <a:cubicBezTo>
                  <a:pt x="0" y="434323"/>
                  <a:pt x="67159" y="284320"/>
                  <a:pt x="175740" y="175740"/>
                </a:cubicBezTo>
                <a:close/>
              </a:path>
            </a:pathLst>
          </a:custGeom>
          <a:solidFill xmlns:a="http://schemas.openxmlformats.org/drawingml/2006/main">
            <a:schemeClr val="accent5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文本框 7">
            <a:extLst xmlns:a="http://schemas.openxmlformats.org/drawingml/2006/main">
              <a:ext uri="{FF2B5EF4-FFF2-40B4-BE49-F238E27FC236}">
                <a16:creationId xmlns:a16="http://schemas.microsoft.com/office/drawing/2014/main" id="{C4E08262-FCC9-4792-B622-20D69AB5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575" y="2971800"/>
            <a:ext cx="2057400" cy="1198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sp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36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目</a:t>
            </a:r>
            <a:endParaRPr sz="36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</a:pPr>
            <a:r>
              <a:rPr sz="36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录</a:t>
            </a:r>
            <a:endParaRPr sz="36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6108dbe0a74f5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8475" y="359410"/>
            <a:ext cx="4175126" cy="3886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8.xml><?xml version="1.0" encoding="utf-8"?>
<p:sldLayout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991144b70f436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240463"/>
            <a:ext cx="12192000" cy="617537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31F47F7-78BA-4787-8C2A-DABCF7DEB1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4960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>
              <a:buNone/>
            </a:pPr>
            <a:r>
              <a:t>2022/7/5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AEA1F80-72C1-4BDE-AFE5-39A5578452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496050"/>
            <a:ext cx="4114800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17FB885-C860-40AD-B0C9-CA679D7F78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4960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C5DF88F-2D68-410E-8AAA-77652016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00" y="447140"/>
            <a:ext cx="360000" cy="3582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8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eecc2c529e4e3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08659" y="88883"/>
            <a:ext cx="3869526" cy="35825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9.xml><?xml version="1.0" encoding="utf-8"?>
<p:sldLayout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8aa62b9f8249b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240463"/>
            <a:ext cx="12192000" cy="617537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62D549E-DFD1-4ED6-A7B6-B96A17D6A3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4960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>
              <a:buNone/>
            </a:pPr>
            <a:r>
              <a:t>2022/7/5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3FF7F53-3C0B-4BEF-A22B-84DFEB0252F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496050"/>
            <a:ext cx="4114800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DEA3727-3429-4135-9CF6-91951814E9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4960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>
              <a:buNone/>
            </a:pPr>
          </a:p>
        </p:txBody>
      </p:sp>
      <p:pic>
        <p:nvPicPr>
          <p:cNvPr id="13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d075b97da1452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08659" y="88883"/>
            <a:ext cx="3869526" cy="35825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0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7462F26-8CA4-4665-B3A4-50EB09961E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95960" y="360000"/>
            <a:ext cx="10800000" cy="72000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1D44C30-44A6-4847-AA2B-137DFBE4C4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2469232A-CFCD-40A0-BD77-C099A3328EE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13CAFD7-A973-4FDC-A7AA-FF2A3141397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52eb60e7974e22" /><Relationship Type="http://schemas.openxmlformats.org/officeDocument/2006/relationships/slideLayout" Target="/ppt/slideLayouts/slideLayout1.xml" Id="Rf7c97982e0e846ae" /><Relationship Type="http://schemas.openxmlformats.org/officeDocument/2006/relationships/slideLayout" Target="/ppt/slideLayouts/slideLayout2.xml" Id="R1fa8049c36574ac0" /><Relationship Type="http://schemas.openxmlformats.org/officeDocument/2006/relationships/slideLayout" Target="/ppt/slideLayouts/slideLayout3.xml" Id="R919064727dba4abf" /><Relationship Type="http://schemas.openxmlformats.org/officeDocument/2006/relationships/slideLayout" Target="/ppt/slideLayouts/slideLayout4.xml" Id="R7b121c15d2d1433a" /><Relationship Type="http://schemas.openxmlformats.org/officeDocument/2006/relationships/slideLayout" Target="/ppt/slideLayouts/slideLayout5.xml" Id="Rf5798918f9494a9e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d3ce2d09890d4f7f" /><Relationship Type="http://schemas.openxmlformats.org/officeDocument/2006/relationships/slideLayout" Target="/ppt/slideLayouts/slideLayout6.xml" Id="Rfbe731bc16f44053" /><Relationship Type="http://schemas.openxmlformats.org/officeDocument/2006/relationships/slideLayout" Target="/ppt/slideLayouts/slideLayout7.xml" Id="R4d32f5d948be4c03" /><Relationship Type="http://schemas.openxmlformats.org/officeDocument/2006/relationships/slideLayout" Target="/ppt/slideLayouts/slideLayout8.xml" Id="Rcf8edc94432d483f" /><Relationship Type="http://schemas.openxmlformats.org/officeDocument/2006/relationships/slideLayout" Target="/ppt/slideLayouts/slideLayout9.xml" Id="Rc8154647bef04166" /><Relationship Type="http://schemas.openxmlformats.org/officeDocument/2006/relationships/slideLayout" Target="/ppt/slideLayouts/slideLayout10.xml" Id="Rfbd3fc9e8c2d4c1f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B003492-FC23-44CA-AAC4-6DE979FC236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r>
              <a:t>2022/7/5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579EA25-6F77-4641-A958-502767DEC4A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B1C85BC-3194-47E7-9A67-FEA6C1FF17A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c97982e0e846ae"/>
    <p:sldLayoutId xmlns:r="http://schemas.openxmlformats.org/officeDocument/2006/relationships" id="2147483650" r:id="R1fa8049c36574ac0"/>
    <p:sldLayoutId xmlns:r="http://schemas.openxmlformats.org/officeDocument/2006/relationships" id="2147483651" r:id="R919064727dba4abf"/>
    <p:sldLayoutId xmlns:r="http://schemas.openxmlformats.org/officeDocument/2006/relationships" id="2147483652" r:id="R7b121c15d2d1433a"/>
    <p:sldLayoutId xmlns:r="http://schemas.openxmlformats.org/officeDocument/2006/relationships" id="2147483653" r:id="Rf5798918f9494a9e"/>
  </p:sldLayoutIdLst>
  <p:hf hdr="0" ftr="0"/>
  <p:txStyles>
    <p:titleStyle>
      <a:lvl1pPr xmlns:a="http://schemas.openxmlformats.org/drawingml/2006/main" algn="l">
        <a:lnSpc>
          <a:spcPct val="90000"/>
        </a:lnSpc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  <a:lvl2pPr xmlns:a="http://schemas.openxmlformats.org/drawingml/2006/main" algn="l">
        <a:lnSpc>
          <a:spcPct val="90000"/>
        </a:lnSpc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>
        <a:lnSpc>
          <a:spcPct val="90000"/>
        </a:lnSpc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>
        <a:lnSpc>
          <a:spcPct val="90000"/>
        </a:lnSpc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>
        <a:lnSpc>
          <a:spcPct val="90000"/>
        </a:lnSpc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457200" algn="l">
        <a:lnSpc>
          <a:spcPct val="90000"/>
        </a:lnSpc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914400" algn="l">
        <a:lnSpc>
          <a:spcPct val="90000"/>
        </a:lnSpc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371600" algn="l">
        <a:lnSpc>
          <a:spcPct val="90000"/>
        </a:lnSpc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1828800" algn="l">
        <a:lnSpc>
          <a:spcPct val="90000"/>
        </a:lnSpc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spcAft>
          <a:spcPct val="0"/>
        </a:spcAft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spcAft>
          <a:spcPct val="0"/>
        </a:spcAft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spcAft>
          <a:spcPct val="0"/>
        </a:spcAft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spcAft>
          <a:spcPct val="0"/>
        </a:spcAft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739330B-C995-4ED2-8108-7A94AC1CD08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r>
              <a:t>2022/7/5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8C134A6-1308-47B9-AD02-90865DE3ADA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50867A-42DE-4B95-9549-8436614059F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5" r:id="Rfbe731bc16f44053"/>
    <p:sldLayoutId xmlns:r="http://schemas.openxmlformats.org/officeDocument/2006/relationships" id="2147483656" r:id="R4d32f5d948be4c03"/>
    <p:sldLayoutId xmlns:r="http://schemas.openxmlformats.org/officeDocument/2006/relationships" id="2147483657" r:id="Rcf8edc94432d483f"/>
    <p:sldLayoutId xmlns:r="http://schemas.openxmlformats.org/officeDocument/2006/relationships" id="2147483658" r:id="Rc8154647bef04166"/>
    <p:sldLayoutId xmlns:r="http://schemas.openxmlformats.org/officeDocument/2006/relationships" id="2147483659" r:id="Rfbd3fc9e8c2d4c1f"/>
  </p:sldLayoutIdLst>
  <p:hf hdr="0" ftr="0"/>
  <p:txStyles>
    <p:titleStyle>
      <a:lvl1pPr xmlns:a="http://schemas.openxmlformats.org/drawingml/2006/main" algn="l">
        <a:lnSpc>
          <a:spcPct val="90000"/>
        </a:lnSpc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  <a:lvl2pPr xmlns:a="http://schemas.openxmlformats.org/drawingml/2006/main" algn="l">
        <a:lnSpc>
          <a:spcPct val="90000"/>
        </a:lnSpc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>
        <a:lnSpc>
          <a:spcPct val="90000"/>
        </a:lnSpc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>
        <a:lnSpc>
          <a:spcPct val="90000"/>
        </a:lnSpc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>
        <a:lnSpc>
          <a:spcPct val="90000"/>
        </a:lnSpc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457200" algn="l">
        <a:lnSpc>
          <a:spcPct val="90000"/>
        </a:lnSpc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914400" algn="l">
        <a:lnSpc>
          <a:spcPct val="90000"/>
        </a:lnSpc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371600" algn="l">
        <a:lnSpc>
          <a:spcPct val="90000"/>
        </a:lnSpc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1828800" algn="l">
        <a:lnSpc>
          <a:spcPct val="90000"/>
        </a:lnSpc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spcAft>
          <a:spcPct val="0"/>
        </a:spcAft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spcAft>
          <a:spcPct val="0"/>
        </a:spcAft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spcAft>
          <a:spcPct val="0"/>
        </a:spcAft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spcAft>
          <a:spcPct val="0"/>
        </a:spcAft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71ffbfc0d2410d" /><Relationship Type="http://schemas.openxmlformats.org/officeDocument/2006/relationships/notesSlide" Target="/ppt/notesSlides/notesSlide1.xml" Id="R808e5f333f744d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2b92751abd49ed" /><Relationship Type="http://schemas.openxmlformats.org/officeDocument/2006/relationships/notesSlide" Target="/ppt/notesSlides/notesSlide2.xml" Id="Rce2506a614204e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56bbea183424d0c" /><Relationship Type="http://schemas.openxmlformats.org/officeDocument/2006/relationships/notesSlide" Target="/ppt/notesSlides/notesSlide3.xml" Id="Rfb4b9a8068a44e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3522f47a94a47e8" /><Relationship Type="http://schemas.openxmlformats.org/officeDocument/2006/relationships/notesSlide" Target="/ppt/notesSlides/notesSlide4.xml" Id="R25cdb21d339e46e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f5e19d7c1e94b82" /><Relationship Type="http://schemas.openxmlformats.org/officeDocument/2006/relationships/notesSlide" Target="/ppt/notesSlides/notesSlide5.xml" Id="R801f5fcc6ab34b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caea87b09d142b5" /><Relationship Type="http://schemas.openxmlformats.org/officeDocument/2006/relationships/notesSlide" Target="/ppt/notesSlides/notesSlide6.xml" Id="R8541f7bd54d340e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9aa1f5686ce4a26" /><Relationship Type="http://schemas.openxmlformats.org/officeDocument/2006/relationships/image" Target="/ppt/media/image5.png" Id="R57966bd5b8c3455d" /><Relationship Type="http://schemas.openxmlformats.org/officeDocument/2006/relationships/notesSlide" Target="/ppt/notesSlides/notesSlide7.xml" Id="R23ce69c3f3dc45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a6b0d2c8601444e" /><Relationship Type="http://schemas.openxmlformats.org/officeDocument/2006/relationships/notesSlide" Target="/ppt/notesSlides/notesSlide8.xml" Id="R724122bfe1d6468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b5f0545d331459f" /><Relationship Type="http://schemas.openxmlformats.org/officeDocument/2006/relationships/notesSlide" Target="/ppt/notesSlides/notesSlide9.xml" Id="R66337e2645f340c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51e2f4eba564980" /><Relationship Type="http://schemas.openxmlformats.org/officeDocument/2006/relationships/notesSlide" Target="/ppt/notesSlides/notesSlide10.xml" Id="R382357247aa6491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c8e1739c6eb4eaf" /><Relationship Type="http://schemas.openxmlformats.org/officeDocument/2006/relationships/notesSlide" Target="/ppt/notesSlides/notesSlide11.xml" Id="R9e83f534e9f14c2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87bee1a4b63475c" /><Relationship Type="http://schemas.openxmlformats.org/officeDocument/2006/relationships/notesSlide" Target="/ppt/notesSlides/notesSlide12.xml" Id="R853777880ddb463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110398de3cc4d4b" /><Relationship Type="http://schemas.openxmlformats.org/officeDocument/2006/relationships/notesSlide" Target="/ppt/notesSlides/notesSlide13.xml" Id="R2d93fcb59edd46e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bb9dbe337a2425f" /><Relationship Type="http://schemas.openxmlformats.org/officeDocument/2006/relationships/notesSlide" Target="/ppt/notesSlides/notesSlide14.xml" Id="Rd3cf513deb3149f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fe07eb17d190437d" /><Relationship Type="http://schemas.openxmlformats.org/officeDocument/2006/relationships/image" Target="/ppt/media/image6.png" Id="R075a9d5731974b81" /><Relationship Type="http://schemas.openxmlformats.org/officeDocument/2006/relationships/image" Target="/ppt/media/image7.png" Id="R58cea90b40974aff" /><Relationship Type="http://schemas.openxmlformats.org/officeDocument/2006/relationships/notesSlide" Target="/ppt/notesSlides/notesSlide15.xml" Id="Re651052d13fe4f9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7447388dfe9b4cd1" /><Relationship Type="http://schemas.openxmlformats.org/officeDocument/2006/relationships/image" Target="/ppt/media/image8.png" Id="R74dd43ada660493c" /><Relationship Type="http://schemas.openxmlformats.org/officeDocument/2006/relationships/notesSlide" Target="/ppt/notesSlides/notesSlide16.xml" Id="Rd4f1fae1b9e5469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1b53ca041bb42f6" /><Relationship Type="http://schemas.openxmlformats.org/officeDocument/2006/relationships/image" Target="/ppt/media/image9.png" Id="R79bc507285c44d91" /><Relationship Type="http://schemas.openxmlformats.org/officeDocument/2006/relationships/image" Target="/ppt/media/image10.png" Id="R03aa14e6c7044042" /><Relationship Type="http://schemas.openxmlformats.org/officeDocument/2006/relationships/notesSlide" Target="/ppt/notesSlides/notesSlide17.xml" Id="Rb731d6052282453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41716f20a09743ec" /><Relationship Type="http://schemas.openxmlformats.org/officeDocument/2006/relationships/image" Target="/ppt/media/image11.png" Id="R4dea67e108d3465b" /><Relationship Type="http://schemas.openxmlformats.org/officeDocument/2006/relationships/image" Target="/ppt/media/image12.png" Id="R09b39905c1284650" /><Relationship Type="http://schemas.openxmlformats.org/officeDocument/2006/relationships/notesSlide" Target="/ppt/notesSlides/notesSlide18.xml" Id="Rcdd4dffeac544b7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d82d3385a67403b" /><Relationship Type="http://schemas.openxmlformats.org/officeDocument/2006/relationships/notesSlide" Target="/ppt/notesSlides/notesSlide19.xml" Id="Ra4ba6f0efd0b443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f478ab439b374fd5" /><Relationship Type="http://schemas.openxmlformats.org/officeDocument/2006/relationships/notesSlide" Target="/ppt/notesSlides/notesSlide20.xml" Id="R627de2ec9c24471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f019dc9e7d24255" /><Relationship Type="http://schemas.openxmlformats.org/officeDocument/2006/relationships/notesSlide" Target="/ppt/notesSlides/notesSlide21.xml" Id="Ra3f09784b65447a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130b98af044444" /><Relationship Type="http://schemas.openxmlformats.org/officeDocument/2006/relationships/notesSlide" Target="/ppt/notesSlides/notesSlide22.xml" Id="R21d857f5c2cf435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C3DF0F3E-36FE-433A-9B80-2445DAC5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87855"/>
            <a:ext cx="12192000" cy="294449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  <a:alpha val="6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4400" b="1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93E1E274-431E-4E29-8186-BD6FF354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70" y="1887855"/>
            <a:ext cx="12192000" cy="2750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lvl="0" algn="ctr" defTabSz="866775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4400"/>
              <a:t>AI辅助板架自动创建</a:t>
            </a:r>
            <a:endParaRPr sz="4400"/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12633A7A-E8D2-4AC1-A516-8705CDB7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70" y="5634355"/>
            <a:ext cx="1219327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2026年9月</a:t>
            </a:r>
            <a:endParaRPr sz="200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0B1E9E25-7D2C-4E0E-8066-BA43E334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0" y="5222875"/>
            <a:ext cx="122428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详设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｜面向全船模型错误治理的安全创建与恢复闭环</a:t>
            </a:r>
            <a:endParaRPr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99615206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B2F4047-5FF2-4905-AC74-E73C3B05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2054" y="2011362"/>
            <a:ext cx="4692678" cy="283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800" b="1" i="0" u="none" cap="none" spc="0">
                <a:ln>
                  <a:noFill/>
                </a:ln>
                <a:solidFill>
                  <a:srgbClr val="1F4E79"/>
                </a:solidFill>
                <a:latin typeface="黑体"/>
                <a:ea typeface="黑体"/>
                <a:cs typeface="黑体"/>
              </a:rPr>
              <a:t>目录</a:t>
            </a:r>
            <a:endParaRPr sz="2800" b="1" i="0" u="none" kern="1200" cap="none" spc="0" baseline="0">
              <a:ln>
                <a:noFill/>
              </a:ln>
              <a:solidFill>
                <a:srgbClr val="1F4E79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2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8C7126C3-3A03-4286-AEF0-BBEC37FE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2995" y="6492875"/>
            <a:ext cx="553967" cy="365125"/>
          </a:xfrm>
        </p:spPr>
        <p:txBody>
          <a:bodyPr xmlns:a="http://schemas.openxmlformats.org/drawingml/2006/main"/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endParaRPr sz="1600">
              <a:solidFill>
                <a:schemeClr val="bg1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90AA033-CFB6-4A2B-8E9D-472DE0F0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0705" y="1809750"/>
            <a:ext cx="517017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875" b="0">
                <a:solidFill>
                  <a:srgbClr val="243447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447"/>
                </a:solidFill>
                <a:latin typeface="微软雅黑"/>
                <a:ea typeface="微软雅黑"/>
                <a:cs typeface="微软雅黑"/>
              </a:rPr>
              <a:t>1  项目初心与问题演化</a:t>
            </a:r>
            <a:endParaRPr sz="1875" b="0">
              <a:solidFill>
                <a:srgbClr val="243447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lnSpc>
                <a:spcPct val="150000"/>
              </a:lnSpc>
              <a:buNone/>
              <a:defRPr sz="1875" b="0">
                <a:solidFill>
                  <a:srgbClr val="243447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chemeClr val="bg1">
                    <a:lumMod val="65000"/>
                  </a:schemeClr>
                </a:solidFill>
                <a:latin typeface="微软雅黑"/>
                <a:ea typeface="微软雅黑"/>
                <a:cs typeface="微软雅黑"/>
              </a:rPr>
              <a:t>2  板架创建与错误治理一体化方案</a:t>
            </a:r>
            <a:endParaRPr sz="1875" b="0">
              <a:solidFill>
                <a:schemeClr val="bg1">
                  <a:lumMod val="65000"/>
                </a:schemeClr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lnSpc>
                <a:spcPct val="150000"/>
              </a:lnSpc>
              <a:buNone/>
              <a:defRPr sz="1875" b="0">
                <a:solidFill>
                  <a:srgbClr val="243447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chemeClr val="bg1">
                    <a:lumMod val="65000"/>
                  </a:schemeClr>
                </a:solidFill>
                <a:latin typeface="微软雅黑"/>
                <a:ea typeface="微软雅黑"/>
                <a:cs typeface="微软雅黑"/>
              </a:rPr>
              <a:t>3  Agent决策、安全边界与双阶段Demo</a:t>
            </a:r>
            <a:endParaRPr sz="1875" b="0">
              <a:solidFill>
                <a:schemeClr val="bg1">
                  <a:lumMod val="65000"/>
                </a:schemeClr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lnSpc>
                <a:spcPct val="150000"/>
              </a:lnSpc>
              <a:buNone/>
              <a:defRPr sz="1875" b="0">
                <a:solidFill>
                  <a:srgbClr val="243447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chemeClr val="bg1">
                    <a:lumMod val="65000"/>
                  </a:schemeClr>
                </a:solidFill>
                <a:latin typeface="微软雅黑"/>
                <a:ea typeface="微软雅黑"/>
                <a:cs typeface="微软雅黑"/>
              </a:rPr>
              <a:t>4  阶段效果、不足与公司软件落地</a:t>
            </a:r>
            <a:endParaRPr sz="1875" b="0">
              <a:solidFill>
                <a:schemeClr val="bg1">
                  <a:lumMod val="6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85217251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72A1FC2-FEC1-4D3D-9DAE-EAA6380B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765" y="382905"/>
            <a:ext cx="11158630" cy="5156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>
                <a:solidFill>
                  <a:schemeClr val="accent5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1 项目初心与演化逻辑</a:t>
            </a:r>
            <a:endParaRPr sz="2800" b="1">
              <a:solidFill>
                <a:schemeClr val="accent5">
                  <a:lumMod val="5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FC40446C-5BCA-4F23-81CA-851A9523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2995" y="6492875"/>
            <a:ext cx="553967" cy="365125"/>
          </a:xfrm>
        </p:spPr>
        <p:txBody>
          <a:bodyPr xmlns:a="http://schemas.openxmlformats.org/drawingml/2006/main"/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endParaRPr sz="1600">
              <a:solidFill>
                <a:schemeClr val="bg1"/>
              </a:solidFill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1BB3AEC-72CB-4EFA-A99A-D807F87C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202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74B8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1674B8"/>
                </a:solidFill>
                <a:latin typeface="微软雅黑"/>
                <a:ea typeface="微软雅黑"/>
                <a:cs typeface="微软雅黑"/>
              </a:rPr>
              <a:t>核心目标始终是让AI安全地辅助板架创建</a:t>
            </a:r>
            <a:endParaRPr sz="1600" b="1">
              <a:solidFill>
                <a:srgbClr val="1674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02E366AA-7275-498A-B5FE-258339E6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3000375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EAF4FA"/>
          </a:solidFill>
          <a:ln xmlns:a="http://schemas.openxmlformats.org/drawingml/2006/main" w="11430">
            <a:solidFill>
              <a:srgbClr val="1674B8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90" b="1">
                <a:solidFill>
                  <a:srgbClr val="005394"/>
                </a:solidFill>
                <a:latin typeface="微软雅黑"/>
                <a:ea typeface="微软雅黑"/>
                <a:cs typeface="微软雅黑"/>
              </a:defRPr>
            </a:pPr>
            <a:r>
              <a:rPr sz="1390" b="1">
                <a:solidFill>
                  <a:srgbClr val="005394"/>
                </a:solidFill>
                <a:latin typeface="微软雅黑"/>
                <a:ea typeface="微软雅黑"/>
                <a:cs typeface="微软雅黑"/>
              </a:rPr>
              <a:t>1.1  能创建</a:t>
            </a:r>
            <a:endParaRPr sz="1390" b="1">
              <a:solidFill>
                <a:srgbClr val="005394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endParaRPr sz="1390"/>
          </a:p>
          <a:p xmlns:a="http://schemas.openxmlformats.org/drawingml/2006/main">
            <a:pPr algn="ctr">
              <a:buNone/>
              <a:defRPr sz="1390" b="1">
                <a:solidFill>
                  <a:srgbClr val="005394"/>
                </a:solidFill>
                <a:latin typeface="微软雅黑"/>
                <a:ea typeface="微软雅黑"/>
                <a:cs typeface="微软雅黑"/>
              </a:defRPr>
            </a:pPr>
            <a:r>
              <a:rPr sz="1390" b="1">
                <a:solidFill>
                  <a:srgbClr val="005394"/>
                </a:solidFill>
                <a:latin typeface="微软雅黑"/>
                <a:ea typeface="微软雅黑"/>
                <a:cs typeface="微软雅黑"/>
              </a:rPr>
              <a:t>自然语言 → 板架请求（PanelRequest）</a:t>
            </a:r>
            <a:endParaRPr sz="1390" b="1">
              <a:solidFill>
                <a:srgbClr val="005394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390" b="1">
                <a:solidFill>
                  <a:srgbClr val="005394"/>
                </a:solidFill>
                <a:latin typeface="微软雅黑"/>
                <a:ea typeface="微软雅黑"/>
                <a:cs typeface="微软雅黑"/>
              </a:defRPr>
            </a:pPr>
            <a:r>
              <a:rPr sz="1390" b="1">
                <a:solidFill>
                  <a:srgbClr val="005394"/>
                </a:solidFill>
                <a:latin typeface="微软雅黑"/>
                <a:ea typeface="微软雅黑"/>
                <a:cs typeface="微软雅黑"/>
              </a:rPr>
              <a:t>工程对象查询 → 安全检查</a:t>
            </a:r>
            <a:endParaRPr sz="1390" b="1">
              <a:solidFill>
                <a:srgbClr val="005394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390" b="1">
                <a:solidFill>
                  <a:srgbClr val="005394"/>
                </a:solidFill>
                <a:latin typeface="微软雅黑"/>
                <a:ea typeface="微软雅黑"/>
                <a:cs typeface="微软雅黑"/>
              </a:defRPr>
            </a:pPr>
            <a:r>
              <a:rPr sz="1390" b="1">
                <a:solidFill>
                  <a:srgbClr val="005394"/>
                </a:solidFill>
                <a:latin typeface="微软雅黑"/>
                <a:ea typeface="微软雅黑"/>
                <a:cs typeface="微软雅黑"/>
              </a:rPr>
              <a:t>调用 create_panel() Mock</a:t>
            </a:r>
            <a:endParaRPr sz="1390" b="1">
              <a:solidFill>
                <a:srgbClr val="00539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82F8FED9-C1CC-48C5-A7FB-11F2B31D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571625"/>
            <a:ext cx="3000375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5E8"/>
          </a:solidFill>
          <a:ln xmlns:a="http://schemas.openxmlformats.org/drawingml/2006/main" w="11430">
            <a:solidFill>
              <a:srgbClr val="C56A00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C56A0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C56A00"/>
                </a:solidFill>
                <a:latin typeface="微软雅黑"/>
                <a:ea typeface="微软雅黑"/>
                <a:cs typeface="微软雅黑"/>
              </a:rPr>
              <a:t>1.2  知道何时需要创建或重建</a:t>
            </a:r>
            <a:endParaRPr sz="1350" b="1">
              <a:solidFill>
                <a:srgbClr val="C56A0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endParaRPr sz="1350"/>
          </a:p>
          <a:p xmlns:a="http://schemas.openxmlformats.org/drawingml/2006/main">
            <a:pPr algn="ctr">
              <a:buNone/>
              <a:defRPr sz="1350" b="1">
                <a:solidFill>
                  <a:srgbClr val="C56A0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C56A00"/>
                </a:solidFill>
                <a:latin typeface="微软雅黑"/>
                <a:ea typeface="微软雅黑"/>
                <a:cs typeface="微软雅黑"/>
              </a:rPr>
              <a:t>模型升级产生关联错误</a:t>
            </a:r>
            <a:endParaRPr sz="1350" b="1">
              <a:solidFill>
                <a:srgbClr val="C56A0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350" b="1">
                <a:solidFill>
                  <a:srgbClr val="C56A0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C56A00"/>
                </a:solidFill>
                <a:latin typeface="微软雅黑"/>
                <a:ea typeface="微软雅黑"/>
                <a:cs typeface="微软雅黑"/>
              </a:rPr>
              <a:t>从全船错误中找出可恢复板架</a:t>
            </a:r>
            <a:endParaRPr sz="1350" b="1">
              <a:solidFill>
                <a:srgbClr val="C56A0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350" b="1">
                <a:solidFill>
                  <a:srgbClr val="C56A0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C56A00"/>
                </a:solidFill>
                <a:latin typeface="微软雅黑"/>
                <a:ea typeface="微软雅黑"/>
                <a:cs typeface="微软雅黑"/>
              </a:rPr>
              <a:t>生成板架恢复候选</a:t>
            </a:r>
            <a:endParaRPr sz="1350" b="1">
              <a:solidFill>
                <a:srgbClr val="C56A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96E40B5A-C172-4021-907A-5CDC4F9B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71625"/>
            <a:ext cx="3000375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EAF7F2"/>
          </a:solidFill>
          <a:ln xmlns:a="http://schemas.openxmlformats.org/drawingml/2006/main" w="11430">
            <a:solidFill>
              <a:srgbClr val="14805E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4805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4805E"/>
                </a:solidFill>
                <a:latin typeface="微软雅黑"/>
                <a:ea typeface="微软雅黑"/>
                <a:cs typeface="微软雅黑"/>
              </a:rPr>
              <a:t>1.3  只在安全时创建</a:t>
            </a:r>
            <a:endParaRPr sz="1350" b="1">
              <a:solidFill>
                <a:srgbClr val="14805E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endParaRPr sz="1350"/>
          </a:p>
          <a:p xmlns:a="http://schemas.openxmlformats.org/drawingml/2006/main">
            <a:pPr algn="ctr">
              <a:buNone/>
              <a:defRPr sz="1350" b="1">
                <a:solidFill>
                  <a:srgbClr val="14805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4805E"/>
                </a:solidFill>
                <a:latin typeface="微软雅黑"/>
                <a:ea typeface="微软雅黑"/>
                <a:cs typeface="微软雅黑"/>
              </a:rPr>
              <a:t>确认影响范围和允许路线</a:t>
            </a:r>
            <a:endParaRPr sz="1350" b="1">
              <a:solidFill>
                <a:srgbClr val="14805E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350" b="1">
                <a:solidFill>
                  <a:srgbClr val="14805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4805E"/>
                </a:solidFill>
                <a:latin typeface="微软雅黑"/>
                <a:ea typeface="微软雅黑"/>
                <a:cs typeface="微软雅黑"/>
              </a:rPr>
              <a:t>合格任务进入原板架创建链</a:t>
            </a:r>
            <a:endParaRPr sz="1350" b="1">
              <a:solidFill>
                <a:srgbClr val="14805E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350" b="1">
                <a:solidFill>
                  <a:srgbClr val="14805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4805E"/>
                </a:solidFill>
                <a:latin typeface="微软雅黑"/>
                <a:ea typeface="微软雅黑"/>
                <a:cs typeface="微软雅黑"/>
              </a:rPr>
              <a:t>人工与软件问题不自动执行</a:t>
            </a:r>
            <a:endParaRPr sz="1350" b="1">
              <a:solidFill>
                <a:srgbClr val="14805E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28" name="直接箭头连接符 19"/>
          <p:cNvCxnSpPr>
            <a:stCxn xmlns:a="http://schemas.openxmlformats.org/drawingml/2006/main" id="7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3714750" y="2690813"/>
            <a:ext cx="885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56A00"/>
            </a:solidFill>
            <a:prstDash val="solid"/>
            <a:headEnd type="triangle" w="sm" len="sm"/>
          </a:ln>
        </p:spPr>
      </p:cxnSp>
      <p:cxnSp>
        <p:nvCxnSpPr>
          <p:cNvPr id="29" name="直接箭头连接符 20"/>
          <p:cNvCxnSpPr>
            <a:stCxn xmlns:a="http://schemas.openxmlformats.org/drawingml/2006/main" id="8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7600950" y="2690813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805E"/>
            </a:solidFill>
            <a:prstDash val="solid"/>
            <a:headEnd type="triangle" w="sm" len="sm"/>
          </a:ln>
        </p:spPr>
      </p:cxn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3E0C6BB-A95D-42A5-BEE7-A611EE30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38150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C56A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C56A00"/>
                </a:solidFill>
                <a:latin typeface="微软雅黑"/>
                <a:ea typeface="微软雅黑"/>
                <a:cs typeface="微软雅黑"/>
              </a:rPr>
              <a:t>错误治理负责：为什么处理、处理哪个对象、允许采用什么方式</a:t>
            </a:r>
            <a:endParaRPr sz="1500" b="1">
              <a:solidFill>
                <a:srgbClr val="C56A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33784FF-174F-4AAA-9294-0783D37A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905375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5394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05394"/>
                </a:solidFill>
                <a:latin typeface="微软雅黑"/>
                <a:ea typeface="微软雅黑"/>
                <a:cs typeface="微软雅黑"/>
              </a:rPr>
              <a:t>板架创建负责：参数是否完整、工程对象是否有效、能否提交CAD执行</a:t>
            </a:r>
            <a:endParaRPr sz="1500" b="1">
              <a:solidFill>
                <a:srgbClr val="00539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72A6DB44-3757-4FE1-B1AA-D3596554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72125"/>
            <a:ext cx="1019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B7374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B73746"/>
                </a:solidFill>
                <a:latin typeface="微软雅黑"/>
                <a:ea typeface="微软雅黑"/>
                <a:cs typeface="微软雅黑"/>
              </a:rPr>
              <a:t>项目由单次创建原型扩展为“发现问题 → 判断能否恢复 → 安全创建或更新 → 复查结果”的工程闭环。</a:t>
            </a:r>
            <a:endParaRPr sz="1275" b="1">
              <a:solidFill>
                <a:srgbClr val="B73746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49310016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A7D6CB9-AFDE-489E-B92D-FFE07112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765" y="382905"/>
            <a:ext cx="11158630" cy="5156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>
                <a:solidFill>
                  <a:schemeClr val="accent5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常见错误原因分析</a:t>
            </a:r>
            <a:endParaRPr sz="2800" b="1">
              <a:solidFill>
                <a:schemeClr val="accent5">
                  <a:lumMod val="5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5C98F925-7BB3-4E2F-B5C2-9B568951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2995" y="6492875"/>
            <a:ext cx="553967" cy="365125"/>
          </a:xfrm>
        </p:spPr>
        <p:txBody>
          <a:bodyPr xmlns:a="http://schemas.openxmlformats.org/drawingml/2006/main"/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endParaRPr sz="1600">
              <a:solidFill>
                <a:schemeClr val="bg1"/>
              </a:solidFill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E53B3A0-C562-443C-836A-1CAAC103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2025"/>
            <a:ext cx="10287000" cy="734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674B8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1674B8"/>
                </a:solidFill>
                <a:latin typeface="微软雅黑"/>
                <a:ea typeface="微软雅黑"/>
                <a:cs typeface="微软雅黑"/>
              </a:rPr>
              <a:t>CAD软件版本</a:t>
            </a:r>
            <a:r>
              <a:rPr sz="1600" b="1">
                <a:solidFill>
                  <a:srgbClr val="1674B8"/>
                </a:solidFill>
                <a:latin typeface="微软雅黑"/>
                <a:ea typeface="微软雅黑"/>
                <a:cs typeface="微软雅黑"/>
              </a:rPr>
              <a:t>由于方案修正、属性修改等原因，全船升级时</a:t>
            </a:r>
            <a:r>
              <a:rPr sz="1600" b="1">
                <a:solidFill>
                  <a:srgbClr val="1674B8"/>
                </a:solidFill>
                <a:latin typeface="微软雅黑"/>
                <a:ea typeface="微软雅黑"/>
                <a:cs typeface="微软雅黑"/>
              </a:rPr>
              <a:t>，</a:t>
            </a:r>
            <a:r>
              <a:rPr sz="1600" b="1">
                <a:solidFill>
                  <a:srgbClr val="1674B8"/>
                </a:solidFill>
                <a:latin typeface="微软雅黑"/>
                <a:ea typeface="微软雅黑"/>
                <a:cs typeface="微软雅黑"/>
              </a:rPr>
              <a:t>存在节点计算失败，</a:t>
            </a:r>
            <a:r>
              <a:rPr sz="1600" b="1">
                <a:solidFill>
                  <a:srgbClr val="1674B8"/>
                </a:solidFill>
                <a:latin typeface="微软雅黑"/>
                <a:ea typeface="微软雅黑"/>
                <a:cs typeface="微软雅黑"/>
              </a:rPr>
              <a:t>部分错误会形成新的板架</a:t>
            </a:r>
            <a:r>
              <a:rPr sz="1600" b="1">
                <a:solidFill>
                  <a:srgbClr val="1674B8"/>
                </a:solidFill>
                <a:latin typeface="微软雅黑"/>
                <a:ea typeface="微软雅黑"/>
                <a:cs typeface="微软雅黑"/>
              </a:rPr>
              <a:t>创建</a:t>
            </a:r>
            <a:r>
              <a:rPr sz="1600" b="1">
                <a:solidFill>
                  <a:srgbClr val="1674B8"/>
                </a:solidFill>
                <a:latin typeface="微软雅黑"/>
                <a:ea typeface="微软雅黑"/>
                <a:cs typeface="微软雅黑"/>
              </a:rPr>
              <a:t>、更新或重算需求</a:t>
            </a:r>
            <a:endParaRPr sz="1600" b="1">
              <a:solidFill>
                <a:srgbClr val="1674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AAB28A2B-85D6-4C9C-9277-6FA04B2F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8490"/>
            <a:ext cx="2095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A"/>
          </a:solidFill>
          <a:ln xmlns:a="http://schemas.openxmlformats.org/drawingml/2006/main" w="12383">
            <a:solidFill>
              <a:srgbClr val="9FC6DE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539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05394"/>
                </a:solidFill>
                <a:latin typeface="微软雅黑"/>
                <a:ea typeface="微软雅黑"/>
                <a:cs typeface="微软雅黑"/>
              </a:rPr>
              <a:t>旧版本工程数据</a:t>
            </a:r>
            <a:endParaRPr sz="1350" b="1">
              <a:solidFill>
                <a:srgbClr val="00539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B16A6F8D-6FA2-4FF5-B483-0044CEE2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88490"/>
            <a:ext cx="2286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5E8"/>
          </a:solidFill>
          <a:ln xmlns:a="http://schemas.openxmlformats.org/drawingml/2006/main" w="12383">
            <a:solidFill>
              <a:srgbClr val="E8B86B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C56A0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C56A00"/>
                </a:solidFill>
                <a:latin typeface="微软雅黑"/>
                <a:ea typeface="微软雅黑"/>
                <a:cs typeface="微软雅黑"/>
              </a:rPr>
              <a:t>版本升级与数据转换</a:t>
            </a:r>
            <a:endParaRPr sz="1350" b="1">
              <a:solidFill>
                <a:srgbClr val="C56A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4D7EA6FF-2AEF-4CA7-B9E2-D77ED753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8490"/>
            <a:ext cx="238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7F2"/>
          </a:solidFill>
          <a:ln xmlns:a="http://schemas.openxmlformats.org/drawingml/2006/main" w="12383">
            <a:solidFill>
              <a:srgbClr val="79B99D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4805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4805E"/>
                </a:solidFill>
                <a:latin typeface="微软雅黑"/>
                <a:ea typeface="微软雅黑"/>
                <a:cs typeface="微软雅黑"/>
              </a:rPr>
              <a:t>对象关系更新与重新计算</a:t>
            </a:r>
            <a:endParaRPr sz="1350" b="1">
              <a:solidFill>
                <a:srgbClr val="14805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5FDE3BA3-76ED-4A02-B31E-7B0205B2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888490"/>
            <a:ext cx="19526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A"/>
          </a:solidFill>
          <a:ln xmlns:a="http://schemas.openxmlformats.org/drawingml/2006/main" w="12383">
            <a:solidFill>
              <a:srgbClr val="9FC6DE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539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05394"/>
                </a:solidFill>
                <a:latin typeface="微软雅黑"/>
                <a:ea typeface="微软雅黑"/>
                <a:cs typeface="微软雅黑"/>
              </a:rPr>
              <a:t>新版本错误检查</a:t>
            </a:r>
            <a:endParaRPr sz="1350" b="1">
              <a:solidFill>
                <a:srgbClr val="005394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68" name="直接箭头连接符 57"/>
          <p:cNvCxnSpPr>
            <a:stCxn xmlns:a="http://schemas.openxmlformats.org/drawingml/2006/main" id="7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2762250" y="2212340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74B8"/>
            </a:solidFill>
            <a:prstDash val="solid"/>
            <a:headEnd type="triangle" w="sm" len="sm"/>
          </a:ln>
        </p:spPr>
      </p:cxnSp>
      <p:cxnSp>
        <p:nvCxnSpPr>
          <p:cNvPr id="69" name="直接箭头连接符 58"/>
          <p:cNvCxnSpPr>
            <a:stCxn xmlns:a="http://schemas.openxmlformats.org/drawingml/2006/main" id="8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5762625" y="2212340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74B8"/>
            </a:solidFill>
            <a:prstDash val="solid"/>
            <a:headEnd type="triangle" w="sm" len="sm"/>
          </a:ln>
        </p:spPr>
      </p:cxnSp>
      <p:cxnSp>
        <p:nvCxnSpPr>
          <p:cNvPr id="70" name="直接箭头连接符 59"/>
          <p:cNvCxnSpPr>
            <a:stCxn xmlns:a="http://schemas.openxmlformats.org/drawingml/2006/main" id="9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8858250" y="2212340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74B8"/>
            </a:solidFill>
            <a:prstDash val="solid"/>
            <a:headEnd type="triangle" w="sm" len="sm"/>
          </a:ln>
        </p:spPr>
      </p:cxn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DCB9BCD-0272-4270-AF8F-5182485D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401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674B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674B8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2100" b="1">
              <a:solidFill>
                <a:srgbClr val="1674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BB0BC86F-0519-45E0-9661-42D2D9AA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2638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5394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05394"/>
                </a:solidFill>
                <a:latin typeface="微软雅黑"/>
                <a:ea typeface="微软雅黑"/>
                <a:cs typeface="微软雅黑"/>
              </a:rPr>
              <a:t>数据格式不兼容</a:t>
            </a:r>
            <a:endParaRPr sz="1500" b="1">
              <a:solidFill>
                <a:srgbClr val="00539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2D75DDE-0357-4406-B83A-53A1E978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10" y="3302635"/>
            <a:ext cx="200914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旧字段被调整或删除</a:t>
            </a:r>
            <a:endParaRPr sz="1275" b="0">
              <a:solidFill>
                <a:srgbClr val="334155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不同版本读取规则不一致</a:t>
            </a:r>
            <a:endParaRPr sz="1275" b="0">
              <a:solidFill>
                <a:srgbClr val="3341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61277122-29F4-45DF-A4A7-89A2C066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55010"/>
            <a:ext cx="1762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B8"/>
          </a:solidFill>
          <a:ln xmlns:a="http://schemas.openxmlformats.org/drawingml/2006/main" w="0">
            <a:noFill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182E9DA4-95B8-4957-BBC6-03B93EAD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7401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C56A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56A00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2100" b="1">
              <a:solidFill>
                <a:srgbClr val="C56A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2B414360-860D-4721-8AF7-72AECC1E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82638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5394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05394"/>
                </a:solidFill>
                <a:latin typeface="微软雅黑"/>
                <a:ea typeface="微软雅黑"/>
                <a:cs typeface="微软雅黑"/>
              </a:rPr>
              <a:t>数据转换不完整</a:t>
            </a:r>
            <a:endParaRPr sz="1500" b="1">
              <a:solidFill>
                <a:srgbClr val="00539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7B566F6-CCC1-414A-B727-925A27FA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302635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批量转换中断或遗漏</a:t>
            </a:r>
            <a:endParaRPr sz="1275" b="0">
              <a:solidFill>
                <a:srgbClr val="334155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部分边界、引用没有写入新格式</a:t>
            </a:r>
            <a:endParaRPr sz="1275" b="0">
              <a:solidFill>
                <a:srgbClr val="3341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9CC0C2DE-1A93-47BF-9F51-9EE6E4D8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255010"/>
            <a:ext cx="1762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A00"/>
          </a:solidFill>
          <a:ln xmlns:a="http://schemas.openxmlformats.org/drawingml/2006/main" w="0">
            <a:noFill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3B50D51-F5F5-4F64-A358-71BFA721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7401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4805E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4805E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2100" b="1">
              <a:solidFill>
                <a:srgbClr val="14805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06346172-60A2-4495-B4BD-276F0B93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2638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5394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05394"/>
                </a:solidFill>
                <a:latin typeface="微软雅黑"/>
                <a:ea typeface="微软雅黑"/>
                <a:cs typeface="微软雅黑"/>
              </a:rPr>
              <a:t>对象关系没有同步</a:t>
            </a:r>
            <a:endParaRPr sz="1500" b="1">
              <a:solidFill>
                <a:srgbClr val="00539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E9E31EDF-92FC-4369-9165-FADADC0B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02635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父对象已经更新</a:t>
            </a:r>
            <a:endParaRPr sz="1275" b="0">
              <a:solidFill>
                <a:srgbClr val="334155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子对象仍引用旧数据或旧结果</a:t>
            </a:r>
            <a:endParaRPr sz="1275" b="0">
              <a:solidFill>
                <a:srgbClr val="3341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558CAE9E-BD2C-42F1-8304-5944E164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55010"/>
            <a:ext cx="1762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05E"/>
          </a:solidFill>
          <a:ln xmlns:a="http://schemas.openxmlformats.org/drawingml/2006/main" w="0">
            <a:noFill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1C92224A-41C2-4AC5-8643-20B22BF2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87401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B73746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B73746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2100" b="1">
              <a:solidFill>
                <a:srgbClr val="B7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FD435C71-ABD6-435F-936D-0605092A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82638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5394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05394"/>
                </a:solidFill>
                <a:latin typeface="微软雅黑"/>
                <a:ea typeface="微软雅黑"/>
                <a:cs typeface="微软雅黑"/>
              </a:rPr>
              <a:t>重新计算或软件异常</a:t>
            </a:r>
            <a:endParaRPr sz="1500" b="1">
              <a:solidFill>
                <a:srgbClr val="00539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B0BFB3E-36D8-493D-BB27-773AD6FE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302635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计算顺序、容差或算法发生变化</a:t>
            </a:r>
            <a:endParaRPr sz="1275" b="0">
              <a:solidFill>
                <a:srgbClr val="334155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几何计算可能失败</a:t>
            </a:r>
            <a:endParaRPr sz="1275" b="0">
              <a:solidFill>
                <a:srgbClr val="3341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CB38E9F1-80C7-447E-A82B-041A69FA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255010"/>
            <a:ext cx="1762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3746"/>
          </a:solidFill>
          <a:ln xmlns:a="http://schemas.openxmlformats.org/drawingml/2006/main" w="0">
            <a:noFill/>
          </a:ln>
        </p:spPr>
      </p:sp>
      <p:sp>
        <p:nvSpPr>
          <p:cNvPr id="29" name="圆角矩形 28">
            <a:extLst xmlns:a="http://schemas.openxmlformats.org/drawingml/2006/main">
              <a:ext uri="{FF2B5EF4-FFF2-40B4-BE49-F238E27FC236}">
                <a16:creationId xmlns:a16="http://schemas.microsoft.com/office/drawing/2014/main" id="{0599C5D4-0309-40B2-B564-7F13B8053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779010"/>
            <a:ext cx="1000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12383">
            <a:solidFill>
              <a:srgbClr val="1674B8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05394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005394"/>
                </a:solidFill>
                <a:latin typeface="微软雅黑"/>
                <a:ea typeface="微软雅黑"/>
                <a:cs typeface="微软雅黑"/>
              </a:rPr>
              <a:t>当前Demo模拟四类问题：板架边界迁移不完整、父板架待重算、肘板边界失效、CAD计算异常</a:t>
            </a:r>
            <a:endParaRPr sz="1425" b="1">
              <a:solidFill>
                <a:srgbClr val="00539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7EC6ABE4-5EB3-479A-BA8F-0223B500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58863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B7374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B73746"/>
                </a:solidFill>
                <a:latin typeface="微软雅黑"/>
                <a:ea typeface="微软雅黑"/>
                <a:cs typeface="微软雅黑"/>
              </a:rPr>
              <a:t>只有板架数据缺失或迁移不完整等可恢复问题，才进入板架创建或更新链；其余转人工</a:t>
            </a:r>
            <a:r>
              <a:rPr sz="1200" b="1">
                <a:solidFill>
                  <a:srgbClr val="B73746"/>
                </a:solidFill>
                <a:latin typeface="微软雅黑"/>
                <a:ea typeface="微软雅黑"/>
                <a:cs typeface="微软雅黑"/>
              </a:rPr>
              <a:t>处理或开发</a:t>
            </a:r>
            <a:r>
              <a:rPr sz="1200" b="1">
                <a:solidFill>
                  <a:srgbClr val="B73746"/>
                </a:solidFill>
                <a:latin typeface="微软雅黑"/>
                <a:ea typeface="微软雅黑"/>
                <a:cs typeface="微软雅黑"/>
              </a:rPr>
              <a:t> </a:t>
            </a:r>
            <a:endParaRPr sz="1200" b="1">
              <a:solidFill>
                <a:srgbClr val="B73746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56727471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0C414C3-F961-4D60-891A-F8FD907C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2054" y="2011362"/>
            <a:ext cx="4692678" cy="283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800" b="1" i="0" u="none" cap="none" spc="0">
                <a:ln>
                  <a:noFill/>
                </a:ln>
                <a:solidFill>
                  <a:srgbClr val="1F4E79"/>
                </a:solidFill>
                <a:latin typeface="黑体"/>
                <a:ea typeface="黑体"/>
                <a:cs typeface="黑体"/>
              </a:rPr>
              <a:t>目录</a:t>
            </a:r>
            <a:endParaRPr sz="2800" b="1" i="0" u="none" kern="1200" cap="none" spc="0" baseline="0">
              <a:ln>
                <a:noFill/>
              </a:ln>
              <a:solidFill>
                <a:srgbClr val="1F4E79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2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953CA1E0-3E13-4371-A7BE-4F9AA3C2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2995" y="6492875"/>
            <a:ext cx="553967" cy="365125"/>
          </a:xfrm>
        </p:spPr>
        <p:txBody>
          <a:bodyPr xmlns:a="http://schemas.openxmlformats.org/drawingml/2006/main"/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endParaRPr sz="1600">
              <a:solidFill>
                <a:schemeClr val="bg1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BA6A0A9-CC04-46E0-89C6-0AD508A2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0705" y="1809750"/>
            <a:ext cx="517017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875" b="0">
                <a:solidFill>
                  <a:srgbClr val="243447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chemeClr val="bg1">
                    <a:lumMod val="65000"/>
                  </a:schemeClr>
                </a:solidFill>
                <a:latin typeface="微软雅黑"/>
                <a:ea typeface="微软雅黑"/>
                <a:cs typeface="微软雅黑"/>
              </a:rPr>
              <a:t>1  项目初心与问题演化</a:t>
            </a:r>
            <a:endParaRPr sz="1875" b="0">
              <a:solidFill>
                <a:schemeClr val="bg1">
                  <a:lumMod val="65000"/>
                </a:schemeClr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lnSpc>
                <a:spcPct val="150000"/>
              </a:lnSpc>
              <a:buNone/>
              <a:defRPr sz="1875" b="0">
                <a:solidFill>
                  <a:srgbClr val="243447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447"/>
                </a:solidFill>
                <a:latin typeface="微软雅黑"/>
                <a:ea typeface="微软雅黑"/>
                <a:cs typeface="微软雅黑"/>
              </a:rPr>
              <a:t>2  板架创建与错误治理一体化方案</a:t>
            </a:r>
            <a:endParaRPr sz="1875" b="0">
              <a:solidFill>
                <a:srgbClr val="243447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lnSpc>
                <a:spcPct val="150000"/>
              </a:lnSpc>
              <a:buNone/>
              <a:defRPr sz="1875" b="0">
                <a:solidFill>
                  <a:srgbClr val="243447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chemeClr val="bg1">
                    <a:lumMod val="65000"/>
                  </a:schemeClr>
                </a:solidFill>
                <a:latin typeface="微软雅黑"/>
                <a:ea typeface="微软雅黑"/>
                <a:cs typeface="微软雅黑"/>
              </a:rPr>
              <a:t>3  Agent决策、安全边界与双阶段Demo</a:t>
            </a:r>
            <a:endParaRPr sz="1875" b="0">
              <a:solidFill>
                <a:schemeClr val="bg1">
                  <a:lumMod val="65000"/>
                </a:schemeClr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lnSpc>
                <a:spcPct val="150000"/>
              </a:lnSpc>
              <a:buNone/>
              <a:defRPr sz="1875" b="0">
                <a:solidFill>
                  <a:srgbClr val="243447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chemeClr val="bg1">
                    <a:lumMod val="65000"/>
                  </a:schemeClr>
                </a:solidFill>
                <a:latin typeface="微软雅黑"/>
                <a:ea typeface="微软雅黑"/>
                <a:cs typeface="微软雅黑"/>
              </a:rPr>
              <a:t>4  阶段效果、不足与公司软件落地</a:t>
            </a:r>
            <a:endParaRPr sz="1875" b="0">
              <a:solidFill>
                <a:schemeClr val="bg1">
                  <a:lumMod val="6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95793609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98E8654-4ED7-4AE7-8C52-878A8680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765" y="382905"/>
            <a:ext cx="11158630" cy="5156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>
                <a:solidFill>
                  <a:schemeClr val="accent5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板架创建与错误治理一体化方案</a:t>
            </a:r>
            <a:endParaRPr sz="2800" b="1">
              <a:solidFill>
                <a:schemeClr val="accent5">
                  <a:lumMod val="5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B3FC43CF-D022-4B0A-A9C7-87C711F5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2995" y="6492875"/>
            <a:ext cx="553967" cy="365125"/>
          </a:xfrm>
        </p:spPr>
        <p:txBody>
          <a:bodyPr xmlns:a="http://schemas.openxmlformats.org/drawingml/2006/main"/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endParaRPr sz="1600">
              <a:solidFill>
                <a:schemeClr val="bg1"/>
              </a:solidFill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37EE80B-593D-44AF-846B-7103F7AE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" y="9620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74B8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两类任务来源不同，但进入CAD执行前都必须形成板架请求，并经过同一套检查</a:t>
            </a:r>
            <a:endParaRPr sz="1600" b="1">
              <a:solidFill>
                <a:schemeClr val="tx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01A984CE-2DE0-4B9A-BC85-3DD7CDD8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" y="1434465"/>
            <a:ext cx="4124960" cy="562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lnSpcReduction="10000"/>
          </a:bodyPr>
          <a:lstStyle xmlns:a="http://schemas.openxmlformats.org/drawingml/2006/main"/>
          <a:p xmlns:a="http://schemas.openxmlformats.org/drawingml/2006/main">
            <a:pPr marL="285750" indent="-285750" algn="l">
              <a:buFont typeface="Wingdings"/>
              <a:buChar char="Ø"/>
              <a:defRPr sz="1500" b="1">
                <a:solidFill>
                  <a:srgbClr val="1674B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674B8"/>
                </a:solidFill>
                <a:latin typeface="微软雅黑"/>
                <a:ea typeface="微软雅黑"/>
                <a:cs typeface="微软雅黑"/>
              </a:rPr>
              <a:t>AI</a:t>
            </a:r>
            <a:r>
              <a:rPr sz="1500" b="1">
                <a:solidFill>
                  <a:srgbClr val="1674B8"/>
                </a:solidFill>
                <a:latin typeface="微软雅黑"/>
                <a:ea typeface="微软雅黑"/>
                <a:cs typeface="微软雅黑"/>
              </a:rPr>
              <a:t>辅助板架创建</a:t>
            </a:r>
            <a:r>
              <a:rPr sz="1500" b="1">
                <a:solidFill>
                  <a:srgbClr val="1674B8"/>
                </a:solidFill>
                <a:latin typeface="微软雅黑"/>
                <a:ea typeface="微软雅黑"/>
                <a:cs typeface="微软雅黑"/>
              </a:rPr>
              <a:t> —— </a:t>
            </a:r>
            <a:r>
              <a:rPr sz="1500" b="1">
                <a:solidFill>
                  <a:srgbClr val="1674B8"/>
                </a:solidFill>
                <a:latin typeface="微软雅黑"/>
                <a:ea typeface="微软雅黑"/>
                <a:cs typeface="微软雅黑"/>
              </a:rPr>
              <a:t>设计员主动输入</a:t>
            </a:r>
            <a:r>
              <a:rPr sz="1500" b="1">
                <a:solidFill>
                  <a:srgbClr val="1674B8"/>
                </a:solidFill>
                <a:latin typeface="微软雅黑"/>
                <a:ea typeface="微软雅黑"/>
                <a:cs typeface="微软雅黑"/>
              </a:rPr>
              <a:t>命令</a:t>
            </a:r>
            <a:endParaRPr sz="1500" b="1">
              <a:solidFill>
                <a:srgbClr val="1674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27C995AA-9C7A-44CC-8905-F668A7CE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1997075"/>
            <a:ext cx="2571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4FA"/>
          </a:solidFill>
          <a:ln xmlns:a="http://schemas.openxmlformats.org/drawingml/2006/main" w="11430">
            <a:solidFill>
              <a:srgbClr val="1674B8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539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05394"/>
                </a:solidFill>
                <a:latin typeface="微软雅黑"/>
                <a:ea typeface="微软雅黑"/>
                <a:cs typeface="微软雅黑"/>
              </a:rPr>
              <a:t>设计人员主动提出</a:t>
            </a:r>
            <a:endParaRPr sz="1350" b="1">
              <a:solidFill>
                <a:srgbClr val="005394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350" b="1">
                <a:solidFill>
                  <a:srgbClr val="00539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05394"/>
                </a:solidFill>
                <a:latin typeface="微软雅黑"/>
                <a:ea typeface="微软雅黑"/>
                <a:cs typeface="微软雅黑"/>
              </a:rPr>
              <a:t>板架创建需求</a:t>
            </a:r>
            <a:endParaRPr sz="1350" b="1">
              <a:solidFill>
                <a:srgbClr val="00539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E0CB88F4-55F8-4612-AD9B-3DCE9BDE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1997075"/>
            <a:ext cx="23336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4FA"/>
          </a:solidFill>
          <a:ln xmlns:a="http://schemas.openxmlformats.org/drawingml/2006/main" w="11430">
            <a:solidFill>
              <a:srgbClr val="1674B8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05394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005394"/>
                </a:solidFill>
                <a:latin typeface="微软雅黑"/>
                <a:ea typeface="微软雅黑"/>
                <a:cs typeface="微软雅黑"/>
              </a:rPr>
              <a:t>形成板架请求</a:t>
            </a:r>
            <a:endParaRPr sz="1425" b="1">
              <a:solidFill>
                <a:srgbClr val="005394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59" name="直接箭头连接符 40"/>
          <p:cNvCxnSpPr/>
          <p:nvPr/>
        </p:nvCxnSpPr>
        <p:spPr>
          <a:xfrm xmlns:a="http://schemas.openxmlformats.org/drawingml/2006/main" flipH="1">
            <a:off x="4309110" y="237299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74B8"/>
            </a:solidFill>
            <a:prstDash val="solid"/>
            <a:headEnd type="triangle" w="sm" len="sm"/>
          </a:ln>
        </p:spPr>
      </p:cxn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5C392E96-9117-4CCC-96D9-EDD9A0D2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711450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90" b="0">
                <a:solidFill>
                  <a:srgbClr val="16345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6345F"/>
                </a:solidFill>
                <a:latin typeface="微软雅黑"/>
                <a:ea typeface="微软雅黑"/>
                <a:cs typeface="微软雅黑"/>
              </a:rPr>
              <a:t>定位面、厚度、材料和边界</a:t>
            </a:r>
            <a:endParaRPr sz="1200" b="1">
              <a:solidFill>
                <a:srgbClr val="1634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CD94283-2EFD-45D1-9576-ABD56148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" y="3232785"/>
            <a:ext cx="600837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lnSpcReduction="10000"/>
          </a:bodyPr>
          <a:lstStyle xmlns:a="http://schemas.openxmlformats.org/drawingml/2006/main"/>
          <a:p xmlns:a="http://schemas.openxmlformats.org/drawingml/2006/main">
            <a:pPr marL="285750" lvl="0" indent="-285750" algn="l">
              <a:buClrTx/>
              <a:buSzTx/>
              <a:buFont typeface="Wingdings"/>
              <a:buChar char="Ø"/>
              <a:defRPr sz="1500" b="1">
                <a:solidFill>
                  <a:srgbClr val="1674B8"/>
                </a:solidFill>
                <a:latin typeface="微软雅黑"/>
                <a:ea typeface="微软雅黑"/>
                <a:cs typeface="微软雅黑"/>
              </a:defRPr>
            </a:pPr>
            <a:r>
              <a:t>AI</a:t>
            </a:r>
            <a:r>
              <a:t>决策生成板架创建</a:t>
            </a:r>
            <a:r>
              <a:t>/</a:t>
            </a:r>
            <a:r>
              <a:t>更新清单</a:t>
            </a:r>
            <a:r>
              <a:t> —— </a:t>
            </a:r>
            <a:r>
              <a:t>错误治理方案自动生成 </a:t>
            </a:r>
            <a:endParaRPr/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09747A90-8C8D-46FE-A88E-89BA4027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" y="4114800"/>
            <a:ext cx="15716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4FA"/>
          </a:solidFill>
          <a:ln xmlns:a="http://schemas.openxmlformats.org/drawingml/2006/main" w="11430">
            <a:solidFill>
              <a:srgbClr val="1674B8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  <a:defRPr sz="1350" b="1">
                <a:solidFill>
                  <a:srgbClr val="005394"/>
                </a:solidFill>
                <a:latin typeface="微软雅黑"/>
                <a:ea typeface="微软雅黑"/>
                <a:cs typeface="微软雅黑"/>
              </a:defRPr>
            </a:pPr>
            <a:r>
              <a:t>CAD发现</a:t>
            </a:r>
            <a:endParaRPr/>
          </a:p>
          <a:p xmlns:a="http://schemas.openxmlformats.org/drawingml/2006/main">
            <a:pPr lvl="0" algn="ctr">
              <a:buClrTx/>
              <a:buSzTx/>
              <a:buFontTx/>
              <a:buNone/>
              <a:defRPr sz="1350" b="1">
                <a:solidFill>
                  <a:srgbClr val="005394"/>
                </a:solidFill>
                <a:latin typeface="微软雅黑"/>
                <a:ea typeface="微软雅黑"/>
                <a:cs typeface="微软雅黑"/>
              </a:defRPr>
            </a:pPr>
            <a:r>
              <a:t>模型错误</a:t>
            </a:r>
            <a:endParaRPr/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EEAB61B6-1809-43E7-B5E7-FD6E3371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4114800"/>
            <a:ext cx="17621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4FA"/>
          </a:solidFill>
          <a:ln xmlns:a="http://schemas.openxmlformats.org/drawingml/2006/main" w="11430">
            <a:solidFill>
              <a:srgbClr val="1674B8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  <a:defRPr sz="1350" b="1">
                <a:solidFill>
                  <a:srgbClr val="005394"/>
                </a:solidFill>
                <a:latin typeface="微软雅黑"/>
                <a:ea typeface="微软雅黑"/>
                <a:cs typeface="微软雅黑"/>
              </a:defRPr>
            </a:pPr>
            <a:r>
              <a:t>分析错误和</a:t>
            </a:r>
            <a:endParaRPr/>
          </a:p>
          <a:p xmlns:a="http://schemas.openxmlformats.org/drawingml/2006/main">
            <a:pPr lvl="0" algn="ctr">
              <a:buClrTx/>
              <a:buSzTx/>
              <a:buFontTx/>
              <a:buNone/>
              <a:defRPr sz="1350" b="1">
                <a:solidFill>
                  <a:srgbClr val="005394"/>
                </a:solidFill>
                <a:latin typeface="微软雅黑"/>
                <a:ea typeface="微软雅黑"/>
                <a:cs typeface="微软雅黑"/>
              </a:defRPr>
            </a:pPr>
            <a:r>
              <a:t>受影响对象</a:t>
            </a:r>
            <a:endParaRPr/>
          </a:p>
        </p:txBody>
      </p:sp>
      <p:sp>
        <p:nvSpPr>
          <p:cNvPr id="14" name="菱形 13">
            <a:extLst xmlns:a="http://schemas.openxmlformats.org/drawingml/2006/main">
              <a:ext uri="{FF2B5EF4-FFF2-40B4-BE49-F238E27FC236}">
                <a16:creationId xmlns:a16="http://schemas.microsoft.com/office/drawing/2014/main" id="{8B8FB42F-A57A-44C2-9669-3FBBD94A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907790"/>
            <a:ext cx="2580005" cy="110045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AF4FA"/>
          </a:solidFill>
          <a:ln xmlns:a="http://schemas.openxmlformats.org/drawingml/2006/main" w="11430">
            <a:solidFill>
              <a:srgbClr val="1674B8"/>
            </a:solidFill>
            <a:prstDash val="solid"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  <a:defRPr sz="1350" b="1">
                <a:solidFill>
                  <a:srgbClr val="005394"/>
                </a:solidFill>
                <a:latin typeface="微软雅黑"/>
                <a:ea typeface="微软雅黑"/>
                <a:cs typeface="微软雅黑"/>
              </a:defRPr>
            </a:pPr>
            <a:r>
              <a:t>能否通过板架</a:t>
            </a:r>
            <a:endParaRPr/>
          </a:p>
          <a:p xmlns:a="http://schemas.openxmlformats.org/drawingml/2006/main">
            <a:pPr lvl="0" algn="ctr">
              <a:buClrTx/>
              <a:buSzTx/>
              <a:buFontTx/>
              <a:buNone/>
              <a:defRPr sz="1350" b="1">
                <a:solidFill>
                  <a:srgbClr val="005394"/>
                </a:solidFill>
                <a:latin typeface="微软雅黑"/>
                <a:ea typeface="微软雅黑"/>
                <a:cs typeface="微软雅黑"/>
              </a:defRPr>
            </a:pPr>
            <a:r>
              <a:t>更新或重建解决？</a:t>
            </a:r>
            <a:endParaRPr/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EEC2F135-5FB4-43FA-866A-31035B79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3170" y="4114800"/>
            <a:ext cx="16668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4FA"/>
          </a:solidFill>
          <a:ln xmlns:a="http://schemas.openxmlformats.org/drawingml/2006/main" w="11430">
            <a:solidFill>
              <a:srgbClr val="1674B8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  <a:defRPr sz="1350" b="1">
                <a:solidFill>
                  <a:srgbClr val="005394"/>
                </a:solidFill>
                <a:latin typeface="微软雅黑"/>
                <a:ea typeface="微软雅黑"/>
                <a:cs typeface="微软雅黑"/>
              </a:defRPr>
            </a:pPr>
            <a:r>
              <a:t>构建</a:t>
            </a:r>
            <a:r>
              <a:t>板架恢复任务</a:t>
            </a:r>
            <a:endParaRPr/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A27C4B54-1C2C-4BE5-8A89-4A94506E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6915" y="4114800"/>
            <a:ext cx="1714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4FA"/>
          </a:solidFill>
          <a:ln xmlns:a="http://schemas.openxmlformats.org/drawingml/2006/main" w="11430">
            <a:solidFill>
              <a:srgbClr val="1674B8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  <a:defRPr sz="1350" b="1">
                <a:solidFill>
                  <a:srgbClr val="005394"/>
                </a:solidFill>
                <a:latin typeface="微软雅黑"/>
                <a:ea typeface="微软雅黑"/>
                <a:cs typeface="微软雅黑"/>
              </a:defRPr>
            </a:pPr>
            <a:r>
              <a:t>转成板架请求</a:t>
            </a:r>
            <a:endParaRPr/>
          </a:p>
        </p:txBody>
      </p:sp>
      <p:cxnSp>
        <p:nvCxnSpPr>
          <p:cNvPr id="67" name="直接箭头连接符 48"/>
          <p:cNvCxnSpPr>
            <a:stCxn xmlns:a="http://schemas.openxmlformats.org/drawingml/2006/main" id="13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2451735" y="445770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674B8"/>
            </a:solidFill>
            <a:prstDash val="solid"/>
          </a:ln>
        </p:spPr>
      </p:cxnSp>
      <p:cxnSp>
        <p:nvCxnSpPr>
          <p:cNvPr id="68" name="直接箭头连接符 49"/>
          <p:cNvCxnSpPr>
            <a:stCxn xmlns:a="http://schemas.openxmlformats.org/drawingml/2006/main" id="14" idx="1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H="1" flipV="1">
            <a:off x="4642485" y="4457700"/>
            <a:ext cx="208915" cy="63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674B8"/>
            </a:solidFill>
            <a:prstDash val="solid"/>
          </a:ln>
        </p:spPr>
      </p:cxnSp>
      <p:cxnSp>
        <p:nvCxnSpPr>
          <p:cNvPr id="69" name="直接箭头连接符 50"/>
          <p:cNvCxnSpPr>
            <a:stCxn xmlns:a="http://schemas.openxmlformats.org/drawingml/2006/main" id="15" idx="1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H="1">
            <a:off x="7431405" y="4457700"/>
            <a:ext cx="151765" cy="63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674B8"/>
            </a:solidFill>
            <a:prstDash val="solid"/>
          </a:ln>
        </p:spPr>
      </p:cxnSp>
      <p:cxnSp>
        <p:nvCxnSpPr>
          <p:cNvPr id="70" name="直接箭头连接符 51"/>
          <p:cNvCxnSpPr>
            <a:stCxn xmlns:a="http://schemas.openxmlformats.org/drawingml/2006/main" id="16" idx="1"/>
            <a:endCxn xmlns:a="http://schemas.openxmlformats.org/drawingml/2006/main" id="15" idx="3"/>
          </p:cNvCxnSpPr>
          <p:nvPr/>
        </p:nvCxnSpPr>
        <p:spPr>
          <a:xfrm xmlns:a="http://schemas.openxmlformats.org/drawingml/2006/main" flipH="1">
            <a:off x="9250045" y="4457700"/>
            <a:ext cx="35687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674B8"/>
            </a:solidFill>
            <a:prstDash val="solid"/>
          </a:ln>
        </p:spPr>
      </p:cxn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A269E546-F4C5-45AB-AE61-FF111609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105" y="5565140"/>
            <a:ext cx="1714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CEEF0"/>
          </a:solidFill>
          <a:ln xmlns:a="http://schemas.openxmlformats.org/drawingml/2006/main" w="11430">
            <a:solidFill>
              <a:srgbClr val="B73746"/>
            </a:solidFill>
            <a:prstDash val="solid"/>
          </a:ln>
        </p:spPr>
        <p:txBody>
          <a:bodyPr xmlns:a="http://schemas.openxmlformats.org/drawingml/2006/main" anchor="ctr">
            <a:normAutofit fontScale="9526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B7374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B73746"/>
                </a:solidFill>
                <a:latin typeface="微软雅黑"/>
                <a:ea typeface="微软雅黑"/>
                <a:cs typeface="微软雅黑"/>
              </a:rPr>
              <a:t>不可以</a:t>
            </a:r>
            <a:endParaRPr sz="1200" b="1">
              <a:solidFill>
                <a:srgbClr val="B73746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200" b="1">
                <a:solidFill>
                  <a:srgbClr val="B7374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B73746"/>
                </a:solidFill>
                <a:latin typeface="微软雅黑"/>
                <a:ea typeface="微软雅黑"/>
                <a:cs typeface="微软雅黑"/>
              </a:rPr>
              <a:t>转设计人员或CAD研发</a:t>
            </a:r>
            <a:endParaRPr sz="1200" b="1">
              <a:solidFill>
                <a:srgbClr val="B7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下箭头 21">
            <a:extLst xmlns:a="http://schemas.openxmlformats.org/drawingml/2006/main">
              <a:ext uri="{FF2B5EF4-FFF2-40B4-BE49-F238E27FC236}">
                <a16:creationId xmlns:a16="http://schemas.microsoft.com/office/drawing/2014/main" id="{6ADE89E9-B06E-415A-8E08-D31E65AF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120" y="5175250"/>
            <a:ext cx="457200" cy="3619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73746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92772486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06B6DDD-D555-489A-BE9A-3AB163FB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765" y="382905"/>
            <a:ext cx="11158630" cy="5156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>
                <a:solidFill>
                  <a:schemeClr val="accent5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错误治理方案</a:t>
            </a:r>
            <a:r>
              <a:rPr sz="2800" b="1">
                <a:solidFill>
                  <a:schemeClr val="accent5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 —— </a:t>
            </a:r>
            <a:r>
              <a:rPr sz="2800" b="1">
                <a:solidFill>
                  <a:schemeClr val="accent5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CAD发现模型错误</a:t>
            </a:r>
            <a:endParaRPr sz="2800" b="1">
              <a:solidFill>
                <a:schemeClr val="accent5">
                  <a:lumMod val="5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1789DF68-12FD-45F8-8E79-55D260A6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2995" y="6492875"/>
            <a:ext cx="553967" cy="365125"/>
          </a:xfrm>
        </p:spPr>
        <p:txBody>
          <a:bodyPr xmlns:a="http://schemas.openxmlformats.org/drawingml/2006/main"/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endParaRPr sz="1600">
              <a:solidFill>
                <a:schemeClr val="bg1"/>
              </a:solidFill>
            </a:endParaRPr>
          </a:p>
        </p:txBody>
      </p:sp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A525279C-E75A-440B-921B-34103379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0515" y="1020445"/>
            <a:ext cx="21431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5E8"/>
          </a:solidFill>
          <a:ln xmlns:a="http://schemas.openxmlformats.org/drawingml/2006/main" w="13335">
            <a:solidFill>
              <a:srgbClr val="C56A00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C56A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6A00"/>
                </a:solidFill>
                <a:latin typeface="微软雅黑"/>
                <a:ea typeface="微软雅黑"/>
                <a:cs typeface="微软雅黑"/>
              </a:rPr>
              <a:t>01 读取</a:t>
            </a:r>
            <a:r>
              <a:t>错误对象</a:t>
            </a:r>
            <a:endParaRPr b="1">
              <a:solidFill>
                <a:srgbClr val="C56A0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275" b="1">
                <a:solidFill>
                  <a:srgbClr val="C56A00"/>
                </a:solidFill>
                <a:latin typeface="微软雅黑"/>
                <a:ea typeface="微软雅黑"/>
                <a:cs typeface="微软雅黑"/>
              </a:defRPr>
            </a:pPr>
            <a:endParaRPr sz="1275"/>
          </a:p>
          <a:p xmlns:a="http://schemas.openxmlformats.org/drawingml/2006/main">
            <a:pPr algn="ctr">
              <a:buNone/>
              <a:defRPr sz="1275" b="1">
                <a:solidFill>
                  <a:srgbClr val="C56A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6A00"/>
                </a:solidFill>
                <a:latin typeface="微软雅黑"/>
                <a:ea typeface="微软雅黑"/>
                <a:cs typeface="微软雅黑"/>
              </a:rPr>
              <a:t>Marine</a:t>
            </a:r>
            <a:r>
              <a:rPr sz="1275" b="1">
                <a:solidFill>
                  <a:srgbClr val="C56A00"/>
                </a:solidFill>
                <a:latin typeface="微软雅黑"/>
                <a:ea typeface="微软雅黑"/>
                <a:cs typeface="微软雅黑"/>
              </a:rPr>
              <a:t>提供</a:t>
            </a:r>
            <a:r>
              <a:rPr sz="1275" b="1">
                <a:solidFill>
                  <a:srgbClr val="C56A00"/>
                </a:solidFill>
                <a:latin typeface="微软雅黑"/>
                <a:ea typeface="微软雅黑"/>
                <a:cs typeface="微软雅黑"/>
              </a:rPr>
              <a:t>工程ID和版本</a:t>
            </a:r>
            <a:endParaRPr sz="1275" b="1">
              <a:solidFill>
                <a:srgbClr val="C56A0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275" b="1">
                <a:solidFill>
                  <a:srgbClr val="C56A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6A00"/>
                </a:solidFill>
                <a:latin typeface="微软雅黑"/>
                <a:ea typeface="微软雅黑"/>
                <a:cs typeface="微软雅黑"/>
              </a:rPr>
              <a:t>版本升级记录</a:t>
            </a:r>
            <a:r>
              <a:rPr sz="1275" b="1">
                <a:solidFill>
                  <a:srgbClr val="C56A00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t>错误</a:t>
            </a:r>
            <a:r>
              <a:t>对象ID、对象类型</a:t>
            </a:r>
            <a:endParaRPr b="1">
              <a:solidFill>
                <a:srgbClr val="C56A0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275" b="1">
                <a:solidFill>
                  <a:srgbClr val="C56A00"/>
                </a:solidFill>
                <a:latin typeface="微软雅黑"/>
                <a:ea typeface="微软雅黑"/>
                <a:cs typeface="微软雅黑"/>
              </a:defRPr>
            </a:pPr>
            <a:endParaRPr sz="1275" b="1">
              <a:solidFill>
                <a:srgbClr val="C56A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9B451134-2B30-4309-AD02-05BE0A4D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770" y="280416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13335">
            <a:solidFill>
              <a:srgbClr val="18885F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8885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8885F"/>
                </a:solidFill>
                <a:latin typeface="微软雅黑"/>
                <a:ea typeface="微软雅黑"/>
                <a:cs typeface="微软雅黑"/>
              </a:rPr>
              <a:t>0</a:t>
            </a:r>
            <a:r>
              <a:rPr sz="1275" b="1">
                <a:solidFill>
                  <a:srgbClr val="18885F"/>
                </a:solidFill>
                <a:latin typeface="微软雅黑"/>
                <a:ea typeface="微软雅黑"/>
                <a:cs typeface="微软雅黑"/>
              </a:rPr>
              <a:t>2</a:t>
            </a:r>
            <a:r>
              <a:rPr sz="1275" b="1">
                <a:solidFill>
                  <a:srgbClr val="18885F"/>
                </a:solidFill>
                <a:latin typeface="微软雅黑"/>
                <a:ea typeface="微软雅黑"/>
                <a:cs typeface="微软雅黑"/>
              </a:rPr>
              <a:t> 读取CAD诊断信息</a:t>
            </a:r>
            <a:endParaRPr sz="1275" b="1">
              <a:solidFill>
                <a:srgbClr val="18885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endParaRPr sz="1275"/>
          </a:p>
          <a:p xmlns:a="http://schemas.openxmlformats.org/drawingml/2006/main">
            <a:pPr algn="ctr">
              <a:buNone/>
              <a:defRPr sz="1275" b="1">
                <a:solidFill>
                  <a:srgbClr val="18885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8885F"/>
                </a:solidFill>
                <a:latin typeface="微软雅黑"/>
                <a:ea typeface="微软雅黑"/>
                <a:cs typeface="微软雅黑"/>
              </a:rPr>
              <a:t>建议操作、预检结果</a:t>
            </a:r>
            <a:endParaRPr sz="1275" b="1">
              <a:solidFill>
                <a:srgbClr val="18885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275" b="1">
                <a:solidFill>
                  <a:srgbClr val="18885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8885F"/>
                </a:solidFill>
                <a:latin typeface="微软雅黑"/>
                <a:ea typeface="微软雅黑"/>
                <a:cs typeface="微软雅黑"/>
              </a:rPr>
              <a:t>候选对象和设计影响</a:t>
            </a:r>
            <a:endParaRPr sz="1275" b="1">
              <a:solidFill>
                <a:srgbClr val="1888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868C22BE-7C56-4983-82AB-58D9D82A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520" y="4587875"/>
            <a:ext cx="2476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5FC"/>
          </a:solidFill>
          <a:ln xmlns:a="http://schemas.openxmlformats.org/drawingml/2006/main" w="13335">
            <a:solidFill>
              <a:srgbClr val="0877C9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3B70"/>
                </a:solidFill>
                <a:latin typeface="微软雅黑"/>
                <a:ea typeface="微软雅黑"/>
                <a:cs typeface="微软雅黑"/>
              </a:rPr>
              <a:t>0</a:t>
            </a:r>
            <a:r>
              <a:rPr sz="1275" b="1">
                <a:solidFill>
                  <a:srgbClr val="173B70"/>
                </a:solidFill>
                <a:latin typeface="微软雅黑"/>
                <a:ea typeface="微软雅黑"/>
                <a:cs typeface="微软雅黑"/>
              </a:rPr>
              <a:t>3 </a:t>
            </a:r>
            <a:r>
              <a:rPr sz="1275" b="1">
                <a:solidFill>
                  <a:srgbClr val="173B70"/>
                </a:solidFill>
                <a:latin typeface="微软雅黑"/>
                <a:ea typeface="微软雅黑"/>
                <a:cs typeface="微软雅黑"/>
              </a:rPr>
              <a:t>检查数据是否可用</a:t>
            </a:r>
            <a:endParaRPr sz="1275" b="1">
              <a:solidFill>
                <a:srgbClr val="173B7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endParaRPr sz="1275"/>
          </a:p>
          <a:p xmlns:a="http://schemas.openxmlformats.org/drawingml/2006/main">
            <a:pPr algn="ctr">
              <a:buNone/>
              <a:defRPr sz="1275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3B70"/>
                </a:solidFill>
                <a:latin typeface="微软雅黑"/>
                <a:ea typeface="微软雅黑"/>
                <a:cs typeface="微软雅黑"/>
              </a:rPr>
              <a:t>对象ID不能重复</a:t>
            </a:r>
            <a:endParaRPr sz="1275" b="1">
              <a:solidFill>
                <a:srgbClr val="173B7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275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3B70"/>
                </a:solidFill>
                <a:latin typeface="微软雅黑"/>
                <a:ea typeface="微软雅黑"/>
                <a:cs typeface="微软雅黑"/>
              </a:rPr>
              <a:t>诊断对象必须存在</a:t>
            </a:r>
            <a:endParaRPr sz="1275" b="1">
              <a:solidFill>
                <a:srgbClr val="173B70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29" name="直接箭头连接符 21"/>
          <p:cNvCxnSpPr>
            <a:stCxn xmlns:a="http://schemas.openxmlformats.org/drawingml/2006/main" id="8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2652395" y="2449195"/>
            <a:ext cx="0" cy="35496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56A00"/>
            </a:solidFill>
            <a:prstDash val="solid"/>
            <a:headEnd type="triangle" w="sm" len="sm"/>
          </a:ln>
        </p:spPr>
      </p:cxn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36E46EC3-D468-4EA2-B0A0-76449E6B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5320" y="5671820"/>
            <a:ext cx="5339080" cy="6477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5FC"/>
          </a:solidFill>
          <a:ln xmlns:a="http://schemas.openxmlformats.org/drawingml/2006/main" w="17145">
            <a:solidFill>
              <a:srgbClr val="0877C9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73B70"/>
                </a:solidFill>
                <a:latin typeface="微软雅黑"/>
                <a:ea typeface="微软雅黑"/>
                <a:cs typeface="微软雅黑"/>
              </a:rPr>
              <a:t>输出：结构化、可追溯的错误清单</a:t>
            </a:r>
            <a:endParaRPr sz="1425" b="1">
              <a:solidFill>
                <a:srgbClr val="173B7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425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73B70"/>
                </a:solidFill>
                <a:latin typeface="微软雅黑"/>
                <a:ea typeface="微软雅黑"/>
                <a:cs typeface="微软雅黑"/>
              </a:rPr>
              <a:t>下一步可按对象关系分析主要问题和受影响对象</a:t>
            </a:r>
            <a:endParaRPr sz="1425" b="1">
              <a:solidFill>
                <a:srgbClr val="173B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7E606740-9DAE-40EC-8401-5EF5132B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8240" y="868045"/>
            <a:ext cx="4772025" cy="3803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B73746"/>
                </a:solidFill>
                <a:latin typeface="微软雅黑"/>
                <a:ea typeface="微软雅黑"/>
                <a:cs typeface="微软雅黑"/>
              </a:rPr>
              <a:t>错误信息：</a:t>
            </a:r>
            <a:r>
              <a:rPr sz="1600" b="1">
                <a:solidFill>
                  <a:srgbClr val="B73746"/>
                </a:solidFill>
                <a:latin typeface="微软雅黑"/>
                <a:ea typeface="微软雅黑"/>
                <a:cs typeface="微软雅黑"/>
              </a:rPr>
              <a:t>demo_model_errors.json</a:t>
            </a:r>
            <a:endParaRPr sz="1600" b="1">
              <a:solidFill>
                <a:srgbClr val="B73746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32" name="图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966bd5b8c345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68240" y="1352550"/>
            <a:ext cx="6873240" cy="4182110"/>
          </a:xfrm>
          <a:prstGeom xmlns:a="http://schemas.openxmlformats.org/drawingml/2006/main" prst="rect">
            <a:avLst/>
          </a:prstGeom>
        </p:spPr>
      </p:pic>
      <p:cxnSp>
        <p:nvCxnSpPr>
          <p:cNvPr id="33" name="直接箭头连接符 10"/>
          <p:cNvCxnSpPr/>
          <p:nvPr/>
        </p:nvCxnSpPr>
        <p:spPr>
          <a:xfrm xmlns:a="http://schemas.openxmlformats.org/drawingml/2006/main" flipV="1">
            <a:off x="2652395" y="4232910"/>
            <a:ext cx="0" cy="35496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56A00"/>
            </a:solidFill>
            <a:prstDash val="solid"/>
            <a:headEnd type="triangle" w="sm" len="sm"/>
          </a:ln>
        </p:spPr>
      </p:cxnSp>
    </p:spTree>
    <p:extLst>
      <p:ext uri="{BB962C8B-B14F-4D97-AF65-F5344CB8AC3E}">
        <p14:creationId xmlns:p14="http://schemas.microsoft.com/office/powerpoint/2010/main" val="50511865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ADE713D-9D35-4AAE-A8A3-22838DFD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765" y="382905"/>
            <a:ext cx="11158630" cy="5156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>
                <a:solidFill>
                  <a:schemeClr val="accent5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2.2.2 错误原因归类与受影响对象合并</a:t>
            </a:r>
            <a:endParaRPr sz="2800" b="1">
              <a:solidFill>
                <a:schemeClr val="accent5">
                  <a:lumMod val="5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BC46CE09-DFF7-4958-9003-8FDBF8EA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2995" y="6492875"/>
            <a:ext cx="553967" cy="365125"/>
          </a:xfrm>
        </p:spPr>
        <p:txBody>
          <a:bodyPr xmlns:a="http://schemas.openxmlformats.org/drawingml/2006/main"/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endParaRPr sz="1600">
              <a:solidFill>
                <a:schemeClr val="bg1"/>
              </a:solidFill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7F68778-38F0-44D4-9D35-AF2F830F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952500"/>
            <a:ext cx="10287000" cy="304800"/>
          </a:xfrm>
          <a:prstGeom xmlns:a="http://schemas.openxmlformats.org/drawingml/2006/main" prst="rect">
            <a:avLst/>
          </a:prstGeom>
          <a:ln xmlns:a="http://schemas.openxmlformats.org/drawingml/2006/main" w="19050">
            <a:noFill/>
            <a:prstDash val="solid"/>
            <a:headEnd type="triangle" w="sm" len="sm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877C9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877C9"/>
                </a:solidFill>
                <a:latin typeface="微软雅黑"/>
                <a:ea typeface="微软雅黑"/>
                <a:cs typeface="微软雅黑"/>
              </a:rPr>
              <a:t>错误码决定错误类别，对象关系决定影响范围，Agent不生成或修改工程事实</a:t>
            </a:r>
            <a:endParaRPr sz="1600" b="1">
              <a:solidFill>
                <a:srgbClr val="0877C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3BAAEF9A-E79A-4469-B008-3D15CF42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28750"/>
            <a:ext cx="195262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AF5FC"/>
          </a:solidFill>
          <a:ln xmlns:a="http://schemas.openxmlformats.org/drawingml/2006/main" w="13335">
            <a:solidFill>
              <a:srgbClr val="0877C9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  <a:defRPr sz="1165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t>读取CAD错误码</a:t>
            </a:r>
            <a:endParaRPr/>
          </a:p>
          <a:p xmlns:a="http://schemas.openxmlformats.org/drawingml/2006/main">
            <a:pPr lvl="0" algn="ctr">
              <a:buClrTx/>
              <a:buSzTx/>
              <a:buFontTx/>
              <a:buNone/>
              <a:defRPr sz="1165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t>对象ID和上级对象ID</a:t>
            </a:r>
            <a:endParaRPr/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AEB35B1F-457C-43F8-9AC3-8C20577D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428750"/>
            <a:ext cx="204787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AF5FC"/>
          </a:solidFill>
          <a:ln xmlns:a="http://schemas.openxmlformats.org/drawingml/2006/main" w="13335">
            <a:solidFill>
              <a:srgbClr val="0877C9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5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173B70"/>
                </a:solidFill>
                <a:latin typeface="微软雅黑"/>
                <a:ea typeface="微软雅黑"/>
                <a:cs typeface="微软雅黑"/>
              </a:rPr>
              <a:t>查找最上层错误对象</a:t>
            </a:r>
            <a:endParaRPr sz="1165" b="1">
              <a:solidFill>
                <a:srgbClr val="173B7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165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173B70"/>
                </a:solidFill>
                <a:latin typeface="微软雅黑"/>
                <a:ea typeface="微软雅黑"/>
                <a:cs typeface="微软雅黑"/>
              </a:rPr>
              <a:t>确定主要问题从哪里开始</a:t>
            </a:r>
            <a:endParaRPr sz="1165" b="1">
              <a:solidFill>
                <a:srgbClr val="173B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9686C386-F9F2-41C4-A56C-4C97F7046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428750"/>
            <a:ext cx="204787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AF5FC"/>
          </a:solidFill>
          <a:ln xmlns:a="http://schemas.openxmlformats.org/drawingml/2006/main" w="13335">
            <a:solidFill>
              <a:srgbClr val="0877C9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5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173B70"/>
                </a:solidFill>
                <a:latin typeface="微软雅黑"/>
                <a:ea typeface="微软雅黑"/>
                <a:cs typeface="微软雅黑"/>
              </a:rPr>
              <a:t>查询错误原因映射表</a:t>
            </a:r>
            <a:endParaRPr sz="1165" b="1">
              <a:solidFill>
                <a:srgbClr val="173B7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165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173B70"/>
                </a:solidFill>
                <a:latin typeface="微软雅黑"/>
                <a:ea typeface="微软雅黑"/>
                <a:cs typeface="微软雅黑"/>
              </a:rPr>
              <a:t>错误码转换为统一原因</a:t>
            </a:r>
            <a:endParaRPr sz="1165" b="1">
              <a:solidFill>
                <a:srgbClr val="173B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EAD8A5C5-DCA2-41E9-84F5-9A12481D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428750"/>
            <a:ext cx="195262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AF5FC"/>
          </a:solidFill>
          <a:ln xmlns:a="http://schemas.openxmlformats.org/drawingml/2006/main" w="13335">
            <a:solidFill>
              <a:srgbClr val="0877C9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  <a:defRPr sz="1165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FF0000"/>
                </a:solidFill>
              </a:rPr>
              <a:t>合并相同错误原因</a:t>
            </a:r>
            <a:endParaRPr>
              <a:solidFill>
                <a:srgbClr val="FF0000"/>
              </a:solidFill>
            </a:endParaRPr>
          </a:p>
          <a:p xmlns:a="http://schemas.openxmlformats.org/drawingml/2006/main">
            <a:pPr lvl="0" algn="ctr">
              <a:buClrTx/>
              <a:buSzTx/>
              <a:buFontTx/>
              <a:buNone/>
              <a:defRPr sz="1165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t>形成Group</a:t>
            </a:r>
            <a:r>
              <a:t>s</a:t>
            </a:r>
            <a:endParaRPr/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7A32349E-139A-4BD6-843D-BFF9C5A6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428750"/>
            <a:ext cx="2000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AF5FC"/>
          </a:solidFill>
          <a:ln xmlns:a="http://schemas.openxmlformats.org/drawingml/2006/main" w="13335">
            <a:solidFill>
              <a:srgbClr val="0877C9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73B70"/>
                </a:solidFill>
                <a:latin typeface="微软雅黑"/>
                <a:ea typeface="微软雅黑"/>
                <a:cs typeface="微软雅黑"/>
              </a:rPr>
              <a:t>补齐受影响对象</a:t>
            </a:r>
            <a:endParaRPr sz="1125" b="1">
              <a:solidFill>
                <a:srgbClr val="173B7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125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73B70"/>
                </a:solidFill>
                <a:latin typeface="微软雅黑"/>
                <a:ea typeface="微软雅黑"/>
                <a:cs typeface="微软雅黑"/>
              </a:rPr>
              <a:t>关联CAD诊断和候选操作</a:t>
            </a:r>
            <a:endParaRPr sz="1125" b="1">
              <a:solidFill>
                <a:srgbClr val="173B70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39" name="直接箭头连接符 25"/>
          <p:cNvCxnSpPr>
            <a:stCxn xmlns:a="http://schemas.openxmlformats.org/drawingml/2006/main" id="7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2381250" y="180022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7C9"/>
            </a:solidFill>
            <a:prstDash val="solid"/>
            <a:headEnd type="triangle" w="sm" len="sm"/>
          </a:ln>
        </p:spPr>
      </p:cxnSp>
      <p:cxnSp>
        <p:nvCxnSpPr>
          <p:cNvPr id="40" name="直接箭头连接符 26"/>
          <p:cNvCxnSpPr>
            <a:stCxn xmlns:a="http://schemas.openxmlformats.org/drawingml/2006/main" id="8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4762500" y="180022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7C9"/>
            </a:solidFill>
            <a:prstDash val="solid"/>
            <a:headEnd type="triangle" w="sm" len="sm"/>
          </a:ln>
        </p:spPr>
      </p:cxnSp>
      <p:cxnSp>
        <p:nvCxnSpPr>
          <p:cNvPr id="41" name="直接箭头连接符 27"/>
          <p:cNvCxnSpPr>
            <a:stCxn xmlns:a="http://schemas.openxmlformats.org/drawingml/2006/main" id="9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7143750" y="180022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7C9"/>
            </a:solidFill>
            <a:prstDash val="solid"/>
            <a:headEnd type="triangle" w="sm" len="sm"/>
          </a:ln>
        </p:spPr>
      </p:cxnSp>
      <p:cxnSp>
        <p:nvCxnSpPr>
          <p:cNvPr id="42" name="直接箭头连接符 28"/>
          <p:cNvCxnSpPr>
            <a:stCxn xmlns:a="http://schemas.openxmlformats.org/drawingml/2006/main" id="10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9429750" y="180022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7C9"/>
            </a:solidFill>
            <a:prstDash val="solid"/>
            <a:headEnd type="triangle" w="sm" len="sm"/>
          </a:ln>
        </p:spPr>
      </p:cxnSp>
      <p:graphicFrame>
        <p:nvGraphicFramePr>
          <p:cNvPr id="43" name="表格 29"/>
          <p:cNvGraphicFramePr/>
          <p:nvPr/>
        </p:nvGraphicFramePr>
        <p:xfrm>
          <a:off xmlns:a="http://schemas.openxmlformats.org/drawingml/2006/main" x="428625" y="2571750"/>
          <a:ext xmlns:a="http://schemas.openxmlformats.org/drawingml/2006/main" cx="11334750" cy="30861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143000"/>
                <a:gridCol w="3238500"/>
                <a:gridCol w="3238500"/>
                <a:gridCol w="3714750"/>
              </a:tblGrid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问题组</a:t>
                      </a:r>
                      <a:endParaRPr sz="112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7150" marR="57150" marT="38100" marB="38100" anchor="ctr">
                    <a:solidFill>
                      <a:srgbClr val="173B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来源错误码</a:t>
                      </a:r>
                      <a:endParaRPr sz="112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7150" marR="57150" marT="38100" marB="38100" anchor="ctr">
                    <a:solidFill>
                      <a:srgbClr val="173B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统一后的错误原因</a:t>
                      </a:r>
                      <a:endParaRPr sz="112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7150" marR="57150" marT="38100" marB="38100" anchor="ctr">
                    <a:solidFill>
                      <a:srgbClr val="173B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错误原因如何得到</a:t>
                      </a:r>
                      <a:endParaRPr sz="112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7150" marR="57150" marT="38100" marB="38100" anchor="ctr">
                    <a:solidFill>
                      <a:srgbClr val="173B7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Group A</a:t>
                      </a:r>
                      <a:endParaRPr sz="1050" b="1">
                        <a:solidFill>
                          <a:schemeClr val="tx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66675" marR="66675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5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BOUNDARY_DATA_</a:t>
                      </a:r>
                      <a:endParaRPr sz="1015">
                        <a:solidFill>
                          <a:srgbClr val="3341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ctr">
                        <a:buNone/>
                      </a:pPr>
                      <a:r>
                        <a:rPr sz="1015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MIGRATION_FAILED</a:t>
                      </a:r>
                      <a:endParaRPr sz="1015">
                        <a:solidFill>
                          <a:srgbClr val="3341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66675" marR="66675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5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版本升级时板架边界数据</a:t>
                      </a:r>
                      <a:endParaRPr sz="1015">
                        <a:solidFill>
                          <a:srgbClr val="3341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ctr">
                        <a:buNone/>
                      </a:pPr>
                      <a:r>
                        <a:rPr sz="1015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没有完整转换</a:t>
                      </a:r>
                      <a:endParaRPr sz="1015">
                        <a:solidFill>
                          <a:srgbClr val="3341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66675" marR="66675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5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错误码直接映射</a:t>
                      </a:r>
                      <a:endParaRPr sz="1015">
                        <a:solidFill>
                          <a:srgbClr val="3341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ctr">
                        <a:buNone/>
                      </a:pPr>
                      <a:r>
                        <a:rPr sz="1015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版本升级记录补充说明</a:t>
                      </a:r>
                      <a:endParaRPr sz="1015">
                        <a:solidFill>
                          <a:srgbClr val="3341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66675" marR="66675" marT="38100" marB="38100" anchor="ctr"/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Group B</a:t>
                      </a:r>
                      <a:endParaRPr sz="1050" b="1">
                        <a:solidFill>
                          <a:schemeClr val="tx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66675" marR="66675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5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RECOMPUTE_REQUIRED</a:t>
                      </a:r>
                      <a:endParaRPr sz="1015">
                        <a:solidFill>
                          <a:srgbClr val="3341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66675" marR="66675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5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父板架需要重新计算</a:t>
                      </a:r>
                      <a:endParaRPr sz="1015">
                        <a:solidFill>
                          <a:srgbClr val="3341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66675" marR="66675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5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错误码直接映射</a:t>
                      </a:r>
                      <a:endParaRPr sz="1015">
                        <a:solidFill>
                          <a:srgbClr val="3341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66675" marR="66675" marT="38100" marB="38100" anchor="ctr"/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Group C</a:t>
                      </a:r>
                      <a:endParaRPr sz="1050" b="1">
                        <a:solidFill>
                          <a:schemeClr val="tx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66675" marR="66675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5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PANEL_NORMAL_CHANGED</a:t>
                      </a:r>
                      <a:endParaRPr sz="1015">
                        <a:solidFill>
                          <a:srgbClr val="3341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ctr">
                        <a:buNone/>
                      </a:pPr>
                      <a:r>
                        <a:rPr sz="1015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STIFFENER_MOUNT_FACE_CHANGED</a:t>
                      </a:r>
                      <a:endParaRPr sz="1015">
                        <a:solidFill>
                          <a:srgbClr val="3341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66675" marR="66675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5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支撑对象变化导致</a:t>
                      </a:r>
                      <a:endParaRPr sz="1015">
                        <a:solidFill>
                          <a:srgbClr val="3341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ctr">
                        <a:buNone/>
                      </a:pPr>
                      <a:r>
                        <a:rPr sz="1015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肘板边界失效</a:t>
                      </a:r>
                      <a:endParaRPr sz="1015">
                        <a:solidFill>
                          <a:srgbClr val="3341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66675" marR="66675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5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两个错误码映射到</a:t>
                      </a:r>
                      <a:endParaRPr sz="1015">
                        <a:solidFill>
                          <a:srgbClr val="3341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ctr">
                        <a:buNone/>
                      </a:pPr>
                      <a:r>
                        <a:rPr sz="1015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同一类工程问题</a:t>
                      </a:r>
                      <a:endParaRPr sz="1015">
                        <a:solidFill>
                          <a:srgbClr val="3341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66675" marR="66675" marT="38100" marB="38100" anchor="ctr"/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Group D</a:t>
                      </a:r>
                      <a:endParaRPr sz="1050" b="1">
                        <a:solidFill>
                          <a:schemeClr val="tx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66675" marR="66675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5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GEOMETRY_KERNEL_ERROR</a:t>
                      </a:r>
                      <a:endParaRPr sz="1015">
                        <a:solidFill>
                          <a:srgbClr val="3341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66675" marR="66675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5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CAD几何计算出现异常</a:t>
                      </a:r>
                      <a:endParaRPr sz="1015">
                        <a:solidFill>
                          <a:srgbClr val="3341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66675" marR="66675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5">
                          <a:solidFill>
                            <a:srgbClr val="33415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几何模块错误码直接映射</a:t>
                      </a:r>
                      <a:endParaRPr sz="1015">
                        <a:solidFill>
                          <a:srgbClr val="33415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66675" marR="66675" marT="38100" marB="38100" anchor="ctr"/>
                </a:tc>
              </a:tr>
            </a:tbl>
          </a:graphicData>
        </a:graphic>
      </p:graphicFrame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D54B543F-CB14-45E0-AB48-719C5EB1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4860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B7374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B73746"/>
                </a:solidFill>
                <a:latin typeface="微软雅黑"/>
                <a:ea typeface="微软雅黑"/>
                <a:cs typeface="微软雅黑"/>
              </a:rPr>
              <a:t>遇到未知错误码时停止自动归类并转人工确认，Agent不得猜测错误原因</a:t>
            </a:r>
            <a:endParaRPr sz="1125" b="1">
              <a:solidFill>
                <a:srgbClr val="B7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ED59BCD7-EF0B-4083-AC82-BFC52F2C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" y="5775325"/>
            <a:ext cx="1135888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微软雅黑"/>
                <a:ea typeface="微软雅黑"/>
                <a:cs typeface="微软雅黑"/>
              </a:rPr>
              <a:t>“</a:t>
            </a:r>
            <a:r>
              <a:rPr sz="1000">
                <a:latin typeface="微软雅黑"/>
                <a:ea typeface="微软雅黑"/>
                <a:cs typeface="微软雅黑"/>
              </a:rPr>
              <a:t>从错误清单识别级联影响</a:t>
            </a:r>
            <a:r>
              <a:rPr sz="1000">
                <a:latin typeface="微软雅黑"/>
                <a:ea typeface="微软雅黑"/>
                <a:cs typeface="微软雅黑"/>
              </a:rPr>
              <a:t>”</a:t>
            </a:r>
            <a:r>
              <a:rPr sz="1000">
                <a:latin typeface="微软雅黑"/>
                <a:ea typeface="微软雅黑"/>
                <a:cs typeface="微软雅黑"/>
              </a:rPr>
              <a:t>，但离真实</a:t>
            </a:r>
            <a:r>
              <a:rPr sz="1000">
                <a:latin typeface="微软雅黑"/>
                <a:ea typeface="微软雅黑"/>
                <a:cs typeface="微软雅黑"/>
              </a:rPr>
              <a:t>CAD</a:t>
            </a:r>
            <a:r>
              <a:rPr sz="1000">
                <a:latin typeface="微软雅黑"/>
                <a:ea typeface="微软雅黑"/>
                <a:cs typeface="微软雅黑"/>
              </a:rPr>
              <a:t>影响分析还有明显距离。真正接入</a:t>
            </a:r>
            <a:r>
              <a:rPr sz="1000">
                <a:latin typeface="微软雅黑"/>
                <a:ea typeface="微软雅黑"/>
                <a:cs typeface="微软雅黑"/>
              </a:rPr>
              <a:t>CAD</a:t>
            </a:r>
            <a:r>
              <a:rPr sz="1000">
                <a:latin typeface="微软雅黑"/>
                <a:ea typeface="微软雅黑"/>
                <a:cs typeface="微软雅黑"/>
              </a:rPr>
              <a:t>后，</a:t>
            </a:r>
            <a:r>
              <a:rPr sz="1000">
                <a:latin typeface="微软雅黑"/>
                <a:ea typeface="微软雅黑"/>
                <a:cs typeface="微软雅黑"/>
              </a:rPr>
              <a:t>parent_id </a:t>
            </a:r>
            <a:r>
              <a:rPr sz="1000">
                <a:latin typeface="微软雅黑"/>
                <a:ea typeface="微软雅黑"/>
                <a:cs typeface="微软雅黑"/>
              </a:rPr>
              <a:t>应由</a:t>
            </a:r>
            <a:r>
              <a:rPr sz="1000">
                <a:latin typeface="微软雅黑"/>
                <a:ea typeface="微软雅黑"/>
                <a:cs typeface="微软雅黑"/>
              </a:rPr>
              <a:t>Provider</a:t>
            </a:r>
            <a:r>
              <a:rPr sz="1000">
                <a:latin typeface="微软雅黑"/>
                <a:ea typeface="微软雅黑"/>
                <a:cs typeface="微软雅黑"/>
              </a:rPr>
              <a:t>提供稳定语义，并补充反向依赖查询、边界引用、拓扑依赖和修复预览，才能得到完整的受影响对象范围</a:t>
            </a:r>
            <a:endParaRPr sz="1000"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42708120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EC7E8B5-EB8D-4080-8F0F-E15EF4CA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765" y="426085"/>
            <a:ext cx="11158630" cy="5156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>
                <a:solidFill>
                  <a:schemeClr val="accent5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错误治理方案</a:t>
            </a:r>
            <a:r>
              <a:rPr sz="2800" b="1">
                <a:solidFill>
                  <a:schemeClr val="accent5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 —— </a:t>
            </a:r>
            <a:r>
              <a:rPr sz="2800" b="1">
                <a:solidFill>
                  <a:schemeClr val="accent5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判断能否通过板架更新或重建解决</a:t>
            </a:r>
            <a:endParaRPr sz="2800" b="1">
              <a:solidFill>
                <a:schemeClr val="accent5">
                  <a:lumMod val="5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13D473FA-11A8-473A-9CFD-27F5CE0A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3800" y="6327775"/>
            <a:ext cx="553967" cy="365125"/>
          </a:xfrm>
        </p:spPr>
        <p:txBody>
          <a:bodyPr xmlns:a="http://schemas.openxmlformats.org/drawingml/2006/main"/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endParaRPr sz="1600">
              <a:solidFill>
                <a:schemeClr val="bg1"/>
              </a:solidFill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36BB8D2-6940-4BE5-B4D8-47AE5FCF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981075"/>
            <a:ext cx="1147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877C9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877C9"/>
                </a:solidFill>
                <a:latin typeface="微软雅黑"/>
                <a:ea typeface="微软雅黑"/>
                <a:cs typeface="微软雅黑"/>
              </a:rPr>
              <a:t>Provider</a:t>
            </a:r>
            <a:r>
              <a:rPr sz="1600" b="1">
                <a:solidFill>
                  <a:srgbClr val="0877C9"/>
                </a:solidFill>
                <a:latin typeface="微软雅黑"/>
                <a:ea typeface="微软雅黑"/>
                <a:cs typeface="微软雅黑"/>
              </a:rPr>
              <a:t>提供工程事实，确定性规则限定处理边界，</a:t>
            </a:r>
            <a:r>
              <a:rPr sz="1600" b="1">
                <a:solidFill>
                  <a:srgbClr val="0877C9"/>
                </a:solidFill>
                <a:latin typeface="微软雅黑"/>
                <a:ea typeface="微软雅黑"/>
                <a:cs typeface="微软雅黑"/>
              </a:rPr>
              <a:t>Agent</a:t>
            </a:r>
            <a:r>
              <a:rPr sz="1600" b="1">
                <a:solidFill>
                  <a:srgbClr val="0877C9"/>
                </a:solidFill>
                <a:latin typeface="微软雅黑"/>
                <a:ea typeface="微软雅黑"/>
                <a:cs typeface="微软雅黑"/>
              </a:rPr>
              <a:t>在允许范围内选择，</a:t>
            </a:r>
            <a:r>
              <a:rPr sz="1600" b="1">
                <a:solidFill>
                  <a:srgbClr val="0877C9"/>
                </a:solidFill>
                <a:latin typeface="微软雅黑"/>
                <a:ea typeface="微软雅黑"/>
                <a:cs typeface="微软雅黑"/>
              </a:rPr>
              <a:t>Workflow</a:t>
            </a:r>
            <a:r>
              <a:rPr sz="1600" b="1">
                <a:solidFill>
                  <a:srgbClr val="0877C9"/>
                </a:solidFill>
                <a:latin typeface="微软雅黑"/>
                <a:ea typeface="微软雅黑"/>
                <a:cs typeface="微软雅黑"/>
              </a:rPr>
              <a:t>根据执行方式完成分流</a:t>
            </a:r>
            <a:endParaRPr sz="1600" b="1">
              <a:solidFill>
                <a:srgbClr val="0877C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17962CEB-B714-46AB-8140-1CC9DB51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610" y="2981325"/>
            <a:ext cx="5338445" cy="24917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latin typeface="微软雅黑"/>
                <a:ea typeface="微软雅黑"/>
                <a:cs typeface="微软雅黑"/>
              </a:rPr>
              <a:t>主要错误对象是否为板架？</a:t>
            </a:r>
            <a:endParaRPr sz="1200"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>
                <a:latin typeface="微软雅黑"/>
                <a:ea typeface="微软雅黑"/>
                <a:cs typeface="微软雅黑"/>
              </a:rPr>
              <a:t> </a:t>
            </a:r>
            <a:r>
              <a:rPr sz="1200">
                <a:latin typeface="微软雅黑"/>
                <a:ea typeface="微软雅黑"/>
                <a:cs typeface="微软雅黑"/>
              </a:rPr>
              <a:t>↓</a:t>
            </a:r>
            <a:endParaRPr sz="1200"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>
                <a:latin typeface="微软雅黑"/>
                <a:ea typeface="微软雅黑"/>
                <a:cs typeface="微软雅黑"/>
              </a:rPr>
              <a:t>否</a:t>
            </a:r>
            <a:r>
              <a:rPr sz="1200">
                <a:latin typeface="微软雅黑"/>
                <a:ea typeface="微软雅黑"/>
                <a:cs typeface="微软雅黑"/>
              </a:rPr>
              <a:t> </a:t>
            </a:r>
            <a:r>
              <a:rPr sz="1200">
                <a:latin typeface="微软雅黑"/>
                <a:ea typeface="微软雅黑"/>
                <a:cs typeface="微软雅黑"/>
              </a:rPr>
              <a:t>→</a:t>
            </a:r>
            <a:r>
              <a:rPr sz="1200">
                <a:latin typeface="微软雅黑"/>
                <a:ea typeface="微软雅黑"/>
                <a:cs typeface="微软雅黑"/>
              </a:rPr>
              <a:t> </a:t>
            </a:r>
            <a:r>
              <a:rPr sz="1200">
                <a:latin typeface="微软雅黑"/>
                <a:ea typeface="微软雅黑"/>
                <a:cs typeface="微软雅黑"/>
              </a:rPr>
              <a:t>处理实际主要错误对象</a:t>
            </a:r>
            <a:endParaRPr sz="1200"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>
                <a:latin typeface="微软雅黑"/>
                <a:ea typeface="微软雅黑"/>
                <a:cs typeface="微软雅黑"/>
              </a:rPr>
              <a:t>是</a:t>
            </a:r>
            <a:r>
              <a:rPr sz="1200">
                <a:latin typeface="微软雅黑"/>
                <a:ea typeface="微软雅黑"/>
                <a:cs typeface="微软雅黑"/>
              </a:rPr>
              <a:t> </a:t>
            </a:r>
            <a:r>
              <a:rPr sz="1200">
                <a:latin typeface="微软雅黑"/>
                <a:ea typeface="微软雅黑"/>
                <a:cs typeface="微软雅黑"/>
              </a:rPr>
              <a:t>→ </a:t>
            </a:r>
            <a:r>
              <a:rPr sz="1200">
                <a:latin typeface="微软雅黑"/>
                <a:ea typeface="微软雅黑"/>
                <a:cs typeface="微软雅黑"/>
              </a:rPr>
              <a:t>参数、边界和几何仍有效？</a:t>
            </a:r>
            <a:endParaRPr sz="1200"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>
                <a:latin typeface="微软雅黑"/>
                <a:ea typeface="微软雅黑"/>
                <a:cs typeface="微软雅黑"/>
              </a:rPr>
              <a:t>     </a:t>
            </a:r>
            <a:r>
              <a:rPr sz="1200">
                <a:latin typeface="微软雅黑"/>
                <a:ea typeface="微软雅黑"/>
                <a:cs typeface="微软雅黑"/>
              </a:rPr>
              <a:t>↓</a:t>
            </a:r>
            <a:endParaRPr sz="1200"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>
                <a:latin typeface="微软雅黑"/>
                <a:ea typeface="微软雅黑"/>
                <a:cs typeface="微软雅黑"/>
              </a:rPr>
              <a:t>    </a:t>
            </a:r>
            <a:r>
              <a:rPr sz="1200">
                <a:latin typeface="微软雅黑"/>
                <a:ea typeface="微软雅黑"/>
                <a:cs typeface="微软雅黑"/>
              </a:rPr>
              <a:t>是</a:t>
            </a:r>
            <a:r>
              <a:rPr sz="1200">
                <a:latin typeface="微软雅黑"/>
                <a:ea typeface="微软雅黑"/>
                <a:cs typeface="微软雅黑"/>
              </a:rPr>
              <a:t> </a:t>
            </a:r>
            <a:r>
              <a:rPr sz="1200">
                <a:latin typeface="微软雅黑"/>
                <a:ea typeface="微软雅黑"/>
                <a:cs typeface="微软雅黑"/>
              </a:rPr>
              <a:t>→</a:t>
            </a:r>
            <a:r>
              <a:rPr sz="1200">
                <a:latin typeface="微软雅黑"/>
                <a:ea typeface="微软雅黑"/>
                <a:cs typeface="微软雅黑"/>
              </a:rPr>
              <a:t> </a:t>
            </a:r>
            <a:r>
              <a:rPr sz="1200">
                <a:latin typeface="微软雅黑"/>
                <a:ea typeface="微软雅黑"/>
                <a:cs typeface="微软雅黑"/>
              </a:rPr>
              <a:t>重新计算</a:t>
            </a:r>
            <a:endParaRPr sz="1200"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>
                <a:latin typeface="微软雅黑"/>
                <a:ea typeface="微软雅黑"/>
                <a:cs typeface="微软雅黑"/>
              </a:rPr>
              <a:t> </a:t>
            </a:r>
            <a:r>
              <a:rPr sz="1200">
                <a:latin typeface="微软雅黑"/>
                <a:ea typeface="微软雅黑"/>
                <a:cs typeface="微软雅黑"/>
              </a:rPr>
              <a:t>   </a:t>
            </a:r>
            <a:r>
              <a:rPr sz="1200">
                <a:latin typeface="微软雅黑"/>
                <a:ea typeface="微软雅黑"/>
                <a:cs typeface="微软雅黑"/>
              </a:rPr>
              <a:t>否</a:t>
            </a:r>
            <a:r>
              <a:rPr sz="1200">
                <a:latin typeface="微软雅黑"/>
                <a:ea typeface="微软雅黑"/>
                <a:cs typeface="微软雅黑"/>
              </a:rPr>
              <a:t> </a:t>
            </a:r>
            <a:r>
              <a:rPr sz="1200">
                <a:latin typeface="微软雅黑"/>
                <a:ea typeface="微软雅黑"/>
                <a:cs typeface="微软雅黑"/>
              </a:rPr>
              <a:t>→</a:t>
            </a:r>
            <a:r>
              <a:rPr sz="1200">
                <a:latin typeface="微软雅黑"/>
                <a:ea typeface="微软雅黑"/>
                <a:cs typeface="微软雅黑"/>
              </a:rPr>
              <a:t> </a:t>
            </a:r>
            <a:r>
              <a:rPr sz="1200">
                <a:latin typeface="微软雅黑"/>
                <a:ea typeface="微软雅黑"/>
                <a:cs typeface="微软雅黑"/>
              </a:rPr>
              <a:t>能否保留现有板架</a:t>
            </a:r>
            <a:r>
              <a:rPr sz="1200">
                <a:latin typeface="微软雅黑"/>
                <a:ea typeface="微软雅黑"/>
                <a:cs typeface="微软雅黑"/>
              </a:rPr>
              <a:t>panel_id</a:t>
            </a:r>
            <a:r>
              <a:rPr sz="1200">
                <a:latin typeface="微软雅黑"/>
                <a:ea typeface="微软雅黑"/>
                <a:cs typeface="微软雅黑"/>
              </a:rPr>
              <a:t>，通过补全或修正数据恢复板架？</a:t>
            </a:r>
            <a:endParaRPr sz="1200"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>
                <a:latin typeface="微软雅黑"/>
                <a:ea typeface="微软雅黑"/>
                <a:cs typeface="微软雅黑"/>
              </a:rPr>
              <a:t> </a:t>
            </a:r>
            <a:r>
              <a:rPr sz="1200">
                <a:latin typeface="微软雅黑"/>
                <a:ea typeface="微软雅黑"/>
                <a:cs typeface="微软雅黑"/>
              </a:rPr>
              <a:t>        </a:t>
            </a:r>
            <a:r>
              <a:rPr sz="1200">
                <a:latin typeface="微软雅黑"/>
                <a:ea typeface="微软雅黑"/>
                <a:cs typeface="微软雅黑"/>
              </a:rPr>
              <a:t>↓</a:t>
            </a:r>
            <a:endParaRPr sz="1200"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>
                <a:latin typeface="微软雅黑"/>
                <a:ea typeface="微软雅黑"/>
                <a:cs typeface="微软雅黑"/>
              </a:rPr>
              <a:t>        </a:t>
            </a:r>
            <a:r>
              <a:rPr sz="1200">
                <a:latin typeface="微软雅黑"/>
                <a:ea typeface="微软雅黑"/>
                <a:cs typeface="微软雅黑"/>
              </a:rPr>
              <a:t>是</a:t>
            </a:r>
            <a:r>
              <a:rPr sz="1200">
                <a:latin typeface="微软雅黑"/>
                <a:ea typeface="微软雅黑"/>
                <a:cs typeface="微软雅黑"/>
              </a:rPr>
              <a:t> </a:t>
            </a:r>
            <a:r>
              <a:rPr sz="1200">
                <a:latin typeface="微软雅黑"/>
                <a:ea typeface="微软雅黑"/>
                <a:cs typeface="微软雅黑"/>
              </a:rPr>
              <a:t>→</a:t>
            </a:r>
            <a:r>
              <a:rPr sz="1200">
                <a:latin typeface="微软雅黑"/>
                <a:ea typeface="微软雅黑"/>
                <a:cs typeface="微软雅黑"/>
              </a:rPr>
              <a:t> </a:t>
            </a:r>
            <a:r>
              <a:rPr sz="1200">
                <a:latin typeface="微软雅黑"/>
                <a:ea typeface="微软雅黑"/>
                <a:cs typeface="微软雅黑"/>
              </a:rPr>
              <a:t>更新板架，保留</a:t>
            </a:r>
            <a:r>
              <a:rPr sz="1200">
                <a:latin typeface="微软雅黑"/>
                <a:ea typeface="微软雅黑"/>
                <a:cs typeface="微软雅黑"/>
              </a:rPr>
              <a:t> panel_id</a:t>
            </a:r>
            <a:endParaRPr sz="1200"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>
                <a:latin typeface="微软雅黑"/>
                <a:ea typeface="微软雅黑"/>
                <a:cs typeface="微软雅黑"/>
              </a:rPr>
              <a:t>        </a:t>
            </a:r>
            <a:r>
              <a:rPr sz="1200">
                <a:latin typeface="微软雅黑"/>
                <a:ea typeface="微软雅黑"/>
                <a:cs typeface="微软雅黑"/>
              </a:rPr>
              <a:t>否</a:t>
            </a:r>
            <a:r>
              <a:rPr sz="1200">
                <a:latin typeface="微软雅黑"/>
                <a:ea typeface="微软雅黑"/>
                <a:cs typeface="微软雅黑"/>
              </a:rPr>
              <a:t> </a:t>
            </a:r>
            <a:r>
              <a:rPr sz="1200">
                <a:latin typeface="微软雅黑"/>
                <a:ea typeface="微软雅黑"/>
                <a:cs typeface="微软雅黑"/>
              </a:rPr>
              <a:t>→</a:t>
            </a:r>
            <a:r>
              <a:rPr sz="1200">
                <a:latin typeface="微软雅黑"/>
                <a:ea typeface="微软雅黑"/>
                <a:cs typeface="微软雅黑"/>
              </a:rPr>
              <a:t> </a:t>
            </a:r>
            <a:r>
              <a:rPr sz="1200">
                <a:latin typeface="微软雅黑"/>
                <a:ea typeface="微软雅黑"/>
                <a:cs typeface="微软雅黑"/>
              </a:rPr>
              <a:t>是否同时满足三项重建条件？</a:t>
            </a:r>
            <a:endParaRPr sz="1200"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>
                <a:latin typeface="微软雅黑"/>
                <a:ea typeface="微软雅黑"/>
                <a:cs typeface="微软雅黑"/>
              </a:rPr>
              <a:t>             ↓</a:t>
            </a:r>
            <a:endParaRPr sz="1200"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>
                <a:latin typeface="微软雅黑"/>
                <a:ea typeface="微软雅黑"/>
                <a:cs typeface="微软雅黑"/>
              </a:rPr>
              <a:t>            </a:t>
            </a:r>
            <a:r>
              <a:rPr sz="1200">
                <a:latin typeface="微软雅黑"/>
                <a:ea typeface="微软雅黑"/>
                <a:cs typeface="微软雅黑"/>
              </a:rPr>
              <a:t>是</a:t>
            </a:r>
            <a:r>
              <a:rPr sz="1200">
                <a:latin typeface="微软雅黑"/>
                <a:ea typeface="微软雅黑"/>
                <a:cs typeface="微软雅黑"/>
              </a:rPr>
              <a:t> </a:t>
            </a:r>
            <a:r>
              <a:rPr sz="1200">
                <a:latin typeface="微软雅黑"/>
                <a:ea typeface="微软雅黑"/>
                <a:cs typeface="微软雅黑"/>
              </a:rPr>
              <a:t>→</a:t>
            </a:r>
            <a:r>
              <a:rPr sz="1200">
                <a:latin typeface="微软雅黑"/>
                <a:ea typeface="微软雅黑"/>
                <a:cs typeface="微软雅黑"/>
              </a:rPr>
              <a:t> </a:t>
            </a:r>
            <a:r>
              <a:rPr sz="1200">
                <a:latin typeface="微软雅黑"/>
                <a:ea typeface="微软雅黑"/>
                <a:cs typeface="微软雅黑"/>
              </a:rPr>
              <a:t>继续根据规则限定给出建议</a:t>
            </a:r>
            <a:endParaRPr sz="1200"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1200">
                <a:latin typeface="微软雅黑"/>
                <a:ea typeface="微软雅黑"/>
                <a:cs typeface="微软雅黑"/>
              </a:rPr>
              <a:t>            </a:t>
            </a:r>
            <a:r>
              <a:rPr sz="1200">
                <a:latin typeface="微软雅黑"/>
                <a:ea typeface="微软雅黑"/>
                <a:cs typeface="微软雅黑"/>
              </a:rPr>
              <a:t>否</a:t>
            </a:r>
            <a:r>
              <a:rPr sz="1200">
                <a:latin typeface="微软雅黑"/>
                <a:ea typeface="微软雅黑"/>
                <a:cs typeface="微软雅黑"/>
              </a:rPr>
              <a:t> </a:t>
            </a:r>
            <a:r>
              <a:rPr sz="1200">
                <a:latin typeface="微软雅黑"/>
                <a:ea typeface="微软雅黑"/>
                <a:cs typeface="微软雅黑"/>
              </a:rPr>
              <a:t>→</a:t>
            </a:r>
            <a:r>
              <a:rPr sz="1200">
                <a:latin typeface="微软雅黑"/>
                <a:ea typeface="微软雅黑"/>
                <a:cs typeface="微软雅黑"/>
              </a:rPr>
              <a:t> </a:t>
            </a:r>
            <a:r>
              <a:rPr sz="1200">
                <a:latin typeface="微软雅黑"/>
                <a:ea typeface="微软雅黑"/>
                <a:cs typeface="微软雅黑"/>
              </a:rPr>
              <a:t>转人工</a:t>
            </a:r>
            <a:endParaRPr sz="12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3865C6B2-5B77-4C7F-AAA4-D6BFB712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990" y="4694555"/>
            <a:ext cx="2334260" cy="11988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20000"/>
              <a:lumOff val="80000"/>
              <a:alpha val="37000"/>
            </a:schemeClr>
          </a:solidFill>
          <a:ln xmlns:a="http://schemas.openxmlformats.org/drawingml/2006/main" w="1905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inden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Font typeface="Wingdings"/>
              <a:buChar char="Ø"/>
            </a:pPr>
            <a:r>
              <a:rPr sz="1200" b="1">
                <a:latin typeface="微软雅黑"/>
                <a:ea typeface="微软雅黑"/>
                <a:cs typeface="微软雅黑"/>
              </a:rPr>
              <a:t> </a:t>
            </a:r>
            <a:r>
              <a:rPr sz="1200" b="1">
                <a:latin typeface="微软雅黑"/>
                <a:ea typeface="微软雅黑"/>
                <a:cs typeface="微软雅黑"/>
              </a:rPr>
              <a:t>三项重建条件</a:t>
            </a:r>
            <a:endParaRPr sz="1200" b="1"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indent="-28575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Font typeface="Arial"/>
              <a:buChar char="•"/>
            </a:pPr>
            <a:r>
              <a:rPr sz="1200">
                <a:latin typeface="微软雅黑"/>
                <a:ea typeface="微软雅黑"/>
                <a:cs typeface="微软雅黑"/>
              </a:rPr>
              <a:t>创建参数完整且来源可靠</a:t>
            </a:r>
            <a:endParaRPr sz="1200"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indent="-28575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Font typeface="Arial"/>
              <a:buChar char="•"/>
            </a:pPr>
            <a:r>
              <a:rPr sz="1200">
                <a:latin typeface="微软雅黑"/>
                <a:ea typeface="微软雅黑"/>
                <a:cs typeface="微软雅黑"/>
              </a:rPr>
              <a:t>新旧板架替换关系明确</a:t>
            </a:r>
            <a:endParaRPr sz="1200"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indent="-28575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Font typeface="Arial"/>
              <a:buChar char="•"/>
            </a:pPr>
            <a:r>
              <a:rPr sz="1200">
                <a:latin typeface="微软雅黑"/>
                <a:ea typeface="微软雅黑"/>
                <a:cs typeface="微软雅黑"/>
              </a:rPr>
              <a:t>子构件能够安全重新关联</a:t>
            </a:r>
            <a:endParaRPr sz="12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2FD4BDFF-EB0A-4F87-B481-1DED1185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610" y="2607945"/>
            <a:ext cx="3481705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marL="285750" indent="-285750">
              <a:buFont typeface="Wingdings"/>
              <a:buChar char="Ø"/>
            </a:pPr>
            <a:r>
              <a:rPr sz="140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rPr>
              <a:t>根据错误分类，判断是否需要重建</a:t>
            </a:r>
            <a:endParaRPr sz="1400" b="1">
              <a:solidFill>
                <a:srgbClr val="173B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2EB8DD0F-4320-4992-8658-620A4C00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610" y="1428750"/>
            <a:ext cx="253301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5FC"/>
          </a:solidFill>
          <a:ln xmlns:a="http://schemas.openxmlformats.org/drawingml/2006/main" w="13335">
            <a:solidFill>
              <a:srgbClr val="0877C9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  <a:defRPr sz="1165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t>根据错误分类，判断是否需要重建</a:t>
            </a:r>
            <a:endParaRPr/>
          </a:p>
        </p:txBody>
      </p:sp>
      <p:sp>
        <p:nvSpPr>
          <p:cNvPr id="28" name="圆角矩形 27">
            <a:extLst xmlns:a="http://schemas.openxmlformats.org/drawingml/2006/main">
              <a:ext uri="{FF2B5EF4-FFF2-40B4-BE49-F238E27FC236}">
                <a16:creationId xmlns:a16="http://schemas.microsoft.com/office/drawing/2014/main" id="{D43C43A8-EF1B-43BB-BAA6-DBA03322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428750"/>
            <a:ext cx="223837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5FC"/>
          </a:solidFill>
          <a:ln xmlns:a="http://schemas.openxmlformats.org/drawingml/2006/main" w="13335">
            <a:solidFill>
              <a:srgbClr val="0877C9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  <a:defRPr sz="1165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t>确定性规则</a:t>
            </a:r>
            <a:endParaRPr/>
          </a:p>
          <a:p xmlns:a="http://schemas.openxmlformats.org/drawingml/2006/main">
            <a:pPr lvl="0" algn="ctr">
              <a:buClrTx/>
              <a:buSzTx/>
              <a:buFontTx/>
              <a:buNone/>
              <a:defRPr sz="1165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t>生成允许执行方式</a:t>
            </a:r>
            <a:endParaRPr/>
          </a:p>
        </p:txBody>
      </p:sp>
      <p:sp>
        <p:nvSpPr>
          <p:cNvPr id="29" name="圆角矩形 28">
            <a:extLst xmlns:a="http://schemas.openxmlformats.org/drawingml/2006/main">
              <a:ext uri="{FF2B5EF4-FFF2-40B4-BE49-F238E27FC236}">
                <a16:creationId xmlns:a16="http://schemas.microsoft.com/office/drawing/2014/main" id="{D60ABAE4-70B6-4953-87F4-ED735CCB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28750"/>
            <a:ext cx="223837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5FC"/>
          </a:solidFill>
          <a:ln xmlns:a="http://schemas.openxmlformats.org/drawingml/2006/main" w="13335">
            <a:solidFill>
              <a:srgbClr val="0877C9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  <a:defRPr sz="1165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t>Agent</a:t>
            </a:r>
            <a:endParaRPr/>
          </a:p>
          <a:p xmlns:a="http://schemas.openxmlformats.org/drawingml/2006/main">
            <a:pPr lvl="0" algn="ctr">
              <a:buClrTx/>
              <a:buSzTx/>
              <a:buFontTx/>
              <a:buNone/>
              <a:defRPr sz="1165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t>结合用户策略，在允许范围内选择执行路线</a:t>
            </a:r>
            <a:endParaRPr/>
          </a:p>
        </p:txBody>
      </p:sp>
      <p:sp>
        <p:nvSpPr>
          <p:cNvPr id="30" name="圆角矩形 29">
            <a:extLst xmlns:a="http://schemas.openxmlformats.org/drawingml/2006/main">
              <a:ext uri="{FF2B5EF4-FFF2-40B4-BE49-F238E27FC236}">
                <a16:creationId xmlns:a16="http://schemas.microsoft.com/office/drawing/2014/main" id="{350A68F8-D037-4F9A-82B4-1CFCE2E4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428750"/>
            <a:ext cx="2476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5FC"/>
          </a:solidFill>
          <a:ln xmlns:a="http://schemas.openxmlformats.org/drawingml/2006/main" w="13335">
            <a:solidFill>
              <a:srgbClr val="0877C9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  <a:defRPr sz="1165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t>Workflow</a:t>
            </a:r>
            <a:r>
              <a:t>按照规则指定执行方式</a:t>
            </a:r>
            <a:endParaRPr/>
          </a:p>
        </p:txBody>
      </p:sp>
      <p:cxnSp>
        <p:nvCxnSpPr>
          <p:cNvPr id="56" name="直接箭头连接符 30"/>
          <p:cNvCxnSpPr>
            <a:stCxn xmlns:a="http://schemas.openxmlformats.org/drawingml/2006/main" id="28" idx="1"/>
            <a:endCxn xmlns:a="http://schemas.openxmlformats.org/drawingml/2006/main" id="27" idx="3"/>
          </p:cNvCxnSpPr>
          <p:nvPr/>
        </p:nvCxnSpPr>
        <p:spPr>
          <a:xfrm xmlns:a="http://schemas.openxmlformats.org/drawingml/2006/main" flipH="1">
            <a:off x="3095625" y="18478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0877C9"/>
            </a:solidFill>
            <a:prstDash val="solid"/>
          </a:ln>
        </p:spPr>
      </p:cxnSp>
      <p:cxnSp>
        <p:nvCxnSpPr>
          <p:cNvPr id="57" name="直接箭头连接符 31"/>
          <p:cNvCxnSpPr>
            <a:stCxn xmlns:a="http://schemas.openxmlformats.org/drawingml/2006/main" id="29" idx="1"/>
            <a:endCxn xmlns:a="http://schemas.openxmlformats.org/drawingml/2006/main" id="28" idx="3"/>
          </p:cNvCxnSpPr>
          <p:nvPr/>
        </p:nvCxnSpPr>
        <p:spPr>
          <a:xfrm xmlns:a="http://schemas.openxmlformats.org/drawingml/2006/main" flipH="1">
            <a:off x="5810250" y="18478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0877C9"/>
            </a:solidFill>
            <a:prstDash val="solid"/>
          </a:ln>
        </p:spPr>
      </p:cxnSp>
      <p:cxnSp>
        <p:nvCxnSpPr>
          <p:cNvPr id="58" name="直接箭头连接符 32"/>
          <p:cNvCxnSpPr>
            <a:stCxn xmlns:a="http://schemas.openxmlformats.org/drawingml/2006/main" id="30" idx="1"/>
            <a:endCxn xmlns:a="http://schemas.openxmlformats.org/drawingml/2006/main" id="29" idx="3"/>
          </p:cNvCxnSpPr>
          <p:nvPr/>
        </p:nvCxnSpPr>
        <p:spPr>
          <a:xfrm xmlns:a="http://schemas.openxmlformats.org/drawingml/2006/main" flipH="1">
            <a:off x="8524875" y="18478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0877C9"/>
            </a:solidFill>
            <a:prstDash val="solid"/>
          </a:ln>
        </p:spPr>
      </p:cxn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5EF352EC-F838-4F50-AE71-039F2755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1055" y="2470785"/>
            <a:ext cx="609600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marL="285750" indent="-285750">
              <a:buFont typeface="Wingdings"/>
              <a:buChar char="Ø"/>
            </a:pPr>
            <a:r>
              <a:rPr sz="140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rPr>
              <a:t>规则代码生成允许执行方式</a:t>
            </a:r>
            <a:endParaRPr sz="1400" b="1">
              <a:solidFill>
                <a:srgbClr val="173B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19FB13FC-5586-4051-B190-65840475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1055" y="2816225"/>
            <a:ext cx="4622165" cy="7550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200">
                <a:latin typeface="微软雅黑"/>
                <a:ea typeface="微软雅黑"/>
                <a:cs typeface="微软雅黑"/>
              </a:rPr>
              <a:t>修复候选：重新计算</a:t>
            </a:r>
            <a:r>
              <a:rPr sz="1200">
                <a:latin typeface="微软雅黑"/>
                <a:ea typeface="微软雅黑"/>
                <a:cs typeface="微软雅黑"/>
              </a:rPr>
              <a:t> / </a:t>
            </a:r>
            <a:r>
              <a:rPr sz="1200">
                <a:latin typeface="微软雅黑"/>
                <a:ea typeface="微软雅黑"/>
                <a:cs typeface="微软雅黑"/>
              </a:rPr>
              <a:t>更新板架</a:t>
            </a:r>
            <a:r>
              <a:rPr sz="1200">
                <a:latin typeface="微软雅黑"/>
                <a:ea typeface="微软雅黑"/>
                <a:cs typeface="微软雅黑"/>
              </a:rPr>
              <a:t> / </a:t>
            </a:r>
            <a:r>
              <a:rPr sz="1200">
                <a:latin typeface="微软雅黑"/>
                <a:ea typeface="微软雅黑"/>
                <a:cs typeface="微软雅黑"/>
              </a:rPr>
              <a:t>人工重选边界</a:t>
            </a:r>
            <a:r>
              <a:rPr sz="1200">
                <a:latin typeface="微软雅黑"/>
                <a:ea typeface="微软雅黑"/>
                <a:cs typeface="微软雅黑"/>
              </a:rPr>
              <a:t> / </a:t>
            </a:r>
            <a:r>
              <a:rPr sz="1200">
                <a:latin typeface="微软雅黑"/>
                <a:ea typeface="微软雅黑"/>
                <a:cs typeface="微软雅黑"/>
              </a:rPr>
              <a:t>报告</a:t>
            </a:r>
            <a:r>
              <a:rPr sz="1200">
                <a:latin typeface="微软雅黑"/>
                <a:ea typeface="微软雅黑"/>
                <a:cs typeface="微软雅黑"/>
              </a:rPr>
              <a:t>Provider</a:t>
            </a:r>
            <a:r>
              <a:rPr sz="1200">
                <a:latin typeface="微软雅黑"/>
                <a:ea typeface="微软雅黑"/>
                <a:cs typeface="微软雅黑"/>
              </a:rPr>
              <a:t>异常</a:t>
            </a:r>
            <a:endParaRPr sz="1200"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200">
                <a:latin typeface="微软雅黑"/>
                <a:ea typeface="微软雅黑"/>
                <a:cs typeface="微软雅黑"/>
              </a:rPr>
              <a:t>允许执行方式：自动执行</a:t>
            </a:r>
            <a:r>
              <a:rPr sz="1200">
                <a:latin typeface="微软雅黑"/>
                <a:ea typeface="微软雅黑"/>
                <a:cs typeface="微软雅黑"/>
              </a:rPr>
              <a:t> / </a:t>
            </a:r>
            <a:r>
              <a:rPr sz="1200">
                <a:latin typeface="微软雅黑"/>
                <a:ea typeface="微软雅黑"/>
                <a:cs typeface="微软雅黑"/>
              </a:rPr>
              <a:t>确认后执行</a:t>
            </a:r>
            <a:r>
              <a:rPr sz="1200">
                <a:latin typeface="微软雅黑"/>
                <a:ea typeface="微软雅黑"/>
                <a:cs typeface="微软雅黑"/>
              </a:rPr>
              <a:t> / </a:t>
            </a:r>
            <a:r>
              <a:rPr sz="1200">
                <a:latin typeface="微软雅黑"/>
                <a:ea typeface="微软雅黑"/>
                <a:cs typeface="微软雅黑"/>
              </a:rPr>
              <a:t>人工处理</a:t>
            </a:r>
            <a:r>
              <a:rPr sz="1200">
                <a:latin typeface="微软雅黑"/>
                <a:ea typeface="微软雅黑"/>
                <a:cs typeface="微软雅黑"/>
              </a:rPr>
              <a:t> / </a:t>
            </a:r>
            <a:r>
              <a:rPr sz="1200">
                <a:latin typeface="微软雅黑"/>
                <a:ea typeface="微软雅黑"/>
                <a:cs typeface="微软雅黑"/>
              </a:rPr>
              <a:t>研发排查</a:t>
            </a:r>
            <a:endParaRPr sz="12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CDFA3F8E-50D1-462E-A2B4-91EC2870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565" y="5208270"/>
            <a:ext cx="3533775" cy="119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marL="171450" indent="-171450">
              <a:buFont typeface="Arial"/>
              <a:buChar char="•"/>
            </a:pPr>
            <a:r>
              <a:rPr sz="1200">
                <a:latin typeface="微软雅黑"/>
                <a:ea typeface="微软雅黑"/>
                <a:cs typeface="微软雅黑"/>
              </a:rPr>
              <a:t>自动执行</a:t>
            </a:r>
            <a:r>
              <a:rPr sz="1200">
                <a:latin typeface="微软雅黑"/>
                <a:ea typeface="微软雅黑"/>
                <a:cs typeface="微软雅黑"/>
              </a:rPr>
              <a:t> </a:t>
            </a:r>
            <a:r>
              <a:rPr sz="1200">
                <a:latin typeface="微软雅黑"/>
                <a:ea typeface="微软雅黑"/>
                <a:cs typeface="微软雅黑"/>
              </a:rPr>
              <a:t>→</a:t>
            </a:r>
            <a:r>
              <a:rPr sz="1200">
                <a:latin typeface="微软雅黑"/>
                <a:ea typeface="微软雅黑"/>
                <a:cs typeface="微软雅黑"/>
              </a:rPr>
              <a:t> </a:t>
            </a:r>
            <a:r>
              <a:rPr sz="1200">
                <a:latin typeface="微软雅黑"/>
                <a:ea typeface="微软雅黑"/>
                <a:cs typeface="微软雅黑"/>
              </a:rPr>
              <a:t>调用</a:t>
            </a:r>
            <a:r>
              <a:rPr sz="1200">
                <a:latin typeface="微软雅黑"/>
                <a:ea typeface="微软雅黑"/>
                <a:cs typeface="微软雅黑"/>
              </a:rPr>
              <a:t>CAD</a:t>
            </a:r>
            <a:endParaRPr sz="1200"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171450" indent="-171450">
              <a:buFont typeface="Arial"/>
              <a:buChar char="•"/>
            </a:pPr>
            <a:r>
              <a:rPr sz="1200">
                <a:latin typeface="微软雅黑"/>
                <a:ea typeface="微软雅黑"/>
                <a:cs typeface="微软雅黑"/>
              </a:rPr>
              <a:t>等待确认</a:t>
            </a:r>
            <a:r>
              <a:rPr sz="1200">
                <a:latin typeface="微软雅黑"/>
                <a:ea typeface="微软雅黑"/>
                <a:cs typeface="微软雅黑"/>
              </a:rPr>
              <a:t> </a:t>
            </a:r>
            <a:r>
              <a:rPr sz="1200">
                <a:latin typeface="微软雅黑"/>
                <a:ea typeface="微软雅黑"/>
                <a:cs typeface="微软雅黑"/>
              </a:rPr>
              <a:t>→</a:t>
            </a:r>
            <a:r>
              <a:rPr sz="1200">
                <a:latin typeface="微软雅黑"/>
                <a:ea typeface="微软雅黑"/>
                <a:cs typeface="微软雅黑"/>
              </a:rPr>
              <a:t> </a:t>
            </a:r>
            <a:r>
              <a:rPr sz="1200">
                <a:latin typeface="微软雅黑"/>
                <a:ea typeface="微软雅黑"/>
                <a:cs typeface="微软雅黑"/>
              </a:rPr>
              <a:t>进入确认状态</a:t>
            </a:r>
            <a:endParaRPr sz="1200"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171450" indent="-171450">
              <a:buFont typeface="Arial"/>
              <a:buChar char="•"/>
            </a:pPr>
            <a:r>
              <a:rPr sz="1200">
                <a:latin typeface="微软雅黑"/>
                <a:ea typeface="微软雅黑"/>
                <a:cs typeface="微软雅黑"/>
              </a:rPr>
              <a:t>用户同意</a:t>
            </a:r>
            <a:r>
              <a:rPr sz="1200">
                <a:latin typeface="微软雅黑"/>
                <a:ea typeface="微软雅黑"/>
                <a:cs typeface="微软雅黑"/>
              </a:rPr>
              <a:t> </a:t>
            </a:r>
            <a:r>
              <a:rPr sz="1200">
                <a:latin typeface="微软雅黑"/>
                <a:ea typeface="微软雅黑"/>
                <a:cs typeface="微软雅黑"/>
              </a:rPr>
              <a:t>→</a:t>
            </a:r>
            <a:r>
              <a:rPr sz="1200">
                <a:latin typeface="微软雅黑"/>
                <a:ea typeface="微软雅黑"/>
                <a:cs typeface="微软雅黑"/>
              </a:rPr>
              <a:t> </a:t>
            </a:r>
            <a:r>
              <a:rPr sz="1200">
                <a:latin typeface="微软雅黑"/>
                <a:ea typeface="微软雅黑"/>
                <a:cs typeface="微软雅黑"/>
              </a:rPr>
              <a:t>调用</a:t>
            </a:r>
            <a:r>
              <a:rPr sz="1200">
                <a:latin typeface="微软雅黑"/>
                <a:ea typeface="微软雅黑"/>
                <a:cs typeface="微软雅黑"/>
              </a:rPr>
              <a:t>CAD</a:t>
            </a:r>
            <a:r>
              <a:rPr sz="1200">
                <a:latin typeface="微软雅黑"/>
                <a:ea typeface="微软雅黑"/>
                <a:cs typeface="微软雅黑"/>
              </a:rPr>
              <a:t>接口</a:t>
            </a:r>
            <a:endParaRPr sz="1200"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171450" indent="-171450">
              <a:buFont typeface="Arial"/>
              <a:buChar char="•"/>
            </a:pPr>
            <a:r>
              <a:rPr sz="1200">
                <a:latin typeface="微软雅黑"/>
                <a:ea typeface="微软雅黑"/>
                <a:cs typeface="微软雅黑"/>
              </a:rPr>
              <a:t>用户拒绝</a:t>
            </a:r>
            <a:r>
              <a:rPr sz="1200">
                <a:latin typeface="微软雅黑"/>
                <a:ea typeface="微软雅黑"/>
                <a:cs typeface="微软雅黑"/>
              </a:rPr>
              <a:t> </a:t>
            </a:r>
            <a:r>
              <a:rPr sz="1200">
                <a:latin typeface="微软雅黑"/>
                <a:ea typeface="微软雅黑"/>
                <a:cs typeface="微软雅黑"/>
              </a:rPr>
              <a:t>→</a:t>
            </a:r>
            <a:r>
              <a:rPr sz="1200">
                <a:latin typeface="微软雅黑"/>
                <a:ea typeface="微软雅黑"/>
                <a:cs typeface="微软雅黑"/>
              </a:rPr>
              <a:t> </a:t>
            </a:r>
            <a:r>
              <a:rPr sz="1200">
                <a:latin typeface="微软雅黑"/>
                <a:ea typeface="微软雅黑"/>
                <a:cs typeface="微软雅黑"/>
              </a:rPr>
              <a:t>停止</a:t>
            </a:r>
            <a:endParaRPr sz="1200"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171450" indent="-171450">
              <a:buFont typeface="Arial"/>
              <a:buChar char="•"/>
            </a:pPr>
            <a:r>
              <a:rPr sz="1200">
                <a:latin typeface="微软雅黑"/>
                <a:ea typeface="微软雅黑"/>
                <a:cs typeface="微软雅黑"/>
              </a:rPr>
              <a:t>人工处理</a:t>
            </a:r>
            <a:r>
              <a:rPr sz="1200">
                <a:latin typeface="微软雅黑"/>
                <a:ea typeface="微软雅黑"/>
                <a:cs typeface="微软雅黑"/>
              </a:rPr>
              <a:t> </a:t>
            </a:r>
            <a:r>
              <a:rPr sz="1200">
                <a:latin typeface="微软雅黑"/>
                <a:ea typeface="微软雅黑"/>
                <a:cs typeface="微软雅黑"/>
              </a:rPr>
              <a:t>→</a:t>
            </a:r>
            <a:r>
              <a:rPr sz="1200">
                <a:latin typeface="微软雅黑"/>
                <a:ea typeface="微软雅黑"/>
                <a:cs typeface="微软雅黑"/>
              </a:rPr>
              <a:t> </a:t>
            </a:r>
            <a:r>
              <a:rPr sz="1200">
                <a:latin typeface="微软雅黑"/>
                <a:ea typeface="微软雅黑"/>
                <a:cs typeface="微软雅黑"/>
              </a:rPr>
              <a:t>转设计人员</a:t>
            </a:r>
            <a:endParaRPr sz="1200"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171450" indent="-171450">
              <a:buFont typeface="Arial"/>
              <a:buChar char="•"/>
            </a:pPr>
            <a:r>
              <a:rPr sz="1200">
                <a:latin typeface="微软雅黑"/>
                <a:ea typeface="微软雅黑"/>
                <a:cs typeface="微软雅黑"/>
              </a:rPr>
              <a:t>集合异常</a:t>
            </a:r>
            <a:r>
              <a:rPr sz="1200">
                <a:latin typeface="微软雅黑"/>
                <a:ea typeface="微软雅黑"/>
                <a:cs typeface="微软雅黑"/>
              </a:rPr>
              <a:t> </a:t>
            </a:r>
            <a:r>
              <a:rPr sz="1200">
                <a:latin typeface="微软雅黑"/>
                <a:ea typeface="微软雅黑"/>
                <a:cs typeface="微软雅黑"/>
              </a:rPr>
              <a:t>→</a:t>
            </a:r>
            <a:r>
              <a:rPr sz="1200">
                <a:latin typeface="微软雅黑"/>
                <a:ea typeface="微软雅黑"/>
                <a:cs typeface="微软雅黑"/>
              </a:rPr>
              <a:t> </a:t>
            </a:r>
            <a:r>
              <a:rPr sz="1200">
                <a:latin typeface="微软雅黑"/>
                <a:ea typeface="微软雅黑"/>
                <a:cs typeface="微软雅黑"/>
              </a:rPr>
              <a:t>转</a:t>
            </a:r>
            <a:r>
              <a:rPr sz="1200">
                <a:latin typeface="微软雅黑"/>
                <a:ea typeface="微软雅黑"/>
                <a:cs typeface="微软雅黑"/>
              </a:rPr>
              <a:t>CAD</a:t>
            </a:r>
            <a:r>
              <a:rPr sz="1200">
                <a:latin typeface="微软雅黑"/>
                <a:ea typeface="微软雅黑"/>
                <a:cs typeface="微软雅黑"/>
              </a:rPr>
              <a:t>研发</a:t>
            </a:r>
            <a:endParaRPr sz="12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文本框 42">
            <a:extLst xmlns:a="http://schemas.openxmlformats.org/drawingml/2006/main">
              <a:ext uri="{FF2B5EF4-FFF2-40B4-BE49-F238E27FC236}">
                <a16:creationId xmlns:a16="http://schemas.microsoft.com/office/drawing/2014/main" id="{78C3C502-3AA9-4D5F-BF34-7D7CFB61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1055" y="3571240"/>
            <a:ext cx="609600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marL="285750" lvl="0" indent="-285750" algn="l">
              <a:buClrTx/>
              <a:buSzTx/>
              <a:buFont typeface="Wingdings"/>
              <a:buChar char="Ø"/>
            </a:pPr>
            <a:r>
              <a:rPr sz="140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rPr>
              <a:t>Agent结合用户策略选择</a:t>
            </a:r>
            <a:endParaRPr sz="1400" b="1">
              <a:solidFill>
                <a:srgbClr val="173B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F688EAA3-6005-4EF2-BD4C-5FE4F156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1055" y="3881120"/>
            <a:ext cx="5020310" cy="829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lvl="0" indent="0" algn="l">
              <a:buClrTx/>
              <a:buSzTx/>
              <a:buFont typeface="Arial"/>
              <a:buNone/>
            </a:pPr>
            <a:r>
              <a:rPr sz="1200">
                <a:latin typeface="微软雅黑"/>
                <a:ea typeface="微软雅黑"/>
                <a:cs typeface="微软雅黑"/>
              </a:rPr>
              <a:t>Agent</a:t>
            </a:r>
            <a:r>
              <a:rPr sz="1200">
                <a:latin typeface="微软雅黑"/>
                <a:ea typeface="微软雅黑"/>
                <a:cs typeface="微软雅黑"/>
              </a:rPr>
              <a:t>在允许路线中选择处理方案，越界方案会被安全规则覆盖</a:t>
            </a:r>
            <a:endParaRPr sz="1200"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171450" lvl="0" indent="-171450" algn="l">
              <a:buClrTx/>
              <a:buSzTx/>
              <a:buFont typeface="Arial"/>
              <a:buChar char="•"/>
            </a:pPr>
            <a:r>
              <a:rPr sz="1200">
                <a:latin typeface="微软雅黑"/>
                <a:ea typeface="微软雅黑"/>
                <a:cs typeface="微软雅黑"/>
              </a:rPr>
              <a:t>只分析，不修改：返回分析结果，不调用</a:t>
            </a:r>
            <a:r>
              <a:rPr sz="1200">
                <a:latin typeface="微软雅黑"/>
                <a:ea typeface="微软雅黑"/>
                <a:cs typeface="微软雅黑"/>
              </a:rPr>
              <a:t>CAD</a:t>
            </a:r>
            <a:endParaRPr sz="1200"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171450" lvl="0" indent="-171450" algn="l">
              <a:buClrTx/>
              <a:buSzTx/>
              <a:buFont typeface="Arial"/>
              <a:buChar char="•"/>
            </a:pPr>
            <a:r>
              <a:rPr sz="1200">
                <a:latin typeface="微软雅黑"/>
                <a:ea typeface="微软雅黑"/>
                <a:cs typeface="微软雅黑"/>
              </a:rPr>
              <a:t>所有修改需确认：</a:t>
            </a:r>
            <a:r>
              <a:rPr sz="1200">
                <a:latin typeface="微软雅黑"/>
                <a:ea typeface="微软雅黑"/>
                <a:cs typeface="微软雅黑"/>
              </a:rPr>
              <a:t> </a:t>
            </a:r>
            <a:r>
              <a:rPr sz="1200">
                <a:latin typeface="微软雅黑"/>
                <a:ea typeface="微软雅黑"/>
                <a:cs typeface="微软雅黑"/>
              </a:rPr>
              <a:t>暂停流程，等待用户确认</a:t>
            </a:r>
            <a:endParaRPr sz="1200"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171450" lvl="0" indent="-171450" algn="l">
              <a:buClrTx/>
              <a:buSzTx/>
              <a:buFont typeface="Arial"/>
              <a:buChar char="•"/>
            </a:pPr>
            <a:r>
              <a:rPr sz="1200">
                <a:latin typeface="微软雅黑"/>
                <a:ea typeface="微软雅黑"/>
                <a:cs typeface="微软雅黑"/>
              </a:rPr>
              <a:t>安全项自动处理：</a:t>
            </a:r>
            <a:r>
              <a:rPr sz="1200">
                <a:latin typeface="微软雅黑"/>
                <a:ea typeface="微软雅黑"/>
                <a:cs typeface="微软雅黑"/>
              </a:rPr>
              <a:t> </a:t>
            </a:r>
            <a:r>
              <a:rPr sz="1200">
                <a:latin typeface="微软雅黑"/>
                <a:ea typeface="微软雅黑"/>
                <a:cs typeface="微软雅黑"/>
              </a:rPr>
              <a:t>仅允许低风险操作自动执行</a:t>
            </a:r>
            <a:endParaRPr sz="12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AA38C69A-873D-4128-B39E-C5FE0B6E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1055" y="4845050"/>
            <a:ext cx="609600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marL="285750" lvl="0" indent="-285750" algn="l">
              <a:buClrTx/>
              <a:buSzTx/>
              <a:buFont typeface="Wingdings"/>
              <a:buChar char="Ø"/>
            </a:pPr>
            <a:r>
              <a:rPr sz="140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rPr>
              <a:t>Workflow</a:t>
            </a:r>
            <a:r>
              <a:rPr sz="140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rPr>
              <a:t>读取所选路线的执行方式</a:t>
            </a:r>
            <a:endParaRPr sz="1400" b="1">
              <a:solidFill>
                <a:srgbClr val="173B70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92051288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7140699-E0F5-47C4-8A67-D14C0029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765" y="382905"/>
            <a:ext cx="11158630" cy="5156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>
                <a:solidFill>
                  <a:schemeClr val="accent5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AI辅助板架创建基础能力</a:t>
            </a:r>
            <a:endParaRPr sz="2800" b="1">
              <a:solidFill>
                <a:schemeClr val="accent5">
                  <a:lumMod val="5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20CFB476-BDB7-4037-A567-54FD7D65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2995" y="6492875"/>
            <a:ext cx="553967" cy="365125"/>
          </a:xfrm>
        </p:spPr>
        <p:txBody>
          <a:bodyPr xmlns:a="http://schemas.openxmlformats.org/drawingml/2006/main"/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endParaRPr sz="1600">
              <a:solidFill>
                <a:schemeClr val="bg1"/>
              </a:solidFill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417D589-AF9D-48CE-9EC2-88D0A95E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62025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877C9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877C9"/>
                </a:solidFill>
                <a:latin typeface="微软雅黑"/>
                <a:ea typeface="微软雅黑"/>
                <a:cs typeface="微软雅黑"/>
              </a:rPr>
              <a:t>两类来源最终都形成板架请求，统一进入</a:t>
            </a:r>
            <a:r>
              <a:rPr sz="1600" b="1">
                <a:solidFill>
                  <a:srgbClr val="0877C9"/>
                </a:solidFill>
                <a:latin typeface="微软雅黑"/>
                <a:ea typeface="微软雅黑"/>
                <a:cs typeface="微软雅黑"/>
              </a:rPr>
              <a:t>AI</a:t>
            </a:r>
            <a:r>
              <a:rPr sz="1600" b="1">
                <a:solidFill>
                  <a:srgbClr val="0877C9"/>
                </a:solidFill>
                <a:latin typeface="微软雅黑"/>
                <a:ea typeface="微软雅黑"/>
                <a:cs typeface="微软雅黑"/>
              </a:rPr>
              <a:t>辅助板架</a:t>
            </a:r>
            <a:endParaRPr sz="1600" b="1">
              <a:solidFill>
                <a:srgbClr val="0877C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0319ACA-9E3F-4FFC-93FB-F70CBCC7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86255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  <a:defRPr sz="135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rPr sz="1200"/>
              <a:t>01 语言理解</a:t>
            </a:r>
            <a:endParaRPr sz="1200"/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E9D3512A-0AEA-4351-BA4F-3713DB49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38680"/>
            <a:ext cx="2428875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EAF5FC"/>
          </a:solidFill>
          <a:ln xmlns:a="http://schemas.openxmlformats.org/drawingml/2006/main" w="16193">
            <a:solidFill>
              <a:srgbClr val="0877C9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marL="171450" lvl="0" indent="-171450" algn="l">
              <a:buClrTx/>
              <a:buSzTx/>
              <a:buFont typeface="Wingdings"/>
              <a:buChar char="Ø"/>
              <a:defRPr sz="114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t>设计人员输入自然语言</a:t>
            </a:r>
            <a:endParaRPr/>
          </a:p>
          <a:p xmlns:a="http://schemas.openxmlformats.org/drawingml/2006/main">
            <a:pPr lvl="0" algn="l">
              <a:buClrTx/>
              <a:buSzTx/>
              <a:buFontTx/>
              <a:buNone/>
              <a:defRPr sz="114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endParaRPr/>
          </a:p>
          <a:p xmlns:a="http://schemas.openxmlformats.org/drawingml/2006/main">
            <a:pPr marL="171450" lvl="0" indent="-171450" algn="l">
              <a:buClrTx/>
              <a:buSzTx/>
              <a:buFont typeface="Wingdings"/>
              <a:buChar char="Ø"/>
              <a:defRPr sz="114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t>LLM提取候选参数</a:t>
            </a:r>
            <a:endParaRPr/>
          </a:p>
          <a:p xmlns:a="http://schemas.openxmlformats.org/drawingml/2006/main">
            <a:pPr lvl="0" algn="l">
              <a:buClrTx/>
              <a:buSzTx/>
              <a:buFontTx/>
              <a:buNone/>
              <a:defRPr sz="114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t>定位面</a:t>
            </a:r>
            <a:endParaRPr/>
          </a:p>
          <a:p xmlns:a="http://schemas.openxmlformats.org/drawingml/2006/main">
            <a:pPr lvl="0" algn="l">
              <a:buClrTx/>
              <a:buSzTx/>
              <a:buFontTx/>
              <a:buNone/>
              <a:defRPr sz="114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t>边界</a:t>
            </a:r>
            <a:endParaRPr/>
          </a:p>
          <a:p xmlns:a="http://schemas.openxmlformats.org/drawingml/2006/main">
            <a:pPr lvl="0" algn="l">
              <a:buClrTx/>
              <a:buSzTx/>
              <a:buFontTx/>
              <a:buNone/>
              <a:defRPr sz="114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t>厚度和材料</a:t>
            </a:r>
            <a:endParaRPr/>
          </a:p>
          <a:p xmlns:a="http://schemas.openxmlformats.org/drawingml/2006/main">
            <a:pPr lvl="0" algn="l">
              <a:buClrTx/>
              <a:buSzTx/>
              <a:buFontTx/>
              <a:buNone/>
              <a:defRPr sz="114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endParaRPr/>
          </a:p>
          <a:p xmlns:a="http://schemas.openxmlformats.org/drawingml/2006/main">
            <a:pPr marL="171450" lvl="0" indent="-171450" algn="l">
              <a:buClrTx/>
              <a:buSzTx/>
              <a:buFont typeface="Wingdings"/>
              <a:buChar char="Ø"/>
              <a:defRPr sz="114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t>输出：候选参数</a:t>
            </a:r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B732D01-F060-4C4E-8103-120E094D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86255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rPr>
              <a:t>02 请求校验</a:t>
            </a:r>
            <a:endParaRPr sz="1350" b="1">
              <a:solidFill>
                <a:srgbClr val="173B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CCF98E88-B019-4392-B154-7F491C42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38680"/>
            <a:ext cx="2428875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EAF5FC"/>
          </a:solidFill>
          <a:ln xmlns:a="http://schemas.openxmlformats.org/drawingml/2006/main" w="16193">
            <a:solidFill>
              <a:srgbClr val="0877C9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4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rPr sz="114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rPr>
              <a:t>Agent检查</a:t>
            </a:r>
            <a:endParaRPr sz="1140" b="1">
              <a:solidFill>
                <a:srgbClr val="173B7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14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endParaRPr sz="1140" b="1">
              <a:solidFill>
                <a:srgbClr val="173B7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171450" indent="-171450" algn="l">
              <a:buFont typeface="Wingdings"/>
              <a:buChar char="Ø"/>
              <a:defRPr sz="114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rPr sz="114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rPr>
              <a:t>缺失字段、参数冲突和边界格式</a:t>
            </a:r>
            <a:endParaRPr sz="1140" b="1">
              <a:solidFill>
                <a:srgbClr val="173B7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</a:pPr>
            <a:endParaRPr sz="1140"/>
          </a:p>
          <a:p xmlns:a="http://schemas.openxmlformats.org/drawingml/2006/main">
            <a:pPr marL="228600" indent="-228600" algn="l">
              <a:buFont typeface="Wingdings"/>
              <a:buChar char="Ø"/>
              <a:defRPr sz="114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rPr sz="114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rPr>
              <a:t>不完整：要求用户补充</a:t>
            </a:r>
            <a:endParaRPr sz="1140" b="1">
              <a:solidFill>
                <a:srgbClr val="173B7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  <a:defRPr sz="114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rPr sz="114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rPr>
              <a:t>通过：形成PanelRequest</a:t>
            </a:r>
            <a:endParaRPr sz="1140" b="1">
              <a:solidFill>
                <a:srgbClr val="173B7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</a:pPr>
            <a:endParaRPr sz="1140"/>
          </a:p>
          <a:p xmlns:a="http://schemas.openxmlformats.org/drawingml/2006/main">
            <a:pPr marL="171450" indent="-171450" algn="l">
              <a:buFont typeface="Wingdings"/>
              <a:buChar char="Ø"/>
              <a:defRPr sz="114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rPr sz="114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rPr>
              <a:t>核心字段</a:t>
            </a:r>
            <a:endParaRPr sz="1140" b="1">
              <a:solidFill>
                <a:srgbClr val="173B7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171450" indent="-171450" algn="l">
              <a:buFont typeface="Arial"/>
              <a:buChar char="•"/>
              <a:defRPr sz="114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rPr sz="114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rPr>
              <a:t>reference_plane</a:t>
            </a:r>
            <a:r>
              <a:rPr sz="114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rPr>
              <a:t>：定位定位面</a:t>
            </a:r>
            <a:endParaRPr sz="1140" b="1">
              <a:solidFill>
                <a:srgbClr val="173B7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171450" indent="-171450" algn="l">
              <a:buFont typeface="Arial"/>
              <a:buChar char="•"/>
              <a:defRPr sz="114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rPr sz="114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rPr>
              <a:t>boundaries</a:t>
            </a:r>
            <a:r>
              <a:rPr sz="114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rPr>
              <a:t>：板架边界</a:t>
            </a:r>
            <a:endParaRPr sz="1140" b="1">
              <a:solidFill>
                <a:srgbClr val="173B7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171450" indent="-171450" algn="l">
              <a:buFont typeface="Arial"/>
              <a:buChar char="•"/>
              <a:defRPr sz="114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rPr sz="114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rPr>
              <a:t>thickness</a:t>
            </a:r>
            <a:r>
              <a:rPr sz="114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rPr>
              <a:t>：厚度</a:t>
            </a:r>
            <a:endParaRPr sz="1140" b="1">
              <a:solidFill>
                <a:srgbClr val="173B7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171450" indent="-171450" algn="l">
              <a:buFont typeface="Arial"/>
              <a:buChar char="•"/>
              <a:defRPr sz="114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rPr sz="114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rPr>
              <a:t>material</a:t>
            </a:r>
            <a:r>
              <a:rPr sz="114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rPr>
              <a:t>：材质</a:t>
            </a:r>
            <a:endParaRPr sz="1140" b="1">
              <a:solidFill>
                <a:srgbClr val="173B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4978078-2095-43B9-9808-F352F54E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786255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rPr>
              <a:t>03 工程查询与分流</a:t>
            </a:r>
            <a:endParaRPr sz="1350" b="1">
              <a:solidFill>
                <a:srgbClr val="173B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64053A85-DE53-40DF-962E-9CA598BE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138680"/>
            <a:ext cx="2428875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EAF5FC"/>
          </a:solidFill>
          <a:ln xmlns:a="http://schemas.openxmlformats.org/drawingml/2006/main" w="16193">
            <a:solidFill>
              <a:srgbClr val="0877C9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4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rPr sz="114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rPr>
              <a:t>工程对象查询（Provider）</a:t>
            </a:r>
            <a:endParaRPr sz="1140" b="1">
              <a:solidFill>
                <a:srgbClr val="173B7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endParaRPr sz="1140"/>
          </a:p>
          <a:p xmlns:a="http://schemas.openxmlformats.org/drawingml/2006/main">
            <a:pPr marL="171450" indent="-171450" algn="l">
              <a:buFont typeface="Wingdings"/>
              <a:buChar char="Ø"/>
              <a:defRPr sz="114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rPr sz="114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rPr>
              <a:t>确认定位面和边界对象是否存在且唯一</a:t>
            </a:r>
            <a:endParaRPr sz="1140" b="1">
              <a:solidFill>
                <a:srgbClr val="173B7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171450" indent="-171450" algn="l">
              <a:buFont typeface="Wingdings"/>
              <a:buChar char="Ø"/>
            </a:pPr>
            <a:endParaRPr sz="1140"/>
          </a:p>
          <a:p xmlns:a="http://schemas.openxmlformats.org/drawingml/2006/main">
            <a:pPr marL="171450" indent="-171450" algn="l">
              <a:buFont typeface="Wingdings"/>
              <a:buChar char="Ø"/>
              <a:defRPr sz="114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rPr sz="114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rPr>
              <a:t>Agent根据结果分流</a:t>
            </a:r>
            <a:endParaRPr sz="1140" b="1">
              <a:solidFill>
                <a:srgbClr val="173B7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indent="0" algn="l">
              <a:buFont typeface="Wingdings"/>
              <a:buNone/>
              <a:defRPr sz="114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rPr sz="114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rPr>
              <a:t>    </a:t>
            </a:r>
            <a:r>
              <a:rPr sz="114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rPr>
              <a:t>继续执行 / 补充信息 / 停止</a:t>
            </a:r>
            <a:endParaRPr sz="1140" b="1">
              <a:solidFill>
                <a:srgbClr val="173B7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171450" indent="-171450" algn="l">
              <a:buFont typeface="Wingdings"/>
              <a:buChar char="Ø"/>
            </a:pPr>
            <a:endParaRPr sz="1140"/>
          </a:p>
          <a:p xmlns:a="http://schemas.openxmlformats.org/drawingml/2006/main">
            <a:pPr marL="171450" indent="-171450" algn="l">
              <a:buFont typeface="Wingdings"/>
              <a:buChar char="Ø"/>
              <a:defRPr sz="114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rPr sz="114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rPr>
              <a:t>Workflow读取执行方式</a:t>
            </a:r>
            <a:endParaRPr sz="1140" b="1">
              <a:solidFill>
                <a:srgbClr val="173B7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indent="0" algn="l">
              <a:buFont typeface="Wingdings"/>
              <a:buNone/>
              <a:defRPr sz="114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rPr sz="114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rPr>
              <a:t>    </a:t>
            </a:r>
            <a:r>
              <a:rPr sz="114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rPr>
              <a:t>自动执行 / 等待确认</a:t>
            </a:r>
            <a:endParaRPr sz="1140" b="1">
              <a:solidFill>
                <a:srgbClr val="173B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C76790CE-D26F-470F-879D-BF12F1B2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86255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185"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  <a:defRPr sz="135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t>04 CAD执行与结果</a:t>
            </a:r>
            <a:endParaRPr/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1116ACBC-3728-4F82-BC43-FDA56803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38680"/>
            <a:ext cx="2714625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EAF5FC"/>
          </a:solidFill>
          <a:ln xmlns:a="http://schemas.openxmlformats.org/drawingml/2006/main" w="16193">
            <a:solidFill>
              <a:srgbClr val="0877C9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  <a:defRPr sz="114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t>CAD Provider</a:t>
            </a:r>
            <a:endParaRPr/>
          </a:p>
          <a:p xmlns:a="http://schemas.openxmlformats.org/drawingml/2006/main">
            <a:pPr lvl="0" algn="ctr">
              <a:buClrTx/>
              <a:buSzTx/>
              <a:buFontTx/>
              <a:buNone/>
              <a:defRPr sz="114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t>转换为CAD工具调用</a:t>
            </a:r>
            <a:endParaRPr/>
          </a:p>
          <a:p xmlns:a="http://schemas.openxmlformats.org/drawingml/2006/main">
            <a:pPr lvl="0" algn="ctr">
              <a:buClrTx/>
              <a:buSzTx/>
              <a:buFontTx/>
              <a:buNone/>
              <a:defRPr sz="114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endParaRPr/>
          </a:p>
          <a:p xmlns:a="http://schemas.openxmlformats.org/drawingml/2006/main">
            <a:pPr lvl="0" algn="ctr">
              <a:buClrTx/>
              <a:buSzTx/>
              <a:buFontTx/>
              <a:buNone/>
              <a:defRPr sz="114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t>MCP通信接口</a:t>
            </a:r>
            <a:endParaRPr/>
          </a:p>
          <a:p xmlns:a="http://schemas.openxmlformats.org/drawingml/2006/main">
            <a:pPr lvl="0" algn="ctr">
              <a:buClrTx/>
              <a:buSzTx/>
              <a:buFontTx/>
              <a:buNone/>
              <a:defRPr sz="114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t>传递请求、结果和错误</a:t>
            </a:r>
            <a:endParaRPr/>
          </a:p>
          <a:p xmlns:a="http://schemas.openxmlformats.org/drawingml/2006/main">
            <a:pPr lvl="0" algn="ctr">
              <a:buClrTx/>
              <a:buSzTx/>
              <a:buFontTx/>
              <a:buNone/>
              <a:defRPr sz="114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endParaRPr/>
          </a:p>
          <a:p xmlns:a="http://schemas.openxmlformats.org/drawingml/2006/main">
            <a:pPr lvl="0" algn="ctr">
              <a:buClrTx/>
              <a:buSzTx/>
              <a:buFontTx/>
              <a:buNone/>
              <a:defRPr sz="114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t>C++ CAD软件</a:t>
            </a:r>
            <a:endParaRPr/>
          </a:p>
          <a:p xmlns:a="http://schemas.openxmlformats.org/drawingml/2006/main">
            <a:pPr lvl="0" algn="ctr">
              <a:buClrTx/>
              <a:buSzTx/>
              <a:buFontTx/>
              <a:buNone/>
              <a:defRPr sz="114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t>完成真实板架创建</a:t>
            </a:r>
            <a:endParaRPr/>
          </a:p>
          <a:p xmlns:a="http://schemas.openxmlformats.org/drawingml/2006/main">
            <a:pPr lvl="0" algn="ctr">
              <a:buClrTx/>
              <a:buSzTx/>
              <a:buFontTx/>
              <a:buNone/>
              <a:defRPr sz="114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endParaRPr/>
          </a:p>
          <a:p xmlns:a="http://schemas.openxmlformats.org/drawingml/2006/main">
            <a:pPr lvl="0" algn="ctr">
              <a:buClrTx/>
              <a:buSzTx/>
              <a:buFontTx/>
              <a:buNone/>
              <a:defRPr sz="114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t>返回CadExecutionResult</a:t>
            </a:r>
            <a:endParaRPr/>
          </a:p>
          <a:p xmlns:a="http://schemas.openxmlformats.org/drawingml/2006/main">
            <a:pPr lvl="0" algn="ctr">
              <a:buClrTx/>
              <a:buSzTx/>
              <a:buFontTx/>
              <a:buNone/>
              <a:defRPr sz="114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t>success / object_id / error_code</a:t>
            </a:r>
            <a:endParaRPr/>
          </a:p>
        </p:txBody>
      </p:sp>
      <p:cxnSp>
        <p:nvCxnSpPr>
          <p:cNvPr id="47" name="直接箭头连接符 32"/>
          <p:cNvCxnSpPr>
            <a:stCxn xmlns:a="http://schemas.openxmlformats.org/drawingml/2006/main" id="10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2952750" y="327215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0877C9"/>
            </a:solidFill>
            <a:prstDash val="solid"/>
            <a:headEnd type="triangle" w="sm" len="sm"/>
          </a:ln>
        </p:spPr>
      </p:cxnSp>
      <p:cxnSp>
        <p:nvCxnSpPr>
          <p:cNvPr id="48" name="直接箭头连接符 33"/>
          <p:cNvCxnSpPr>
            <a:stCxn xmlns:a="http://schemas.openxmlformats.org/drawingml/2006/main" id="12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5762625" y="327215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0877C9"/>
            </a:solidFill>
            <a:prstDash val="solid"/>
            <a:headEnd type="triangle" w="sm" len="sm"/>
          </a:ln>
        </p:spPr>
      </p:cxnSp>
      <p:cxnSp>
        <p:nvCxnSpPr>
          <p:cNvPr id="49" name="直接箭头连接符 34"/>
          <p:cNvCxnSpPr>
            <a:stCxn xmlns:a="http://schemas.openxmlformats.org/drawingml/2006/main" id="14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8572500" y="327215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0877C9"/>
            </a:solidFill>
            <a:prstDash val="solid"/>
            <a:headEnd type="triangle" w="sm" len="sm"/>
          </a:ln>
        </p:spPr>
      </p:cxn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6FF6F93E-6DE7-4E3E-8B80-3BF04FD8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1195" y="5043805"/>
            <a:ext cx="802386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rPr>
              <a:t>职责划分：LLM理解语言，Agent校验和编排，Provider确认工程事实并适配CAD，C++ CAD软件完成最终建模</a:t>
            </a:r>
            <a:endParaRPr sz="1200" b="1">
              <a:solidFill>
                <a:srgbClr val="173B70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3616215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B368C52-DB6C-4D91-949B-57CA56AD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765" y="382905"/>
            <a:ext cx="11158630" cy="5156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>
                <a:solidFill>
                  <a:schemeClr val="accent5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2.4 方案特点与安全边界</a:t>
            </a:r>
            <a:endParaRPr sz="2800" b="1">
              <a:solidFill>
                <a:schemeClr val="accent5">
                  <a:lumMod val="5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625C931B-B458-4565-B0D2-F4DCB665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2995" y="6492875"/>
            <a:ext cx="553967" cy="365125"/>
          </a:xfrm>
        </p:spPr>
        <p:txBody>
          <a:bodyPr xmlns:a="http://schemas.openxmlformats.org/drawingml/2006/main"/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endParaRPr sz="1600">
              <a:solidFill>
                <a:schemeClr val="bg1"/>
              </a:solidFill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1FB8CD24-C229-41CA-9DC6-5FFF8D16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970" y="102044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74B8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1674B8"/>
                </a:solidFill>
                <a:latin typeface="微软雅黑"/>
                <a:ea typeface="微软雅黑"/>
                <a:cs typeface="微软雅黑"/>
              </a:rPr>
              <a:t>同一板架创建能力服务人工需求和错误恢复，但执行条件始终由确定性检查约束</a:t>
            </a:r>
            <a:endParaRPr sz="1600" b="1">
              <a:solidFill>
                <a:srgbClr val="1674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AE74E409-3826-43A7-ADC1-A83E52FE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9639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674B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674B8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2100" b="1">
              <a:solidFill>
                <a:srgbClr val="1674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2720559-E998-4015-96AF-6AB03EF0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7734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5394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05394"/>
                </a:solidFill>
                <a:latin typeface="微软雅黑"/>
                <a:ea typeface="微软雅黑"/>
                <a:cs typeface="微软雅黑"/>
              </a:rPr>
              <a:t>复用创建原子能力</a:t>
            </a:r>
            <a:endParaRPr sz="1500" b="1">
              <a:solidFill>
                <a:srgbClr val="00539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7AB6A85-EF92-4449-AB9B-93813F5F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39290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4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4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人工创建与错误恢复共用 PanelRequest、工程查询、安全检查和CAD接口</a:t>
            </a:r>
            <a:endParaRPr sz="1240" b="0">
              <a:solidFill>
                <a:srgbClr val="3341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2FA4298-6DF0-4353-8D2B-C715BF02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9651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56A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56A00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2100" b="1">
              <a:solidFill>
                <a:srgbClr val="C56A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E254E33-8675-43AE-AE48-F7C9C026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7746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5394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05394"/>
                </a:solidFill>
                <a:latin typeface="微软雅黑"/>
                <a:ea typeface="微软雅黑"/>
                <a:cs typeface="微软雅黑"/>
              </a:rPr>
              <a:t>按工程事实动态分流</a:t>
            </a:r>
            <a:endParaRPr sz="1500" b="1">
              <a:solidFill>
                <a:srgbClr val="00539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F11CB54-7676-46F6-9947-30AAC0C3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39415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4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4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Agent只从规则允许路线中选择，不能把所有错误都改成自动创建</a:t>
            </a:r>
            <a:endParaRPr sz="1240" b="0">
              <a:solidFill>
                <a:srgbClr val="3341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9037EA8-CDA1-46DF-8570-1BB08048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9664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4805E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4805E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2100" b="1">
              <a:solidFill>
                <a:srgbClr val="14805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EAF12F0-BA5C-4987-9C8F-C0527CC3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7759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5394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05394"/>
                </a:solidFill>
                <a:latin typeface="微软雅黑"/>
                <a:ea typeface="微软雅黑"/>
                <a:cs typeface="微软雅黑"/>
              </a:rPr>
              <a:t>父对象优先并复查</a:t>
            </a:r>
            <a:endParaRPr sz="1500" b="1">
              <a:solidFill>
                <a:srgbClr val="00539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8AC6DB0-D7A3-4011-92EC-BFB0923B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39540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4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4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先恢复板架，再重新检查依赖它的肘板和其他子构件</a:t>
            </a:r>
            <a:endParaRPr sz="1240" b="0">
              <a:solidFill>
                <a:srgbClr val="3341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48457C2F-E9E3-4A2C-A3C5-9D5EE96F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9676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B73746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B73746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2100" b="1">
              <a:solidFill>
                <a:srgbClr val="B7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B39B84F-E6E6-43AB-AF4A-064D261F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7771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5394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05394"/>
                </a:solidFill>
                <a:latin typeface="微软雅黑"/>
                <a:ea typeface="微软雅黑"/>
                <a:cs typeface="微软雅黑"/>
              </a:rPr>
              <a:t>异常时保守收口</a:t>
            </a:r>
            <a:endParaRPr sz="1500" b="1">
              <a:solidFill>
                <a:srgbClr val="00539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0B92055-D29E-44BB-B103-98465530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39665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4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4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模型超时或建议越权时，转确认、人工或研发，不继续执行</a:t>
            </a:r>
            <a:endParaRPr sz="1240" b="0">
              <a:solidFill>
                <a:srgbClr val="3341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8A893511-D66F-4003-A58A-2442037E5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28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4FA"/>
          </a:solidFill>
          <a:ln xmlns:a="http://schemas.openxmlformats.org/drawingml/2006/main" w="11430">
            <a:solidFill>
              <a:srgbClr val="1674B8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5394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05394"/>
                </a:solidFill>
                <a:latin typeface="微软雅黑"/>
                <a:ea typeface="微软雅黑"/>
                <a:cs typeface="微软雅黑"/>
              </a:rPr>
              <a:t>安全边界</a:t>
            </a:r>
            <a:endParaRPr sz="1500" b="1">
              <a:solidFill>
                <a:srgbClr val="00539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158619D9-2E12-40DA-824D-3FD97C18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162175"/>
            <a:ext cx="3000375" cy="14141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marL="285750" indent="-2857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 sz="13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LLM不判断真实几何</a:t>
            </a:r>
            <a:endParaRPr sz="1350" b="1">
              <a:solidFill>
                <a:srgbClr val="334155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indent="-2857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 sz="13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对象未找到或有歧义时不执行</a:t>
            </a:r>
            <a:endParaRPr sz="1350" b="1">
              <a:solidFill>
                <a:srgbClr val="334155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indent="-2857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 sz="13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更新操作不能悄悄改为新建</a:t>
            </a:r>
            <a:endParaRPr sz="1350" b="1">
              <a:solidFill>
                <a:srgbClr val="334155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indent="-2857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 sz="13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当前Mock不修改真实CAD</a:t>
            </a:r>
            <a:endParaRPr sz="1350" b="1">
              <a:solidFill>
                <a:srgbClr val="334155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indent="-2857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 sz="13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未验证强度和规范符合性</a:t>
            </a:r>
            <a:endParaRPr sz="1350" b="1">
              <a:solidFill>
                <a:srgbClr val="3341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3AE6E503-71E7-4005-8156-D6DBE613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4970" y="432435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marL="285750" indent="-285750" algn="l">
              <a:buFont typeface="Arial"/>
              <a:buChar char="•"/>
              <a:defRPr sz="1350" b="1">
                <a:solidFill>
                  <a:srgbClr val="B7374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B73746"/>
                </a:solidFill>
                <a:latin typeface="微软雅黑"/>
                <a:ea typeface="微软雅黑"/>
                <a:cs typeface="微软雅黑"/>
              </a:rPr>
              <a:t>Agent选择处理路线</a:t>
            </a:r>
            <a:endParaRPr sz="1350" b="1">
              <a:solidFill>
                <a:srgbClr val="B73746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indent="-285750" algn="l">
              <a:buFont typeface="Arial"/>
              <a:buChar char="•"/>
              <a:defRPr sz="1350" b="1">
                <a:solidFill>
                  <a:srgbClr val="B73746"/>
                </a:solidFill>
                <a:latin typeface="微软雅黑"/>
                <a:ea typeface="微软雅黑"/>
                <a:cs typeface="微软雅黑"/>
              </a:defRPr>
            </a:pPr>
            <a:r>
              <a:t>Agent</a:t>
            </a:r>
            <a:r>
              <a:t>自动调用板架创建接口</a:t>
            </a:r>
            <a:endParaRPr sz="1350" b="1">
              <a:solidFill>
                <a:srgbClr val="B73746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indent="-285750" algn="l">
              <a:buFont typeface="Arial"/>
              <a:buChar char="•"/>
              <a:defRPr sz="1350" b="1">
                <a:solidFill>
                  <a:srgbClr val="B7374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B73746"/>
                </a:solidFill>
                <a:latin typeface="微软雅黑"/>
                <a:ea typeface="微软雅黑"/>
                <a:cs typeface="微软雅黑"/>
              </a:rPr>
              <a:t>C++ CAD软件完成最终建模</a:t>
            </a:r>
            <a:endParaRPr sz="1350" b="1">
              <a:solidFill>
                <a:srgbClr val="B73746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81899624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17283F2-4B75-46F7-BABE-315C1FE7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2054" y="2011362"/>
            <a:ext cx="4692678" cy="283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800" b="1" i="0" u="none" cap="none" spc="0">
                <a:ln>
                  <a:noFill/>
                </a:ln>
                <a:solidFill>
                  <a:srgbClr val="1F4E79"/>
                </a:solidFill>
                <a:latin typeface="黑体"/>
                <a:ea typeface="黑体"/>
                <a:cs typeface="黑体"/>
              </a:rPr>
              <a:t>目录</a:t>
            </a:r>
            <a:endParaRPr sz="2800" b="1" i="0" u="none" kern="1200" cap="none" spc="0" baseline="0">
              <a:ln>
                <a:noFill/>
              </a:ln>
              <a:solidFill>
                <a:srgbClr val="1F4E79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2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ACE8723F-3BC2-457A-9EEA-4E5719F8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2995" y="6492875"/>
            <a:ext cx="553967" cy="365125"/>
          </a:xfrm>
        </p:spPr>
        <p:txBody>
          <a:bodyPr xmlns:a="http://schemas.openxmlformats.org/drawingml/2006/main"/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endParaRPr sz="1600">
              <a:solidFill>
                <a:schemeClr val="bg1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E9DF937-5703-419A-9F90-7266D208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0705" y="1809750"/>
            <a:ext cx="517017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875" b="0">
                <a:solidFill>
                  <a:srgbClr val="243447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chemeClr val="bg1">
                    <a:lumMod val="65000"/>
                  </a:schemeClr>
                </a:solidFill>
                <a:latin typeface="微软雅黑"/>
                <a:ea typeface="微软雅黑"/>
                <a:cs typeface="微软雅黑"/>
              </a:rPr>
              <a:t>1  项目初心与问题演化</a:t>
            </a:r>
            <a:endParaRPr sz="1875" b="0">
              <a:solidFill>
                <a:schemeClr val="bg1">
                  <a:lumMod val="65000"/>
                </a:schemeClr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lnSpc>
                <a:spcPct val="150000"/>
              </a:lnSpc>
              <a:buNone/>
              <a:defRPr sz="1875" b="0">
                <a:solidFill>
                  <a:srgbClr val="243447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chemeClr val="bg1">
                    <a:lumMod val="65000"/>
                  </a:schemeClr>
                </a:solidFill>
                <a:latin typeface="微软雅黑"/>
                <a:ea typeface="微软雅黑"/>
                <a:cs typeface="微软雅黑"/>
              </a:rPr>
              <a:t>2  板架创建与错误治理一体化方案</a:t>
            </a:r>
            <a:endParaRPr sz="1875" b="0">
              <a:solidFill>
                <a:schemeClr val="bg1">
                  <a:lumMod val="65000"/>
                </a:schemeClr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lnSpc>
                <a:spcPct val="150000"/>
              </a:lnSpc>
              <a:buNone/>
              <a:defRPr sz="1875" b="0">
                <a:solidFill>
                  <a:srgbClr val="243447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chemeClr val="bg1">
                    <a:lumMod val="65000"/>
                  </a:schemeClr>
                </a:solidFill>
                <a:latin typeface="微软雅黑"/>
                <a:ea typeface="微软雅黑"/>
                <a:cs typeface="微软雅黑"/>
              </a:rPr>
              <a:t>3  </a:t>
            </a:r>
            <a:r>
              <a:rPr sz="1875" b="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Agent决策、安全边界与双阶段Demo</a:t>
            </a:r>
            <a:endParaRPr sz="1875" b="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lnSpc>
                <a:spcPct val="150000"/>
              </a:lnSpc>
              <a:buNone/>
              <a:defRPr sz="1875" b="0">
                <a:solidFill>
                  <a:srgbClr val="243447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chemeClr val="bg1">
                    <a:lumMod val="65000"/>
                  </a:schemeClr>
                </a:solidFill>
                <a:latin typeface="微软雅黑"/>
                <a:ea typeface="微软雅黑"/>
                <a:cs typeface="微软雅黑"/>
              </a:rPr>
              <a:t>4  阶段效果、不足与公司软件落地</a:t>
            </a:r>
            <a:endParaRPr sz="1875" b="0">
              <a:solidFill>
                <a:schemeClr val="bg1">
                  <a:lumMod val="6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46794899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28CA21A-09DC-4649-A3D7-15F47F94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765" y="382905"/>
            <a:ext cx="11158630" cy="5156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>
                <a:solidFill>
                  <a:schemeClr val="accent5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Agent与CAD软件的连接关系</a:t>
            </a:r>
            <a:endParaRPr sz="2800" b="1">
              <a:solidFill>
                <a:schemeClr val="accent5">
                  <a:lumMod val="5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631037B9-C061-4399-B7B8-5C8B0879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2995" y="6492875"/>
            <a:ext cx="553967" cy="365125"/>
          </a:xfrm>
        </p:spPr>
        <p:txBody>
          <a:bodyPr xmlns:a="http://schemas.openxmlformats.org/drawingml/2006/main"/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endParaRPr sz="1600">
              <a:solidFill>
                <a:schemeClr val="bg1"/>
              </a:solidFill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7013800-0D7D-4653-B219-74938D2F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62025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5" b="1">
                <a:solidFill>
                  <a:srgbClr val="0877C9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877C9"/>
                </a:solidFill>
                <a:latin typeface="微软雅黑"/>
                <a:ea typeface="微软雅黑"/>
                <a:cs typeface="微软雅黑"/>
              </a:rPr>
              <a:t>LLM负责语言理解，Agent负责流程与安全控制，C++ CAD软件负责工程验证和真实建模</a:t>
            </a:r>
            <a:endParaRPr sz="1600" b="1">
              <a:solidFill>
                <a:srgbClr val="0877C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C072F14-5FB0-48CB-8FCB-B2F8B0A5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" y="178689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C56A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6A00"/>
                </a:solidFill>
                <a:latin typeface="微软雅黑"/>
                <a:ea typeface="微软雅黑"/>
                <a:cs typeface="微软雅黑"/>
              </a:rPr>
              <a:t>语言理解能力</a:t>
            </a:r>
            <a:endParaRPr sz="1275" b="1">
              <a:solidFill>
                <a:srgbClr val="C56A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D95A9543-90DD-4645-869F-DBBA4702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140" y="2182178"/>
            <a:ext cx="1980000" cy="14400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5E8"/>
          </a:solidFill>
          <a:ln xmlns:a="http://schemas.openxmlformats.org/drawingml/2006/main" w="14288">
            <a:solidFill>
              <a:srgbClr val="C56A00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5" b="1">
                <a:solidFill>
                  <a:srgbClr val="C56A00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C56A00"/>
                </a:solidFill>
                <a:latin typeface="微软雅黑"/>
                <a:ea typeface="微软雅黑"/>
                <a:cs typeface="微软雅黑"/>
              </a:rPr>
              <a:t>LLM（大语言模型）</a:t>
            </a:r>
            <a:endParaRPr sz="1165" b="1">
              <a:solidFill>
                <a:srgbClr val="C56A0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endParaRPr sz="1165"/>
          </a:p>
          <a:p xmlns:a="http://schemas.openxmlformats.org/drawingml/2006/main">
            <a:pPr algn="ctr">
              <a:buNone/>
              <a:defRPr sz="1165" b="1">
                <a:solidFill>
                  <a:srgbClr val="C56A00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C56A00"/>
                </a:solidFill>
                <a:latin typeface="微软雅黑"/>
                <a:ea typeface="微软雅黑"/>
                <a:cs typeface="微软雅黑"/>
              </a:rPr>
              <a:t>理解用户表达</a:t>
            </a:r>
            <a:endParaRPr sz="1165" b="1">
              <a:solidFill>
                <a:srgbClr val="C56A0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165" b="1">
                <a:solidFill>
                  <a:srgbClr val="C56A00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C56A00"/>
                </a:solidFill>
                <a:latin typeface="微软雅黑"/>
                <a:ea typeface="微软雅黑"/>
                <a:cs typeface="微软雅黑"/>
              </a:rPr>
              <a:t>生成候选参数和路线建议</a:t>
            </a:r>
            <a:endParaRPr sz="1165" b="1">
              <a:solidFill>
                <a:srgbClr val="C56A0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165" b="1">
                <a:solidFill>
                  <a:srgbClr val="C56A00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C56A00"/>
                </a:solidFill>
                <a:latin typeface="微软雅黑"/>
                <a:ea typeface="微软雅黑"/>
                <a:cs typeface="微软雅黑"/>
              </a:rPr>
              <a:t>不确认工程对象</a:t>
            </a:r>
            <a:endParaRPr sz="1165" b="1">
              <a:solidFill>
                <a:srgbClr val="C56A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A5CCEE5-0FD7-4F18-B29E-83BB3BF5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5545" y="178689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3B70"/>
                </a:solidFill>
                <a:latin typeface="微软雅黑"/>
                <a:ea typeface="微软雅黑"/>
                <a:cs typeface="微软雅黑"/>
              </a:rPr>
              <a:t>流程与安全控制</a:t>
            </a:r>
            <a:endParaRPr sz="1275" b="1">
              <a:solidFill>
                <a:srgbClr val="173B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3EDEB239-EEB7-48EB-B268-9EBDFD75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190" y="2182178"/>
            <a:ext cx="1980000" cy="14400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5FC"/>
          </a:solidFill>
          <a:ln xmlns:a="http://schemas.openxmlformats.org/drawingml/2006/main" w="17145">
            <a:solidFill>
              <a:srgbClr val="0877C9"/>
            </a:solidFill>
            <a:prstDash val="solid"/>
          </a:ln>
        </p:spPr>
        <p:txBody>
          <a:bodyPr xmlns:a="http://schemas.openxmlformats.org/drawingml/2006/main" anchor="ctr">
            <a:normAutofit lnSpcReduction="2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5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173B70"/>
                </a:solidFill>
                <a:latin typeface="微软雅黑"/>
                <a:ea typeface="微软雅黑"/>
                <a:cs typeface="微软雅黑"/>
              </a:rPr>
              <a:t>Agent（流程控制中心）</a:t>
            </a:r>
            <a:endParaRPr sz="1165" b="1">
              <a:solidFill>
                <a:srgbClr val="173B7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endParaRPr sz="1165"/>
          </a:p>
          <a:p xmlns:a="http://schemas.openxmlformats.org/drawingml/2006/main"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165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173B70"/>
                </a:solidFill>
                <a:latin typeface="微软雅黑"/>
                <a:ea typeface="微软雅黑"/>
                <a:cs typeface="微软雅黑"/>
              </a:rPr>
              <a:t>管理任务状态</a:t>
            </a:r>
            <a:endParaRPr sz="1165" b="1">
              <a:solidFill>
                <a:srgbClr val="173B7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165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173B70"/>
                </a:solidFill>
                <a:latin typeface="微软雅黑"/>
                <a:ea typeface="微软雅黑"/>
                <a:cs typeface="微软雅黑"/>
              </a:rPr>
              <a:t>调用LLM和工具</a:t>
            </a:r>
            <a:endParaRPr sz="1165" b="1">
              <a:solidFill>
                <a:srgbClr val="173B7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165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173B70"/>
                </a:solidFill>
                <a:latin typeface="微软雅黑"/>
                <a:ea typeface="微软雅黑"/>
                <a:cs typeface="微软雅黑"/>
              </a:rPr>
              <a:t>执行确定性校验</a:t>
            </a:r>
            <a:endParaRPr sz="1165" b="1">
              <a:solidFill>
                <a:srgbClr val="173B7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165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173B70"/>
                </a:solidFill>
                <a:latin typeface="微软雅黑"/>
                <a:ea typeface="微软雅黑"/>
                <a:cs typeface="微软雅黑"/>
              </a:rPr>
              <a:t>在允许路线中选择</a:t>
            </a:r>
            <a:endParaRPr sz="1165" b="1">
              <a:solidFill>
                <a:srgbClr val="173B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75813B4-486D-4963-8AA5-6505AD06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6485" y="178689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3B70"/>
                </a:solidFill>
                <a:latin typeface="微软雅黑"/>
                <a:ea typeface="微软雅黑"/>
                <a:cs typeface="微软雅黑"/>
              </a:rPr>
              <a:t>CAD连接与适配</a:t>
            </a:r>
            <a:endParaRPr sz="1275" b="1">
              <a:solidFill>
                <a:srgbClr val="173B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CF93D930-005B-4D9A-8F65-C1E7CE33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6875" y="2182178"/>
            <a:ext cx="1980000" cy="14400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5FC"/>
          </a:solidFill>
          <a:ln xmlns:a="http://schemas.openxmlformats.org/drawingml/2006/main" w="17145">
            <a:solidFill>
              <a:srgbClr val="0877C9"/>
            </a:solidFill>
            <a:prstDash val="solid"/>
          </a:ln>
        </p:spPr>
        <p:txBody>
          <a:bodyPr xmlns:a="http://schemas.openxmlformats.org/drawingml/2006/main" anchor="ctr">
            <a:normAutofit lnSpcReduction="2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5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173B70"/>
                </a:solidFill>
                <a:latin typeface="微软雅黑"/>
                <a:ea typeface="微软雅黑"/>
                <a:cs typeface="微软雅黑"/>
              </a:rPr>
              <a:t>CAD Provider</a:t>
            </a:r>
            <a:endParaRPr sz="1165" b="1">
              <a:solidFill>
                <a:srgbClr val="173B7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165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173B70"/>
                </a:solidFill>
                <a:latin typeface="微软雅黑"/>
                <a:ea typeface="微软雅黑"/>
                <a:cs typeface="微软雅黑"/>
              </a:rPr>
              <a:t>（CAD连接与适配层）</a:t>
            </a:r>
            <a:endParaRPr sz="1165" b="1">
              <a:solidFill>
                <a:srgbClr val="173B7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endParaRPr sz="1165"/>
          </a:p>
          <a:p xmlns:a="http://schemas.openxmlformats.org/drawingml/2006/main">
            <a:pPr algn="ctr">
              <a:buNone/>
              <a:defRPr sz="1165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173B70"/>
                </a:solidFill>
                <a:latin typeface="微软雅黑"/>
                <a:ea typeface="微软雅黑"/>
                <a:cs typeface="微软雅黑"/>
              </a:rPr>
              <a:t>转换统一请求</a:t>
            </a:r>
            <a:endParaRPr sz="1165" b="1">
              <a:solidFill>
                <a:srgbClr val="173B7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165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173B70"/>
                </a:solidFill>
                <a:latin typeface="微软雅黑"/>
                <a:ea typeface="微软雅黑"/>
                <a:cs typeface="微软雅黑"/>
              </a:rPr>
              <a:t>查询工程对象</a:t>
            </a:r>
            <a:endParaRPr sz="1165" b="1">
              <a:solidFill>
                <a:srgbClr val="173B7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165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173B70"/>
                </a:solidFill>
                <a:latin typeface="微软雅黑"/>
                <a:ea typeface="微软雅黑"/>
                <a:cs typeface="微软雅黑"/>
              </a:rPr>
              <a:t>返回统一格式的结果</a:t>
            </a:r>
            <a:endParaRPr sz="1165" b="1">
              <a:solidFill>
                <a:srgbClr val="173B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1F8D211-A71A-4600-9B88-1D17931A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86890"/>
            <a:ext cx="1190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C56A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6A00"/>
                </a:solidFill>
                <a:latin typeface="微软雅黑"/>
                <a:ea typeface="微软雅黑"/>
                <a:cs typeface="微软雅黑"/>
              </a:rPr>
              <a:t>标准通信</a:t>
            </a:r>
            <a:endParaRPr sz="1275" b="1">
              <a:solidFill>
                <a:srgbClr val="C56A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CB742D03-7DB8-4B16-AAFA-A3C81860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9560" y="2182178"/>
            <a:ext cx="1980000" cy="1440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5E8"/>
          </a:solidFill>
          <a:ln xmlns:a="http://schemas.openxmlformats.org/drawingml/2006/main" w="16193">
            <a:solidFill>
              <a:srgbClr val="C56A00"/>
            </a:solidFill>
            <a:prstDash val="solid"/>
          </a:ln>
        </p:spPr>
        <p:txBody>
          <a:bodyPr xmlns:a="http://schemas.openxmlformats.org/drawingml/2006/main" anchor="ctr">
            <a:normAutofit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C56A00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C56A00"/>
                </a:solidFill>
                <a:latin typeface="微软雅黑"/>
                <a:ea typeface="微软雅黑"/>
                <a:cs typeface="微软雅黑"/>
              </a:rPr>
              <a:t>MCP</a:t>
            </a:r>
            <a:endParaRPr sz="1090" b="1">
              <a:solidFill>
                <a:srgbClr val="C56A0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090" b="1">
                <a:solidFill>
                  <a:srgbClr val="C56A00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C56A00"/>
                </a:solidFill>
                <a:latin typeface="微软雅黑"/>
                <a:ea typeface="微软雅黑"/>
                <a:cs typeface="微软雅黑"/>
              </a:rPr>
              <a:t>模型上下文协议</a:t>
            </a:r>
            <a:endParaRPr sz="1090" b="1">
              <a:solidFill>
                <a:srgbClr val="C56A0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endParaRPr sz="1090"/>
          </a:p>
          <a:p xmlns:a="http://schemas.openxmlformats.org/drawingml/2006/main">
            <a:pPr algn="ctr">
              <a:buNone/>
              <a:defRPr sz="1090" b="1">
                <a:solidFill>
                  <a:srgbClr val="C56A00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C56A00"/>
                </a:solidFill>
                <a:latin typeface="微软雅黑"/>
                <a:ea typeface="微软雅黑"/>
                <a:cs typeface="微软雅黑"/>
              </a:rPr>
              <a:t>传递工具调用</a:t>
            </a:r>
            <a:endParaRPr sz="1090" b="1">
              <a:solidFill>
                <a:srgbClr val="C56A0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090" b="1">
                <a:solidFill>
                  <a:srgbClr val="C56A00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C56A00"/>
                </a:solidFill>
                <a:latin typeface="微软雅黑"/>
                <a:ea typeface="微软雅黑"/>
                <a:cs typeface="微软雅黑"/>
              </a:rPr>
              <a:t>参数、结果和错误</a:t>
            </a:r>
            <a:endParaRPr sz="1090" b="1">
              <a:solidFill>
                <a:srgbClr val="C56A0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090" b="1">
                <a:solidFill>
                  <a:srgbClr val="C56A00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C56A00"/>
                </a:solidFill>
                <a:latin typeface="微软雅黑"/>
                <a:ea typeface="微软雅黑"/>
                <a:cs typeface="微软雅黑"/>
              </a:rPr>
              <a:t>不进行决策</a:t>
            </a:r>
            <a:endParaRPr sz="1090" b="1">
              <a:solidFill>
                <a:srgbClr val="C56A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E01F77F-959E-4535-A54A-4012FD90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975" y="1786890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8885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8885F"/>
                </a:solidFill>
                <a:latin typeface="微软雅黑"/>
                <a:ea typeface="微软雅黑"/>
                <a:cs typeface="微软雅黑"/>
              </a:rPr>
              <a:t>工程事实与执行</a:t>
            </a:r>
            <a:endParaRPr sz="1275" b="1">
              <a:solidFill>
                <a:srgbClr val="1888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E1A94897-9871-48E6-8420-E47E907B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2245" y="2182178"/>
            <a:ext cx="1980000" cy="144000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17145">
            <a:solidFill>
              <a:srgbClr val="18885F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8885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8885F"/>
                </a:solidFill>
                <a:latin typeface="微软雅黑"/>
                <a:ea typeface="微软雅黑"/>
                <a:cs typeface="微软雅黑"/>
              </a:rPr>
              <a:t>C++ CAD软件</a:t>
            </a:r>
            <a:endParaRPr sz="1125" b="1">
              <a:solidFill>
                <a:srgbClr val="18885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endParaRPr sz="1125"/>
          </a:p>
          <a:p xmlns:a="http://schemas.openxmlformats.org/drawingml/2006/main">
            <a:pPr algn="ctr">
              <a:buNone/>
              <a:defRPr sz="1125" b="1">
                <a:solidFill>
                  <a:srgbClr val="18885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8885F"/>
                </a:solidFill>
                <a:latin typeface="微软雅黑"/>
                <a:ea typeface="微软雅黑"/>
                <a:cs typeface="微软雅黑"/>
              </a:rPr>
              <a:t>维护真实工程对象</a:t>
            </a:r>
            <a:endParaRPr sz="1125" b="1">
              <a:solidFill>
                <a:srgbClr val="18885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125" b="1">
                <a:solidFill>
                  <a:srgbClr val="18885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8885F"/>
                </a:solidFill>
                <a:latin typeface="微软雅黑"/>
                <a:ea typeface="微软雅黑"/>
                <a:cs typeface="微软雅黑"/>
              </a:rPr>
              <a:t>验证几何和依赖</a:t>
            </a:r>
            <a:endParaRPr sz="1125" b="1">
              <a:solidFill>
                <a:srgbClr val="18885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125" b="1">
                <a:solidFill>
                  <a:srgbClr val="18885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8885F"/>
                </a:solidFill>
                <a:latin typeface="微软雅黑"/>
                <a:ea typeface="微软雅黑"/>
                <a:cs typeface="微软雅黑"/>
              </a:rPr>
              <a:t>创建或更新板架</a:t>
            </a:r>
            <a:endParaRPr sz="1125" b="1">
              <a:solidFill>
                <a:srgbClr val="18885F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58" name="直接箭头连接符 40"/>
          <p:cNvCxnSpPr>
            <a:stCxn xmlns:a="http://schemas.openxmlformats.org/drawingml/2006/main" id="10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2211070" y="2902585"/>
            <a:ext cx="45339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C56A00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59" name="直接箭头连接符 41"/>
          <p:cNvCxnSpPr>
            <a:stCxn xmlns:a="http://schemas.openxmlformats.org/drawingml/2006/main" id="12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4644390" y="2902585"/>
            <a:ext cx="45275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877C9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60" name="直接箭头连接符 42"/>
          <p:cNvCxnSpPr>
            <a:stCxn xmlns:a="http://schemas.openxmlformats.org/drawingml/2006/main" id="14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7077075" y="2902585"/>
            <a:ext cx="45275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C56A00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61" name="直接箭头连接符 43"/>
          <p:cNvCxnSpPr>
            <a:stCxn xmlns:a="http://schemas.openxmlformats.org/drawingml/2006/main" id="16" idx="1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H="1">
            <a:off x="9509760" y="2902585"/>
            <a:ext cx="45275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8885F"/>
            </a:solidFill>
            <a:prstDash val="solid"/>
            <a:headEnd type="triangle" w="sm" len="sm"/>
            <a:tailEnd type="triangle" w="sm" len="sm"/>
          </a:ln>
        </p:spPr>
      </p:cxn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DDCDB85-2F0F-4D20-A402-4B46316B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8420" y="403479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171450" indent="-171450" algn="l">
              <a:buFont typeface="Wingdings"/>
              <a:buChar char="Ø"/>
              <a:defRPr sz="135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rPr>
              <a:t>责任边界</a:t>
            </a:r>
            <a:endParaRPr sz="1600" b="1">
              <a:solidFill>
                <a:srgbClr val="173B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圆角矩形 25">
            <a:extLst xmlns:a="http://schemas.openxmlformats.org/drawingml/2006/main">
              <a:ext uri="{FF2B5EF4-FFF2-40B4-BE49-F238E27FC236}">
                <a16:creationId xmlns:a16="http://schemas.microsoft.com/office/drawing/2014/main" id="{402FFA60-0146-4559-B719-A787FF99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76925"/>
            <a:ext cx="100488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CEEF0"/>
          </a:solidFill>
          <a:ln xmlns:a="http://schemas.openxmlformats.org/drawingml/2006/main" w="13335">
            <a:solidFill>
              <a:srgbClr val="B73746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B73746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B73746"/>
                </a:solidFill>
                <a:latin typeface="微软雅黑"/>
                <a:ea typeface="微软雅黑"/>
                <a:cs typeface="微软雅黑"/>
              </a:rPr>
              <a:t>当前演示：工程目录、CAD Provider和MCP接口均为Mock，尚未连接真实C++ CAD软件</a:t>
            </a:r>
            <a:endParaRPr sz="1090" b="1">
              <a:solidFill>
                <a:srgbClr val="B7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B6FEF3E3-C9C1-4940-B88D-2BBD51FF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419600"/>
            <a:ext cx="6096000" cy="1060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marL="171450" indent="-171450" algn="l">
              <a:lnSpc>
                <a:spcPct val="150000"/>
              </a:lnSpc>
              <a:buFont typeface="Arial"/>
              <a:buChar char="•"/>
              <a:defRPr sz="120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rPr sz="1400" b="1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  <a:cs typeface="微软雅黑"/>
              </a:rPr>
              <a:t>LLM提供理解能力，Agent掌握流程控制权</a:t>
            </a:r>
            <a:endParaRPr sz="1400" b="1">
              <a:solidFill>
                <a:schemeClr val="accent1">
                  <a:lumMod val="75000"/>
                </a:schemeClr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171450" indent="-171450" algn="l">
              <a:lnSpc>
                <a:spcPct val="150000"/>
              </a:lnSpc>
              <a:buFont typeface="Arial"/>
              <a:buChar char="•"/>
              <a:defRPr sz="120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rPr sz="1400">
                <a:solidFill>
                  <a:schemeClr val="accent1">
                    <a:lumMod val="75000"/>
                  </a:schemeClr>
                </a:solidFill>
              </a:rPr>
              <a:t>Provider隔离CAD接口，MCP统一通信方式</a:t>
            </a:r>
            <a:endParaRPr sz="1400" b="1">
              <a:solidFill>
                <a:schemeClr val="accent1">
                  <a:lumMod val="75000"/>
                </a:schemeClr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171450" indent="-171450" algn="l">
              <a:lnSpc>
                <a:spcPct val="150000"/>
              </a:lnSpc>
              <a:buFont typeface="Arial"/>
              <a:buChar char="•"/>
              <a:defRPr sz="1200" b="1">
                <a:solidFill>
                  <a:srgbClr val="173B70"/>
                </a:solidFill>
                <a:latin typeface="微软雅黑"/>
                <a:ea typeface="微软雅黑"/>
                <a:cs typeface="微软雅黑"/>
              </a:defRPr>
            </a:pPr>
            <a:r>
              <a:rPr sz="1400">
                <a:solidFill>
                  <a:schemeClr val="accent1">
                    <a:lumMod val="75000"/>
                  </a:schemeClr>
                </a:solidFill>
              </a:rPr>
              <a:t>CAD软件确认工程事实并完成最终建模</a:t>
            </a:r>
            <a:endParaRPr sz="1400" b="1">
              <a:solidFill>
                <a:schemeClr val="accent1">
                  <a:lumMod val="7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93667520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A4A1404-CA36-4D88-B9E8-C499192A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765" y="382905"/>
            <a:ext cx="11158630" cy="5156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>
                <a:solidFill>
                  <a:schemeClr val="accent5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工程代码结构：两条流程共用执行底座</a:t>
            </a:r>
            <a:endParaRPr sz="2800" b="1">
              <a:solidFill>
                <a:schemeClr val="accent5">
                  <a:lumMod val="5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7D239C9E-3B08-452C-B872-86C02ADA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2995" y="6492875"/>
            <a:ext cx="553967" cy="365125"/>
          </a:xfrm>
        </p:spPr>
        <p:txBody>
          <a:bodyPr xmlns:a="http://schemas.openxmlformats.org/drawingml/2006/main"/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endParaRPr sz="1600">
              <a:solidFill>
                <a:schemeClr val="bg1"/>
              </a:solidFill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0DB3624-5158-4D69-BCB9-4B0A77CC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620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74B8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1674B8"/>
                </a:solidFill>
                <a:latin typeface="微软雅黑"/>
                <a:ea typeface="微软雅黑"/>
                <a:cs typeface="微软雅黑"/>
              </a:rPr>
              <a:t>错误治理负责发现和分流，板架创建负责参数校验与执行</a:t>
            </a:r>
            <a:endParaRPr sz="1600" b="1">
              <a:solidFill>
                <a:srgbClr val="1674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00FB226B-7AE1-4737-9DF1-756EC6AC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81125"/>
            <a:ext cx="1905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D"/>
          </a:solidFill>
          <a:ln xmlns:a="http://schemas.openxmlformats.org/drawingml/2006/main" w="11430">
            <a:solidFill>
              <a:srgbClr val="9FC6DE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539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05394"/>
                </a:solidFill>
                <a:latin typeface="微软雅黑"/>
                <a:ea typeface="微软雅黑"/>
                <a:cs typeface="微软雅黑"/>
              </a:rPr>
              <a:t>交互入口</a:t>
            </a:r>
            <a:endParaRPr sz="1350" b="1">
              <a:solidFill>
                <a:srgbClr val="00539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F3E56686-AC85-4B9E-AFE8-AF85C581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381125"/>
            <a:ext cx="3714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FC6DE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6345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6345F"/>
                </a:solidFill>
                <a:latin typeface="微软雅黑"/>
                <a:ea typeface="微软雅黑"/>
                <a:cs typeface="微软雅黑"/>
              </a:rPr>
              <a:t>webapp/ · agent/main.py</a:t>
            </a:r>
            <a:endParaRPr sz="1200" b="1">
              <a:solidFill>
                <a:srgbClr val="1634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EA864595-5562-4088-8D3F-C2D8C9F1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381125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4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4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接收治理策略或板架创建需求，展示确认和执行结果</a:t>
            </a:r>
            <a:endParaRPr sz="1240" b="0">
              <a:solidFill>
                <a:srgbClr val="3341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F50ADE32-FDB4-4FA6-A0AF-1623E252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19325"/>
            <a:ext cx="1905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D"/>
          </a:solidFill>
          <a:ln xmlns:a="http://schemas.openxmlformats.org/drawingml/2006/main" w="11430">
            <a:solidFill>
              <a:srgbClr val="9FC6DE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  <a:defRPr sz="1350" b="1">
                <a:solidFill>
                  <a:srgbClr val="005394"/>
                </a:solidFill>
                <a:latin typeface="微软雅黑"/>
                <a:ea typeface="微软雅黑"/>
                <a:cs typeface="微软雅黑"/>
              </a:defRPr>
            </a:pPr>
            <a:r>
              <a:t>错误治理流程</a:t>
            </a:r>
            <a:endParaRPr/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4B0B5FAB-D359-428A-B6CC-FDA2DB34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219325"/>
            <a:ext cx="3714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FC6DE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6345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6345F"/>
                </a:solidFill>
                <a:latin typeface="微软雅黑"/>
                <a:ea typeface="微软雅黑"/>
                <a:cs typeface="微软雅黑"/>
              </a:rPr>
              <a:t>agent/model_error_graph.py</a:t>
            </a:r>
            <a:endParaRPr sz="1200" b="1">
              <a:solidFill>
                <a:srgbClr val="1634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12773E2-7FB7-4EF3-8637-500A15A8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19325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4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4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读取错误快照，形成问题组、允许路线和恢复候选</a:t>
            </a:r>
            <a:endParaRPr sz="1240" b="0">
              <a:solidFill>
                <a:srgbClr val="3341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3E7D4A2F-D149-4298-AFCB-876C0D52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57525"/>
            <a:ext cx="1905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D"/>
          </a:solidFill>
          <a:ln xmlns:a="http://schemas.openxmlformats.org/drawingml/2006/main" w="11430">
            <a:solidFill>
              <a:srgbClr val="9FC6DE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  <a:defRPr sz="1350" b="1">
                <a:solidFill>
                  <a:srgbClr val="005394"/>
                </a:solidFill>
                <a:latin typeface="微软雅黑"/>
                <a:ea typeface="微软雅黑"/>
                <a:cs typeface="微软雅黑"/>
              </a:defRPr>
            </a:pPr>
            <a:r>
              <a:t>板架创建流程</a:t>
            </a:r>
            <a:endParaRPr/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2D0CEBEA-E6E0-4C5E-B401-ADFCEF93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057525"/>
            <a:ext cx="3714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FC6DE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6345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6345F"/>
                </a:solidFill>
                <a:latin typeface="微软雅黑"/>
                <a:ea typeface="微软雅黑"/>
                <a:cs typeface="微软雅黑"/>
              </a:rPr>
              <a:t>agent/graph.py</a:t>
            </a:r>
            <a:endParaRPr sz="1200" b="1">
              <a:solidFill>
                <a:srgbClr val="1634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595883F-4D7B-423D-96A2-7D4B0CBD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57525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4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4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形成 PanelRequest，查询工程对象，经安全检查调用 create_panel</a:t>
            </a:r>
            <a:endParaRPr sz="1240" b="0">
              <a:solidFill>
                <a:srgbClr val="3341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9C3FFE7F-4F69-4741-BE5F-DAF56445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95725"/>
            <a:ext cx="1905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D"/>
          </a:solidFill>
          <a:ln xmlns:a="http://schemas.openxmlformats.org/drawingml/2006/main" w="11430">
            <a:solidFill>
              <a:srgbClr val="9FC6DE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  <a:defRPr sz="1350" b="1">
                <a:solidFill>
                  <a:srgbClr val="005394"/>
                </a:solidFill>
                <a:latin typeface="微软雅黑"/>
                <a:ea typeface="微软雅黑"/>
                <a:cs typeface="微软雅黑"/>
              </a:defRPr>
            </a:pPr>
            <a:r>
              <a:t>共用数据与规则</a:t>
            </a:r>
            <a:endParaRPr/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63B30C4B-C7E7-4DB4-ABF2-20A539E1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895725"/>
            <a:ext cx="3714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FC6DE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6345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6345F"/>
                </a:solidFill>
                <a:latin typeface="微软雅黑"/>
                <a:ea typeface="微软雅黑"/>
                <a:cs typeface="微软雅黑"/>
              </a:rPr>
              <a:t>schemas/ · tools/</a:t>
            </a:r>
            <a:endParaRPr sz="1200" b="1">
              <a:solidFill>
                <a:srgbClr val="1634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DF731836-F7E8-40FF-8C24-2F4E0309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895725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4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4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统一错误、板架、工程对象、决策和执行结果的数据格式</a:t>
            </a:r>
            <a:endParaRPr sz="1240" b="0">
              <a:solidFill>
                <a:srgbClr val="3341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4842CC3D-2BA2-4667-845A-9DEB1878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33925"/>
            <a:ext cx="1905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D"/>
          </a:solidFill>
          <a:ln xmlns:a="http://schemas.openxmlformats.org/drawingml/2006/main" w="11430">
            <a:solidFill>
              <a:srgbClr val="9FC6DE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  <a:defRPr sz="1350" b="1">
                <a:solidFill>
                  <a:srgbClr val="005394"/>
                </a:solidFill>
                <a:latin typeface="微软雅黑"/>
                <a:ea typeface="微软雅黑"/>
                <a:cs typeface="微软雅黑"/>
              </a:defRPr>
            </a:pPr>
            <a:r>
              <a:t>模型与CAD接口</a:t>
            </a:r>
            <a:endParaRPr/>
          </a:p>
        </p:txBody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86962F06-3E2E-48AF-9B9C-9D781755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733925"/>
            <a:ext cx="3714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FC6DE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6345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6345F"/>
                </a:solidFill>
                <a:latin typeface="微软雅黑"/>
                <a:ea typeface="微软雅黑"/>
                <a:cs typeface="微软雅黑"/>
              </a:rPr>
              <a:t>llm/qwen_client.py · CadBackend · MCP</a:t>
            </a:r>
            <a:endParaRPr sz="1200" b="1">
              <a:solidFill>
                <a:srgbClr val="1634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6139D55F-6008-4953-8266-DE296078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733925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4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4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本地Qwen辅助理解，CAD连接层提供工程事实并执行最终操作</a:t>
            </a:r>
            <a:endParaRPr sz="1240" b="0">
              <a:solidFill>
                <a:srgbClr val="3341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BD064EBF-4750-4187-AEEF-44046805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B7374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B73746"/>
                </a:solidFill>
                <a:latin typeface="微软雅黑"/>
                <a:ea typeface="微软雅黑"/>
                <a:cs typeface="微软雅黑"/>
              </a:rPr>
              <a:t>当前衔接状态：</a:t>
            </a:r>
            <a:r>
              <a:rPr sz="1200" b="1">
                <a:solidFill>
                  <a:srgbClr val="B73746"/>
                </a:solidFill>
                <a:latin typeface="微软雅黑"/>
                <a:ea typeface="微软雅黑"/>
                <a:cs typeface="微软雅黑"/>
              </a:rPr>
              <a:t>Mock </a:t>
            </a:r>
            <a:r>
              <a:rPr sz="1200" b="1">
                <a:solidFill>
                  <a:srgbClr val="B73746"/>
                </a:solidFill>
                <a:latin typeface="微软雅黑"/>
                <a:ea typeface="微软雅黑"/>
                <a:cs typeface="微软雅黑"/>
              </a:rPr>
              <a:t>已复用板架创建链；恢复候选自动转换为板架请求仍是下一步开发。</a:t>
            </a:r>
            <a:endParaRPr sz="1200" b="1">
              <a:solidFill>
                <a:srgbClr val="B73746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04311529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2CB844A-A077-4C38-8FE9-9D993378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765" y="382905"/>
            <a:ext cx="11158630" cy="5156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>
                <a:solidFill>
                  <a:schemeClr val="accent5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3 Demo第一段：发现问题并选择处理路线</a:t>
            </a:r>
            <a:endParaRPr sz="2800" b="1">
              <a:solidFill>
                <a:schemeClr val="accent5">
                  <a:lumMod val="5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37CD66EA-4233-45A8-9162-8A8283FE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2995" y="6492875"/>
            <a:ext cx="553967" cy="365125"/>
          </a:xfrm>
        </p:spPr>
        <p:txBody>
          <a:bodyPr xmlns:a="http://schemas.openxmlformats.org/drawingml/2006/main"/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endParaRPr sz="1600">
              <a:solidFill>
                <a:schemeClr val="bg1"/>
              </a:solidFill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22B2CEB-3727-48B7-8BFD-B4AC2905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4945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285750" indent="-285750" algn="l">
              <a:buFont typeface="Wingdings"/>
              <a:buChar char="Ø"/>
              <a:defRPr sz="1200" b="1">
                <a:solidFill>
                  <a:srgbClr val="1674B8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chemeClr val="accent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用户策略模拟</a:t>
            </a:r>
            <a:endParaRPr sz="1600" b="1">
              <a:solidFill>
                <a:schemeClr val="accent1">
                  <a:lumMod val="5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06A7389D-4DCF-4779-A832-9824AD07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4045" y="4444365"/>
            <a:ext cx="56959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9FC6DE"/>
            </a:solidFill>
            <a:prstDash val="solid"/>
          </a:ln>
        </p:spPr>
      </p:sp>
      <p:pic>
        <p:nvPicPr>
          <p:cNvPr id="55" name="图片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5a9d5731974b81"/>
          <a:srcRect xmlns:a="http://schemas.openxmlformats.org/drawingml/2006/main" l="181" t="0" r="1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52145" y="4482465"/>
            <a:ext cx="5619750" cy="1543050"/>
          </a:xfrm>
          <a:prstGeom xmlns:a="http://schemas.openxmlformats.org/drawingml/2006/main" prst="roundRect">
            <a:avLst>
              <a:gd name="adj" fmla="val 3704"/>
            </a:avLst>
          </a:prstGeom>
        </p:spPr>
      </p:pic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D730886-4A68-460B-8A2F-CEE83876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914775"/>
            <a:ext cx="4905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53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05394"/>
                </a:solidFill>
                <a:latin typeface="微软雅黑"/>
                <a:ea typeface="微软雅黑"/>
                <a:cs typeface="微软雅黑"/>
              </a:rPr>
              <a:t>三种策略控制Agent的自动执行范围，以及哪些可恢复任务必须先征得用户确认。 </a:t>
            </a:r>
            <a:endParaRPr sz="1275" b="1">
              <a:solidFill>
                <a:srgbClr val="00539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E381AD60-09AF-486A-AACE-857D2DDF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82465"/>
            <a:ext cx="490537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4805E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7DFF47E-18D9-46C0-BCFB-F34B6DE4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82465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05E"/>
          </a:solidFill>
          <a:ln xmlns:a="http://schemas.openxmlformats.org/drawingml/2006/main" w="0">
            <a:noFill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701FA641-F4A6-4960-906F-C37A6550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52056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4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4805E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4805E"/>
                </a:solidFill>
                <a:latin typeface="微软雅黑"/>
                <a:ea typeface="微软雅黑"/>
                <a:cs typeface="微软雅黑"/>
              </a:rPr>
              <a:t>安全项自动处理</a:t>
            </a:r>
            <a:endParaRPr sz="1200" b="1">
              <a:solidFill>
                <a:srgbClr val="14805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9B880C7-C9EC-4AB3-A19B-0166DE0B2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11040"/>
            <a:ext cx="3105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9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低风险、候选唯一且预检查通过的重算可自动；板架数据更新仍需确认。</a:t>
            </a:r>
            <a:endParaRPr sz="1090" b="0">
              <a:solidFill>
                <a:srgbClr val="3341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EF8056CC-C430-4731-BB53-BF55F6E5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092065"/>
            <a:ext cx="490537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674B8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87728B8A-3A6E-4D9F-9136-9B062573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092065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B8"/>
          </a:solidFill>
          <a:ln xmlns:a="http://schemas.openxmlformats.org/drawingml/2006/main" w="0">
            <a:noFill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25A6F633-1179-41DC-B479-C960DCB0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13016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4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74B8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674B8"/>
                </a:solidFill>
                <a:latin typeface="微软雅黑"/>
                <a:ea typeface="微软雅黑"/>
                <a:cs typeface="微软雅黑"/>
              </a:rPr>
              <a:t>只分析，不修改</a:t>
            </a:r>
            <a:endParaRPr sz="1200" b="1">
              <a:solidFill>
                <a:srgbClr val="1674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CB1E70C2-E9D8-47DB-BEA6-DFAA41C9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120640"/>
            <a:ext cx="3105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9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只生成问题归类、Agent选择和建议，不进入任何修改流程。</a:t>
            </a:r>
            <a:endParaRPr sz="1090" b="0">
              <a:solidFill>
                <a:srgbClr val="3341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E16D2210-8A69-4E48-BEC2-A64A50E9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701665"/>
            <a:ext cx="490537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56A00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7CF3F42-2B55-4316-B63F-BB79FB20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701665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A00"/>
          </a:solidFill>
          <a:ln xmlns:a="http://schemas.openxmlformats.org/drawingml/2006/main" w="0">
            <a:noFill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42822DBD-3B44-41AD-A781-F58BC505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73976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4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56A0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C56A00"/>
                </a:solidFill>
                <a:latin typeface="微软雅黑"/>
                <a:ea typeface="微软雅黑"/>
                <a:cs typeface="微软雅黑"/>
              </a:rPr>
              <a:t>所有修改需确认</a:t>
            </a:r>
            <a:endParaRPr sz="1200" b="1">
              <a:solidFill>
                <a:srgbClr val="C56A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7CE8B964-DC0B-42E8-9DD6-7F00D74C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730240"/>
            <a:ext cx="3105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9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每项可执行修改都先等待确认；人工和软件问题仍不自动处理。</a:t>
            </a:r>
            <a:endParaRPr sz="1090" b="0">
              <a:solidFill>
                <a:srgbClr val="3341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210A6D8E-57BC-45FB-BE5F-1DC32193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1895" y="3926840"/>
            <a:ext cx="553967" cy="365125"/>
          </a:xfrm>
        </p:spPr>
        <p:txBody>
          <a:bodyPr xmlns:a="http://schemas.openxmlformats.org/drawingml/2006/main"/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endParaRPr sz="1600">
              <a:solidFill>
                <a:schemeClr val="bg1"/>
              </a:solidFill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5858B2F9-EDF9-46FD-801A-988BFA17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" y="2762250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A"/>
          </a:solidFill>
          <a:ln xmlns:a="http://schemas.openxmlformats.org/drawingml/2006/main" w="9525">
            <a:solidFill>
              <a:srgbClr val="1674B8"/>
            </a:solidFill>
            <a:prstDash val="solid"/>
          </a:ln>
        </p:spPr>
        <p:txBody>
          <a:bodyPr xmlns:a="http://schemas.openxmlformats.org/drawingml/2006/main" anchor="ctr">
            <a:normAutofit fontScale="7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674B8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674B8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1350" b="1">
              <a:solidFill>
                <a:srgbClr val="1674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BAACD3D0-55C8-4B7A-8AAC-F14A2880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355" y="27622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539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05394"/>
                </a:solidFill>
                <a:latin typeface="微软雅黑"/>
                <a:ea typeface="微软雅黑"/>
                <a:cs typeface="微软雅黑"/>
              </a:rPr>
              <a:t>了解 Mock 场景</a:t>
            </a:r>
            <a:endParaRPr sz="1350" b="1">
              <a:solidFill>
                <a:srgbClr val="00539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8D640630-3862-45A7-B1EE-2A757C80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" y="310515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4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14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展示演示船、版本升级背景、36条Mock错误及能力边界。</a:t>
            </a:r>
            <a:endParaRPr sz="1140" b="0">
              <a:solidFill>
                <a:srgbClr val="3341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CD353FC9-6A14-499D-AE5D-A3BA68BE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230" y="2762250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A"/>
          </a:solidFill>
          <a:ln xmlns:a="http://schemas.openxmlformats.org/drawingml/2006/main" w="9525">
            <a:solidFill>
              <a:srgbClr val="1674B8"/>
            </a:solidFill>
            <a:prstDash val="solid"/>
          </a:ln>
        </p:spPr>
        <p:txBody>
          <a:bodyPr xmlns:a="http://schemas.openxmlformats.org/drawingml/2006/main" anchor="ctr">
            <a:normAutofit fontScale="7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674B8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674B8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1350" b="1">
              <a:solidFill>
                <a:srgbClr val="1674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E3041CFE-2E04-48DA-9517-337DFBCF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5380" y="27622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539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05394"/>
                </a:solidFill>
                <a:latin typeface="微软雅黑"/>
                <a:ea typeface="微软雅黑"/>
                <a:cs typeface="微软雅黑"/>
              </a:rPr>
              <a:t>分析当前工程错误</a:t>
            </a:r>
            <a:endParaRPr sz="1350" b="1">
              <a:solidFill>
                <a:srgbClr val="00539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78359D5E-15AB-4071-9A33-4E7957D1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5330" y="310515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4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14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读取错误</a:t>
            </a:r>
            <a:r>
              <a:rPr sz="114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清单</a:t>
            </a:r>
            <a:r>
              <a:rPr sz="114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，生成问题分组、可选处理方式与Agent选择；不修改</a:t>
            </a:r>
            <a:endParaRPr sz="1140" b="0">
              <a:solidFill>
                <a:srgbClr val="3341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BDC1216F-BD1E-4481-92A2-07B15AC3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6255" y="2762250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A"/>
          </a:solidFill>
          <a:ln xmlns:a="http://schemas.openxmlformats.org/drawingml/2006/main" w="9525">
            <a:solidFill>
              <a:srgbClr val="1674B8"/>
            </a:solidFill>
            <a:prstDash val="solid"/>
          </a:ln>
        </p:spPr>
        <p:txBody>
          <a:bodyPr xmlns:a="http://schemas.openxmlformats.org/drawingml/2006/main" anchor="ctr">
            <a:normAutofit fontScale="7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674B8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674B8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1350" b="1">
              <a:solidFill>
                <a:srgbClr val="1674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622C0348-F04F-4BC1-BBC3-694CC4A6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4405" y="27622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539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05394"/>
                </a:solidFill>
                <a:latin typeface="微软雅黑"/>
                <a:ea typeface="微软雅黑"/>
                <a:cs typeface="微软雅黑"/>
              </a:rPr>
              <a:t>执行可恢复项</a:t>
            </a:r>
            <a:endParaRPr sz="1350" b="1">
              <a:solidFill>
                <a:srgbClr val="00539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02A2E99F-61A3-4F7A-B155-C3989B64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355" y="3105150"/>
            <a:ext cx="3238500" cy="464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4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14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执行低风险重算；</a:t>
            </a:r>
            <a:endParaRPr sz="1140" b="0">
              <a:solidFill>
                <a:srgbClr val="334155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  <a:defRPr sz="114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14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需更新或重建的板架形成恢复候选</a:t>
            </a:r>
            <a:endParaRPr sz="1140" b="0">
              <a:solidFill>
                <a:srgbClr val="3341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圆角矩形 44">
            <a:extLst xmlns:a="http://schemas.openxmlformats.org/drawingml/2006/main">
              <a:ext uri="{FF2B5EF4-FFF2-40B4-BE49-F238E27FC236}">
                <a16:creationId xmlns:a16="http://schemas.microsoft.com/office/drawing/2014/main" id="{E94ACE17-8D76-4036-BD29-7BDD7447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1536065"/>
            <a:ext cx="10972800" cy="105473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9FC6DE"/>
            </a:solidFill>
            <a:prstDash val="solid"/>
          </a:ln>
        </p:spPr>
      </p:sp>
      <p:pic>
        <p:nvPicPr>
          <p:cNvPr id="80" name="图片 4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cea90b40974a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736600" y="1600200"/>
            <a:ext cx="10534650" cy="914400"/>
          </a:xfrm>
          <a:prstGeom xmlns:a="http://schemas.openxmlformats.org/drawingml/2006/main" prst="rect">
            <a:avLst/>
          </a:prstGeom>
        </p:spPr>
      </p:pic>
      <p:sp>
        <p:nvSpPr>
          <p:cNvPr id="47" name="直接连接符 46">
            <a:extLst xmlns:a="http://schemas.openxmlformats.org/drawingml/2006/main">
              <a:ext uri="{FF2B5EF4-FFF2-40B4-BE49-F238E27FC236}">
                <a16:creationId xmlns:a16="http://schemas.microsoft.com/office/drawing/2014/main" id="{3F0C4082-F231-49A7-AC10-AEEE4CF9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365" y="3787140"/>
            <a:ext cx="1161542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86850118-9EB0-438F-A9BD-0B9B5BDC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145" y="1085850"/>
            <a:ext cx="252857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285750" indent="-285750" algn="l">
              <a:buFont typeface="Wingdings"/>
              <a:buChar char="Ø"/>
              <a:defRPr sz="1200" b="1">
                <a:solidFill>
                  <a:srgbClr val="1674B8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chemeClr val="accent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Demo</a:t>
            </a:r>
            <a:r>
              <a:rPr sz="1600" b="1">
                <a:solidFill>
                  <a:schemeClr val="accent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模拟场景简介</a:t>
            </a:r>
            <a:endParaRPr sz="1600" b="1">
              <a:solidFill>
                <a:schemeClr val="accent1">
                  <a:lumMod val="5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61428296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348CDEB-0465-4C18-B7A0-6FC2310E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765" y="382905"/>
            <a:ext cx="11158630" cy="5156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>
                <a:solidFill>
                  <a:schemeClr val="accent5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Demo</a:t>
            </a:r>
            <a:r>
              <a:rPr sz="2800" b="1">
                <a:solidFill>
                  <a:schemeClr val="accent5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：模型错误归并与</a:t>
            </a:r>
            <a:r>
              <a:rPr sz="2800" b="1">
                <a:solidFill>
                  <a:schemeClr val="accent5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Agent</a:t>
            </a:r>
            <a:r>
              <a:rPr sz="2800" b="1">
                <a:solidFill>
                  <a:schemeClr val="accent5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处理决策</a:t>
            </a:r>
            <a:endParaRPr sz="2800" b="1">
              <a:solidFill>
                <a:schemeClr val="accent5">
                  <a:lumMod val="5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EBC7952F-770C-4E4F-B937-C9F68D2C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2995" y="6492875"/>
            <a:ext cx="553967" cy="365125"/>
          </a:xfrm>
        </p:spPr>
        <p:txBody>
          <a:bodyPr xmlns:a="http://schemas.openxmlformats.org/drawingml/2006/main"/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endParaRPr sz="1600">
              <a:solidFill>
                <a:schemeClr val="bg1"/>
              </a:solidFill>
            </a:endParaRPr>
          </a:p>
        </p:txBody>
      </p:sp>
      <p:pic>
        <p:nvPicPr>
          <p:cNvPr id="26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dd43ada66049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2585" y="1728470"/>
            <a:ext cx="11217910" cy="4764405"/>
          </a:xfrm>
          <a:prstGeom xmlns:a="http://schemas.openxmlformats.org/drawingml/2006/main" prst="rect">
            <a:avLst/>
          </a:prstGeom>
        </p:spPr>
      </p:pic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E4366481-7665-47E5-819E-1A413544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045" y="106172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285750" indent="-285750" algn="l">
              <a:buFont typeface="Wingdings"/>
              <a:buChar char="Ø"/>
              <a:defRPr sz="1200" b="1">
                <a:solidFill>
                  <a:srgbClr val="1674B8"/>
                </a:solidFill>
                <a:latin typeface="微软雅黑"/>
                <a:ea typeface="微软雅黑"/>
                <a:cs typeface="微软雅黑"/>
              </a:defRPr>
            </a:pPr>
            <a:endParaRPr sz="1600" b="1">
              <a:solidFill>
                <a:schemeClr val="accent1">
                  <a:lumMod val="5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8AD76960-DED5-488F-9735-390B0E04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933133"/>
            <a:ext cx="5080000" cy="8299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spAutoFit/>
          </a:bodyPr>
          <a:lstStyle xmlns:a="http://schemas.openxmlformats.org/drawingml/2006/main"/>
          <a:p xmlns:a="http://schemas.openxmlformats.org/drawingml/2006/main">
            <a:pPr marL="285750" indent="-285750">
              <a:buFont typeface="Arial"/>
              <a:buChar char="•"/>
            </a:pPr>
            <a:r>
              <a:rPr sz="1200">
                <a:latin typeface="微软雅黑"/>
                <a:ea typeface="微软雅黑"/>
                <a:cs typeface="微软雅黑"/>
              </a:rPr>
              <a:t>每组错误的主要问题是什么？</a:t>
            </a:r>
            <a:endParaRPr sz="1200"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1200">
                <a:latin typeface="微软雅黑"/>
                <a:ea typeface="微软雅黑"/>
                <a:cs typeface="微软雅黑"/>
              </a:rPr>
              <a:t>主要错误对象和受影响对象有哪些？</a:t>
            </a:r>
            <a:endParaRPr sz="1200"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1200">
                <a:latin typeface="微软雅黑"/>
                <a:ea typeface="微软雅黑"/>
                <a:cs typeface="微软雅黑"/>
              </a:rPr>
              <a:t>系统允许采用哪些处理方式？</a:t>
            </a:r>
            <a:endParaRPr sz="1200"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1200">
                <a:latin typeface="微软雅黑"/>
                <a:ea typeface="微软雅黑"/>
                <a:cs typeface="微软雅黑"/>
              </a:rPr>
              <a:t>Agent</a:t>
            </a:r>
            <a:r>
              <a:rPr sz="1200">
                <a:latin typeface="微软雅黑"/>
                <a:ea typeface="微软雅黑"/>
                <a:cs typeface="微软雅黑"/>
              </a:rPr>
              <a:t>最终选择了什么方案，当前处于什么状态？</a:t>
            </a:r>
            <a:endParaRPr sz="1200"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16268421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8442C1E-6D24-48A8-844A-5F0DD083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765" y="382905"/>
            <a:ext cx="11158630" cy="5156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>
                <a:solidFill>
                  <a:schemeClr val="accent5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Demo第二段：可恢复板架进入创建链</a:t>
            </a:r>
            <a:endParaRPr sz="2800" b="1">
              <a:solidFill>
                <a:schemeClr val="accent5">
                  <a:lumMod val="5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22D7272A-2CBD-4D51-ADA8-E2EC9F9A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2995" y="6492875"/>
            <a:ext cx="553967" cy="365125"/>
          </a:xfrm>
        </p:spPr>
        <p:txBody>
          <a:bodyPr xmlns:a="http://schemas.openxmlformats.org/drawingml/2006/main"/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endParaRPr sz="1600">
              <a:solidFill>
                <a:schemeClr val="bg1"/>
              </a:solidFill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6B2F878-7AC5-4B52-9D5A-041FF227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8615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74B8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674B8"/>
                </a:solidFill>
                <a:latin typeface="微软雅黑"/>
                <a:ea typeface="微软雅黑"/>
                <a:cs typeface="微软雅黑"/>
              </a:rPr>
              <a:t>将修正</a:t>
            </a:r>
            <a:r>
              <a:rPr sz="1200" b="1">
                <a:solidFill>
                  <a:srgbClr val="1674B8"/>
                </a:solidFill>
                <a:latin typeface="微软雅黑"/>
                <a:ea typeface="微软雅黑"/>
                <a:cs typeface="微软雅黑"/>
              </a:rPr>
              <a:t>错误板架与原有板架创建能力串联起来</a:t>
            </a:r>
            <a:endParaRPr sz="1200" b="1">
              <a:solidFill>
                <a:srgbClr val="1674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F1956144-AA86-40C8-862F-D24362F4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743075"/>
            <a:ext cx="1714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4FA"/>
          </a:solidFill>
          <a:ln xmlns:a="http://schemas.openxmlformats.org/drawingml/2006/main" w="11430">
            <a:solidFill>
              <a:srgbClr val="1674B8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  <a:defRPr sz="1275" b="1">
                <a:solidFill>
                  <a:srgbClr val="005394"/>
                </a:solidFill>
                <a:latin typeface="微软雅黑"/>
                <a:ea typeface="微软雅黑"/>
                <a:cs typeface="微软雅黑"/>
              </a:defRPr>
            </a:pPr>
            <a:r>
              <a:t>错误组</a:t>
            </a:r>
            <a:endParaRPr/>
          </a:p>
          <a:p xmlns:a="http://schemas.openxmlformats.org/drawingml/2006/main">
            <a:pPr lvl="0" algn="ctr">
              <a:buClrTx/>
              <a:buSzTx/>
              <a:buFontTx/>
              <a:buNone/>
              <a:defRPr sz="1275" b="1">
                <a:solidFill>
                  <a:srgbClr val="005394"/>
                </a:solidFill>
                <a:latin typeface="微软雅黑"/>
                <a:ea typeface="微软雅黑"/>
                <a:cs typeface="微软雅黑"/>
              </a:defRPr>
            </a:pPr>
            <a:r>
              <a:t>GROUP-A / B</a:t>
            </a:r>
            <a:endParaRPr/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8BBCA95C-7527-4E79-A69B-E1FCD414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1743075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4FA"/>
          </a:solidFill>
          <a:ln xmlns:a="http://schemas.openxmlformats.org/drawingml/2006/main" w="11430">
            <a:solidFill>
              <a:srgbClr val="1674B8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  <a:defRPr sz="1275" b="1">
                <a:solidFill>
                  <a:srgbClr val="005394"/>
                </a:solidFill>
                <a:latin typeface="微软雅黑"/>
                <a:ea typeface="微软雅黑"/>
                <a:cs typeface="微软雅黑"/>
              </a:defRPr>
            </a:pPr>
            <a:r>
              <a:t>锁定板架ID</a:t>
            </a:r>
            <a:endParaRPr/>
          </a:p>
          <a:p xmlns:a="http://schemas.openxmlformats.org/drawingml/2006/main">
            <a:pPr lvl="0" algn="ctr">
              <a:buClrTx/>
              <a:buSzTx/>
              <a:buFontTx/>
              <a:buNone/>
              <a:defRPr sz="1275" b="1">
                <a:solidFill>
                  <a:srgbClr val="005394"/>
                </a:solidFill>
                <a:latin typeface="微软雅黑"/>
                <a:ea typeface="微软雅黑"/>
                <a:cs typeface="微软雅黑"/>
              </a:defRPr>
            </a:pPr>
            <a:r>
              <a:t>读取CAD候选</a:t>
            </a:r>
            <a:endParaRPr/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D77789FD-4C1D-4DFE-A68A-F995A7B3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743075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4FA"/>
          </a:solidFill>
          <a:ln xmlns:a="http://schemas.openxmlformats.org/drawingml/2006/main" w="11430">
            <a:solidFill>
              <a:srgbClr val="1674B8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  <a:defRPr sz="1275" b="1">
                <a:solidFill>
                  <a:srgbClr val="005394"/>
                </a:solidFill>
                <a:latin typeface="微软雅黑"/>
                <a:ea typeface="微软雅黑"/>
                <a:cs typeface="微软雅黑"/>
              </a:defRPr>
            </a:pPr>
            <a:r>
              <a:t>RepairCandidate</a:t>
            </a:r>
            <a:endParaRPr/>
          </a:p>
          <a:p xmlns:a="http://schemas.openxmlformats.org/drawingml/2006/main">
            <a:pPr lvl="0" algn="ctr">
              <a:buClrTx/>
              <a:buSzTx/>
              <a:buFontTx/>
              <a:buNone/>
              <a:defRPr sz="1275" b="1">
                <a:solidFill>
                  <a:srgbClr val="005394"/>
                </a:solidFill>
                <a:latin typeface="微软雅黑"/>
                <a:ea typeface="微软雅黑"/>
                <a:cs typeface="微软雅黑"/>
              </a:defRPr>
            </a:pPr>
            <a:r>
              <a:t>恢复候选</a:t>
            </a:r>
            <a:endParaRPr/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35E9CC15-2A05-4029-AC0B-744E2D68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743075"/>
            <a:ext cx="19526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4FA"/>
          </a:solidFill>
          <a:ln xmlns:a="http://schemas.openxmlformats.org/drawingml/2006/main" w="11430">
            <a:solidFill>
              <a:srgbClr val="1674B8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  <a:defRPr sz="1275" b="1">
                <a:solidFill>
                  <a:srgbClr val="005394"/>
                </a:solidFill>
                <a:latin typeface="微软雅黑"/>
                <a:ea typeface="微软雅黑"/>
                <a:cs typeface="微软雅黑"/>
              </a:defRPr>
            </a:pPr>
            <a:r>
              <a:t>候选 PanelRequest</a:t>
            </a:r>
            <a:endParaRPr/>
          </a:p>
          <a:p xmlns:a="http://schemas.openxmlformats.org/drawingml/2006/main">
            <a:pPr lvl="0" algn="ctr">
              <a:buClrTx/>
              <a:buSzTx/>
              <a:buFontTx/>
              <a:buNone/>
              <a:defRPr sz="1275" b="1">
                <a:solidFill>
                  <a:srgbClr val="005394"/>
                </a:solidFill>
                <a:latin typeface="微软雅黑"/>
                <a:ea typeface="微软雅黑"/>
                <a:cs typeface="微软雅黑"/>
              </a:defRPr>
            </a:pPr>
            <a:r>
              <a:t>进入创建LangGraph</a:t>
            </a:r>
            <a:endParaRPr/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4D2955D9-6813-4710-9230-7B83C1AD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743075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4FA"/>
          </a:solidFill>
          <a:ln xmlns:a="http://schemas.openxmlformats.org/drawingml/2006/main" w="11430">
            <a:solidFill>
              <a:srgbClr val="1674B8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  <a:defRPr sz="1275" b="1">
                <a:solidFill>
                  <a:srgbClr val="005394"/>
                </a:solidFill>
                <a:latin typeface="微软雅黑"/>
                <a:ea typeface="微软雅黑"/>
                <a:cs typeface="微软雅黑"/>
              </a:defRPr>
            </a:pPr>
            <a:r>
              <a:t>Safety Gate</a:t>
            </a:r>
            <a:endParaRPr/>
          </a:p>
          <a:p xmlns:a="http://schemas.openxmlformats.org/drawingml/2006/main">
            <a:pPr lvl="0" algn="ctr">
              <a:buClrTx/>
              <a:buSzTx/>
              <a:buFontTx/>
              <a:buNone/>
              <a:defRPr sz="1275" b="1">
                <a:solidFill>
                  <a:srgbClr val="005394"/>
                </a:solidFill>
                <a:latin typeface="微软雅黑"/>
                <a:ea typeface="微软雅黑"/>
                <a:cs typeface="微软雅黑"/>
              </a:defRPr>
            </a:pPr>
            <a:r>
              <a:t>Mock执行与复查</a:t>
            </a:r>
            <a:endParaRPr/>
          </a:p>
        </p:txBody>
      </p:sp>
      <p:cxnSp>
        <p:nvCxnSpPr>
          <p:cNvPr id="53" name="直接箭头连接符 38"/>
          <p:cNvCxnSpPr>
            <a:stCxn xmlns:a="http://schemas.openxmlformats.org/drawingml/2006/main" id="7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2219325" y="20764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674B8"/>
            </a:solidFill>
            <a:prstDash val="solid"/>
          </a:ln>
        </p:spPr>
      </p:cxnSp>
      <p:cxnSp>
        <p:nvCxnSpPr>
          <p:cNvPr id="54" name="直接箭头连接符 39"/>
          <p:cNvCxnSpPr>
            <a:stCxn xmlns:a="http://schemas.openxmlformats.org/drawingml/2006/main" id="8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4505325" y="20764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674B8"/>
            </a:solidFill>
            <a:prstDash val="solid"/>
          </a:ln>
        </p:spPr>
      </p:cxnSp>
      <p:cxnSp>
        <p:nvCxnSpPr>
          <p:cNvPr id="55" name="直接箭头连接符 40"/>
          <p:cNvCxnSpPr>
            <a:stCxn xmlns:a="http://schemas.openxmlformats.org/drawingml/2006/main" id="9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6791325" y="20764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674B8"/>
            </a:solidFill>
            <a:prstDash val="solid"/>
          </a:ln>
        </p:spPr>
      </p:cxnSp>
      <p:cxnSp>
        <p:nvCxnSpPr>
          <p:cNvPr id="56" name="直接箭头连接符 41"/>
          <p:cNvCxnSpPr>
            <a:stCxn xmlns:a="http://schemas.openxmlformats.org/drawingml/2006/main" id="10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9220200" y="20764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674B8"/>
            </a:solidFill>
            <a:prstDash val="solid"/>
          </a:ln>
        </p:spPr>
      </p:cxn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A9929A1-C465-46F8-B9BC-429ACE81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03022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C56A0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C56A00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1650" b="1">
              <a:solidFill>
                <a:srgbClr val="C56A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4C7BA160-3A55-47E7-94E8-B34D1AAC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30220"/>
            <a:ext cx="481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5394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05394"/>
                </a:solidFill>
                <a:latin typeface="微软雅黑"/>
                <a:ea typeface="微软雅黑"/>
                <a:cs typeface="微软雅黑"/>
              </a:rPr>
              <a:t>板架自动更新说明</a:t>
            </a:r>
            <a:endParaRPr sz="1500" b="1">
              <a:solidFill>
                <a:srgbClr val="00539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F31F9B1A-9F4D-4909-90C3-EC44F6312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392170"/>
            <a:ext cx="5410200" cy="1647825"/>
          </a:xfrm>
          <a:prstGeom xmlns:a="http://schemas.openxmlformats.org/drawingml/2006/main" prst="roundRect">
            <a:avLst>
              <a:gd name="adj" fmla="val 46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9FC6DE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83257204-32B7-40BB-B889-0DC4A904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068570"/>
            <a:ext cx="5257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展示错误对象、CAD候选、重算或更新判断，以及父板架恢复后的关联复查。</a:t>
            </a:r>
            <a:endParaRPr sz="1125" b="0">
              <a:solidFill>
                <a:srgbClr val="3341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F33FDDC0-DD7A-4352-B1AA-30112098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03022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4805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4805E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1650" b="1">
              <a:solidFill>
                <a:srgbClr val="14805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EB9AE434-F23F-4700-9CA7-FE57C4AE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30220"/>
            <a:ext cx="4714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5394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05394"/>
                </a:solidFill>
                <a:latin typeface="微软雅黑"/>
                <a:ea typeface="微软雅黑"/>
                <a:cs typeface="微软雅黑"/>
              </a:rPr>
              <a:t>复用原板架创建执行链</a:t>
            </a:r>
            <a:endParaRPr sz="1500" b="1">
              <a:solidFill>
                <a:srgbClr val="00539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圆角矩形 21">
            <a:extLst xmlns:a="http://schemas.openxmlformats.org/drawingml/2006/main">
              <a:ext uri="{FF2B5EF4-FFF2-40B4-BE49-F238E27FC236}">
                <a16:creationId xmlns:a16="http://schemas.microsoft.com/office/drawing/2014/main" id="{8769E7A0-7A5E-448A-B617-0C4F5096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326130"/>
            <a:ext cx="5314950" cy="206629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9FC6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4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bc507285c44d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810" y="3477895"/>
            <a:ext cx="5339715" cy="1058545"/>
          </a:xfrm>
          <a:prstGeom xmlns:a="http://schemas.openxmlformats.org/drawingml/2006/main" prst="rect">
            <a:avLst/>
          </a:prstGeom>
        </p:spPr>
      </p:pic>
      <p:pic>
        <p:nvPicPr>
          <p:cNvPr id="65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aa14e6c70440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4150" y="3400425"/>
            <a:ext cx="4819650" cy="188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65045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C0EB1DC-36B7-401A-ABDA-77E71250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765" y="382905"/>
            <a:ext cx="11158630" cy="5156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>
                <a:solidFill>
                  <a:schemeClr val="accent5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Demo第二段：可恢复板架进入创建链</a:t>
            </a:r>
            <a:endParaRPr sz="2800" b="1">
              <a:solidFill>
                <a:schemeClr val="accent5">
                  <a:lumMod val="5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FE520DFC-D9E4-4C39-A692-CC0EEF25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2995" y="6492875"/>
            <a:ext cx="553967" cy="365125"/>
          </a:xfrm>
        </p:spPr>
        <p:txBody>
          <a:bodyPr xmlns:a="http://schemas.openxmlformats.org/drawingml/2006/main"/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endParaRPr sz="1600">
              <a:solidFill>
                <a:schemeClr val="bg1"/>
              </a:solidFill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48FCCFE4-4589-462D-AB17-1D7E5BF2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14744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674B8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674B8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1650" b="1">
              <a:solidFill>
                <a:srgbClr val="1674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5C6CB3AF-98BB-4D3E-9131-39B62889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47445"/>
            <a:ext cx="4714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5394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05394"/>
                </a:solidFill>
                <a:latin typeface="微软雅黑"/>
                <a:ea typeface="微软雅黑"/>
                <a:cs typeface="微软雅黑"/>
              </a:rPr>
              <a:t>结构化 PanelRequest</a:t>
            </a:r>
            <a:endParaRPr sz="1500" b="1">
              <a:solidFill>
                <a:srgbClr val="00539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80AF2EDC-1CB3-46AF-BB13-C30442FA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776855"/>
            <a:ext cx="5257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40" b="1">
                <a:solidFill>
                  <a:srgbClr val="005394"/>
                </a:solidFill>
                <a:latin typeface="微软雅黑"/>
                <a:ea typeface="微软雅黑"/>
                <a:cs typeface="微软雅黑"/>
              </a:defRPr>
            </a:pPr>
            <a:endParaRPr sz="1240" b="1">
              <a:solidFill>
                <a:srgbClr val="00539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06E828CD-3D17-4CD0-A825-4251B2FD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9395"/>
            <a:ext cx="6096000" cy="2813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40" b="1">
                <a:solidFill>
                  <a:srgbClr val="005394"/>
                </a:solidFill>
                <a:latin typeface="微软雅黑"/>
                <a:ea typeface="微软雅黑"/>
                <a:cs typeface="微软雅黑"/>
              </a:defRPr>
            </a:pPr>
            <a:r>
              <a:rPr sz="1240" b="1">
                <a:solidFill>
                  <a:srgbClr val="005394"/>
                </a:solidFill>
                <a:latin typeface="微软雅黑"/>
                <a:ea typeface="微软雅黑"/>
                <a:cs typeface="微软雅黑"/>
              </a:rPr>
              <a:t>示例解析为 FR100、14mm、AH36、&gt;SL10 和 &lt;LV5，并通过Mock对象匹配。</a:t>
            </a:r>
            <a:endParaRPr sz="1240" b="1">
              <a:solidFill>
                <a:srgbClr val="005394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38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ea67e108d346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7675" y="2041525"/>
            <a:ext cx="7172325" cy="3702050"/>
          </a:xfrm>
          <a:prstGeom xmlns:a="http://schemas.openxmlformats.org/drawingml/2006/main" prst="rect">
            <a:avLst/>
          </a:prstGeom>
        </p:spPr>
      </p:pic>
      <p:pic>
        <p:nvPicPr>
          <p:cNvPr id="39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b39905c12846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76515" y="2625090"/>
            <a:ext cx="4191635" cy="24561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11050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EA655717-4DBD-49CC-80D8-B53FD83C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2054" y="2011362"/>
            <a:ext cx="4692678" cy="283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800" b="1" i="0" u="none" cap="none" spc="0">
                <a:ln>
                  <a:noFill/>
                </a:ln>
                <a:solidFill>
                  <a:srgbClr val="1F4E79"/>
                </a:solidFill>
                <a:latin typeface="黑体"/>
                <a:ea typeface="黑体"/>
                <a:cs typeface="黑体"/>
              </a:rPr>
              <a:t>目录</a:t>
            </a:r>
            <a:endParaRPr sz="2800" b="1" i="0" u="none" kern="1200" cap="none" spc="0" baseline="0">
              <a:ln>
                <a:noFill/>
              </a:ln>
              <a:solidFill>
                <a:srgbClr val="1F4E79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2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4302E364-9DE8-4308-BB44-CD07C3AD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2995" y="6492875"/>
            <a:ext cx="553967" cy="365125"/>
          </a:xfrm>
        </p:spPr>
        <p:txBody>
          <a:bodyPr xmlns:a="http://schemas.openxmlformats.org/drawingml/2006/main"/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endParaRPr sz="1600">
              <a:solidFill>
                <a:schemeClr val="bg1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DACD18A-9EBF-4E75-A468-9B1D7EDA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0705" y="1809750"/>
            <a:ext cx="517017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875" b="0">
                <a:solidFill>
                  <a:srgbClr val="243447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chemeClr val="bg1">
                    <a:lumMod val="65000"/>
                  </a:schemeClr>
                </a:solidFill>
                <a:latin typeface="微软雅黑"/>
                <a:ea typeface="微软雅黑"/>
                <a:cs typeface="微软雅黑"/>
              </a:rPr>
              <a:t>1  项目初心与问题演化</a:t>
            </a:r>
            <a:endParaRPr sz="1875" b="0">
              <a:solidFill>
                <a:schemeClr val="bg1">
                  <a:lumMod val="65000"/>
                </a:schemeClr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lnSpc>
                <a:spcPct val="150000"/>
              </a:lnSpc>
              <a:buNone/>
              <a:defRPr sz="1875" b="0">
                <a:solidFill>
                  <a:srgbClr val="243447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chemeClr val="bg1">
                    <a:lumMod val="65000"/>
                  </a:schemeClr>
                </a:solidFill>
                <a:latin typeface="微软雅黑"/>
                <a:ea typeface="微软雅黑"/>
                <a:cs typeface="微软雅黑"/>
              </a:rPr>
              <a:t>2  板架创建与错误治理一体化方案</a:t>
            </a:r>
            <a:endParaRPr sz="1875" b="0">
              <a:solidFill>
                <a:schemeClr val="bg1">
                  <a:lumMod val="65000"/>
                </a:schemeClr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lnSpc>
                <a:spcPct val="150000"/>
              </a:lnSpc>
              <a:buNone/>
              <a:defRPr sz="1875" b="0">
                <a:solidFill>
                  <a:srgbClr val="243447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chemeClr val="bg1">
                    <a:lumMod val="75000"/>
                  </a:schemeClr>
                </a:solidFill>
                <a:latin typeface="微软雅黑"/>
                <a:ea typeface="微软雅黑"/>
                <a:cs typeface="微软雅黑"/>
              </a:rPr>
              <a:t>3  Agent决策、安全边界与双阶段Demo</a:t>
            </a:r>
            <a:endParaRPr sz="1875" b="0">
              <a:solidFill>
                <a:schemeClr val="bg1">
                  <a:lumMod val="75000"/>
                </a:schemeClr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lnSpc>
                <a:spcPct val="150000"/>
              </a:lnSpc>
              <a:buNone/>
              <a:defRPr sz="1875" b="0">
                <a:solidFill>
                  <a:srgbClr val="243447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4  阶段效果、不足与公司软件落地</a:t>
            </a:r>
            <a:endParaRPr sz="1875" b="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019272597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E55C206-8C43-455C-9582-FF96EB7A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765" y="382905"/>
            <a:ext cx="11158630" cy="5156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>
                <a:solidFill>
                  <a:schemeClr val="accent5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方案总结</a:t>
            </a:r>
            <a:endParaRPr sz="2800" b="1">
              <a:solidFill>
                <a:schemeClr val="accent5">
                  <a:lumMod val="5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92E96210-62F8-46FE-8182-E99D6AD5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2995" y="6492875"/>
            <a:ext cx="553967" cy="365125"/>
          </a:xfrm>
        </p:spPr>
        <p:txBody>
          <a:bodyPr xmlns:a="http://schemas.openxmlformats.org/drawingml/2006/main"/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endParaRPr sz="1600">
              <a:solidFill>
                <a:schemeClr val="bg1"/>
              </a:solidFill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5CC3CFCC-44EF-415B-B105-97211E02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" y="1694180"/>
            <a:ext cx="5327015" cy="16395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200">
                <a:latin typeface="微软雅黑"/>
                <a:ea typeface="微软雅黑"/>
                <a:cs typeface="微软雅黑"/>
              </a:rPr>
              <a:t>建立“自然语言 </a:t>
            </a:r>
            <a:r>
              <a:rPr sz="1200">
                <a:latin typeface="微软雅黑"/>
                <a:ea typeface="微软雅黑"/>
                <a:cs typeface="微软雅黑"/>
              </a:rPr>
              <a:t>→ </a:t>
            </a:r>
            <a:r>
              <a:rPr sz="1200">
                <a:latin typeface="微软雅黑"/>
                <a:ea typeface="微软雅黑"/>
                <a:cs typeface="微软雅黑"/>
              </a:rPr>
              <a:t>板架参数提取 </a:t>
            </a:r>
            <a:r>
              <a:rPr sz="1200">
                <a:latin typeface="微软雅黑"/>
                <a:ea typeface="微软雅黑"/>
                <a:cs typeface="微软雅黑"/>
              </a:rPr>
              <a:t>→ PanelRequest → </a:t>
            </a:r>
            <a:r>
              <a:rPr sz="1200">
                <a:latin typeface="微软雅黑"/>
                <a:ea typeface="微软雅黑"/>
                <a:cs typeface="微软雅黑"/>
              </a:rPr>
              <a:t>工程对象查询 </a:t>
            </a:r>
            <a:r>
              <a:rPr sz="1200">
                <a:latin typeface="微软雅黑"/>
                <a:ea typeface="微软雅黑"/>
                <a:cs typeface="微软雅黑"/>
              </a:rPr>
              <a:t>→ CAD</a:t>
            </a:r>
            <a:r>
              <a:rPr sz="1200">
                <a:latin typeface="微软雅黑"/>
                <a:ea typeface="微软雅黑"/>
                <a:cs typeface="微软雅黑"/>
              </a:rPr>
              <a:t>调用”的板架创建基础能力。</a:t>
            </a:r>
            <a:endParaRPr sz="1200"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200">
                <a:latin typeface="微软雅黑"/>
                <a:ea typeface="微软雅黑"/>
                <a:cs typeface="微软雅黑"/>
              </a:rPr>
              <a:t>读取</a:t>
            </a:r>
            <a:r>
              <a:rPr sz="1200">
                <a:latin typeface="微软雅黑"/>
                <a:ea typeface="微软雅黑"/>
                <a:cs typeface="微软雅黑"/>
              </a:rPr>
              <a:t>CAD</a:t>
            </a:r>
            <a:r>
              <a:rPr sz="1200">
                <a:latin typeface="微软雅黑"/>
                <a:ea typeface="微软雅黑"/>
                <a:cs typeface="微软雅黑"/>
              </a:rPr>
              <a:t>错误快照，识别主要错误对象、关联错误和受影响对象。</a:t>
            </a:r>
            <a:endParaRPr sz="1200"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200">
                <a:latin typeface="微软雅黑"/>
                <a:ea typeface="微软雅黑"/>
                <a:cs typeface="微软雅黑"/>
              </a:rPr>
              <a:t>将大量错误合并成可处理任务，避免逐条、重复处理级联错误。</a:t>
            </a:r>
            <a:endParaRPr sz="1200"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200">
                <a:latin typeface="微软雅黑"/>
                <a:ea typeface="微软雅黑"/>
                <a:cs typeface="微软雅黑"/>
              </a:rPr>
              <a:t>根据错误情况生成重新计算、更新板架、人工处理或研发排查等候选方案。</a:t>
            </a:r>
            <a:endParaRPr sz="1200"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200">
                <a:latin typeface="微软雅黑"/>
                <a:ea typeface="微软雅黑"/>
                <a:cs typeface="微软雅黑"/>
              </a:rPr>
              <a:t>将可恢复的板架问题重新转换为板架请求，复用原有板架创建执行链。</a:t>
            </a:r>
            <a:endParaRPr sz="1200"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200">
                <a:latin typeface="微软雅黑"/>
                <a:ea typeface="微软雅黑"/>
                <a:cs typeface="微软雅黑"/>
              </a:rPr>
              <a:t>通过</a:t>
            </a:r>
            <a:r>
              <a:rPr sz="1200">
                <a:latin typeface="微软雅黑"/>
                <a:ea typeface="微软雅黑"/>
                <a:cs typeface="微软雅黑"/>
              </a:rPr>
              <a:t>Workflow</a:t>
            </a:r>
            <a:r>
              <a:rPr sz="1200">
                <a:latin typeface="微软雅黑"/>
                <a:ea typeface="微软雅黑"/>
                <a:cs typeface="微软雅黑"/>
              </a:rPr>
              <a:t>完成自动执行、等待确认、人工处理等流程分流。</a:t>
            </a:r>
            <a:endParaRPr sz="12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C41033E2-36CC-4736-A881-A900CB77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483995"/>
            <a:ext cx="5080000" cy="16395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spAutoFit/>
          </a:bodyPr>
          <a:lstStyle xmlns:a="http://schemas.openxmlformats.org/drawingml/2006/main"/>
          <a:p xmlns:a="http://schemas.openxmlformats.org/drawingml/2006/main">
            <a:pPr marL="171450" indent="-1714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</a:pPr>
            <a:r>
              <a:rPr sz="1200">
                <a:latin typeface="微软雅黑"/>
                <a:ea typeface="微软雅黑"/>
                <a:cs typeface="微软雅黑"/>
              </a:rPr>
              <a:t>创建与治理一体化：将板架创建作为可复用的基础能力</a:t>
            </a:r>
            <a:endParaRPr sz="1200"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171450" indent="-1714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</a:pPr>
            <a:r>
              <a:rPr sz="1200">
                <a:latin typeface="微软雅黑"/>
                <a:ea typeface="微软雅黑"/>
                <a:cs typeface="微软雅黑"/>
              </a:rPr>
              <a:t>规则限定、Agent选择：确定性规则根据工程事实限定可选范围，Agent只在允许范围内结合任务背景和用户策略选择处理方案。</a:t>
            </a:r>
            <a:endParaRPr sz="1200"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171450" indent="-1714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</a:pPr>
            <a:r>
              <a:rPr sz="1200">
                <a:latin typeface="微软雅黑"/>
                <a:ea typeface="微软雅黑"/>
                <a:cs typeface="微软雅黑"/>
              </a:rPr>
              <a:t>从单条报错转向关联任务：不直接处理每一条报错，而是识别主要问题和关联影响，形成以主要错误对象为中心的治理任务。</a:t>
            </a:r>
            <a:endParaRPr sz="1200"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171450" indent="-1714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</a:pPr>
            <a:r>
              <a:rPr sz="1200">
                <a:latin typeface="微软雅黑"/>
                <a:ea typeface="微软雅黑"/>
                <a:cs typeface="微软雅黑"/>
              </a:rPr>
              <a:t>CAD能力解耦：通过CAD连接层（Provider）和MCP通信接口隔离Agent与具体CAD软件，为后续接入公司软件保留稳定接口。</a:t>
            </a:r>
            <a:endParaRPr sz="12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6E78C228-2E7C-471C-A19C-16173608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" y="1087755"/>
            <a:ext cx="6096000" cy="4298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spcAft>
                <a:spcPct val="60000"/>
              </a:spcAft>
              <a:buFont typeface="Wingdings"/>
              <a:buChar char="Ø"/>
            </a:pPr>
            <a:r>
              <a:rPr sz="2200" b="1">
                <a:latin typeface="微软雅黑"/>
                <a:ea typeface="微软雅黑"/>
                <a:cs typeface="微软雅黑"/>
              </a:rPr>
              <a:t>本方案完成的工作</a:t>
            </a:r>
            <a:endParaRPr sz="2200" b="1"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928E325E-1115-43D5-A1E5-6300455F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4230" y="1087755"/>
            <a:ext cx="6096000" cy="4298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marL="342900" lvl="0" indent="-342900" algn="l">
              <a:spcAft>
                <a:spcPct val="60000"/>
              </a:spcAft>
              <a:buClrTx/>
              <a:buSzTx/>
              <a:buFont typeface="Wingdings"/>
              <a:buChar char="Ø"/>
            </a:pPr>
            <a:r>
              <a:rPr sz="2200" b="1">
                <a:latin typeface="微软雅黑"/>
                <a:ea typeface="微软雅黑"/>
                <a:cs typeface="微软雅黑"/>
              </a:rPr>
              <a:t> </a:t>
            </a:r>
            <a:r>
              <a:rPr sz="2200" b="1">
                <a:latin typeface="微软雅黑"/>
                <a:ea typeface="微软雅黑"/>
                <a:cs typeface="微软雅黑"/>
              </a:rPr>
              <a:t>方案创新点</a:t>
            </a:r>
            <a:endParaRPr sz="2200" b="1"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7B97CBBF-AAC4-452D-B377-CF743E65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4182745"/>
            <a:ext cx="5080000" cy="16395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spAutoFit/>
          </a:bodyPr>
          <a:lstStyle xmlns:a="http://schemas.openxmlformats.org/drawingml/2006/main"/>
          <a:p xmlns:a="http://schemas.openxmlformats.org/drawingml/2006/main">
            <a:pPr marL="171450" indent="-1714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</a:pPr>
            <a:r>
              <a:rPr sz="1200">
                <a:latin typeface="微软雅黑"/>
                <a:ea typeface="微软雅黑"/>
                <a:cs typeface="微软雅黑"/>
              </a:rPr>
              <a:t>理解需求：将自然语言转换为结构化板架创建参数。</a:t>
            </a:r>
            <a:endParaRPr sz="1200"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171450" indent="-1714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</a:pPr>
            <a:r>
              <a:rPr sz="1200">
                <a:latin typeface="微软雅黑"/>
                <a:ea typeface="微软雅黑"/>
                <a:cs typeface="微软雅黑"/>
              </a:rPr>
              <a:t>综合判断：结合错误类型、影响对象、工程查询结果和用户策略选择处理方式。</a:t>
            </a:r>
            <a:endParaRPr sz="1200"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171450" indent="-1714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</a:pPr>
            <a:r>
              <a:rPr sz="1200">
                <a:latin typeface="微软雅黑"/>
                <a:ea typeface="微软雅黑"/>
                <a:cs typeface="微软雅黑"/>
              </a:rPr>
              <a:t>动态路由：面对不同任务，动态选择重新计算、更新板架、等待确认或转人工。</a:t>
            </a:r>
            <a:endParaRPr sz="1200"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171450" indent="-1714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</a:pPr>
            <a:r>
              <a:rPr sz="1200">
                <a:latin typeface="微软雅黑"/>
                <a:ea typeface="微软雅黑"/>
                <a:cs typeface="微软雅黑"/>
              </a:rPr>
              <a:t>任务转换：把错误分析结果转化为可进入板架创建链的恢复任务。</a:t>
            </a:r>
            <a:endParaRPr sz="1200"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171450" indent="-1714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</a:pPr>
            <a:r>
              <a:rPr sz="1200">
                <a:latin typeface="微软雅黑"/>
                <a:ea typeface="微软雅黑"/>
                <a:cs typeface="微软雅黑"/>
              </a:rPr>
              <a:t>解释建议：说明选择某条处理路线的原因，辅助设计人员快速决策。</a:t>
            </a:r>
            <a:endParaRPr sz="12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73EEADAF-A945-480A-9A28-0F3BD5BF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3651250"/>
            <a:ext cx="3100705" cy="4298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marL="342900" lvl="0" indent="-342900" algn="l">
              <a:spcAft>
                <a:spcPct val="60000"/>
              </a:spcAft>
              <a:buClrTx/>
              <a:buSzTx/>
              <a:buFont typeface="Wingdings"/>
              <a:buChar char="Ø"/>
            </a:pPr>
            <a:r>
              <a:rPr sz="2200" b="1">
                <a:latin typeface="微软雅黑"/>
                <a:ea typeface="微软雅黑"/>
                <a:cs typeface="微软雅黑"/>
              </a:rPr>
              <a:t> Agent</a:t>
            </a:r>
            <a:r>
              <a:rPr sz="2200" b="1">
                <a:latin typeface="微软雅黑"/>
                <a:ea typeface="微软雅黑"/>
                <a:cs typeface="微软雅黑"/>
              </a:rPr>
              <a:t>带来</a:t>
            </a:r>
            <a:r>
              <a:rPr sz="2200" b="1">
                <a:latin typeface="微软雅黑"/>
                <a:ea typeface="微软雅黑"/>
                <a:cs typeface="微软雅黑"/>
              </a:rPr>
              <a:t>的增益</a:t>
            </a:r>
            <a:endParaRPr sz="2200" b="1"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A04617A1-A510-4DDB-9643-AD40E8D4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2230" y="4183062"/>
            <a:ext cx="5080000" cy="8299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本方案使</a:t>
            </a:r>
            <a:r>
              <a:rPr sz="160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AI</a:t>
            </a:r>
            <a:r>
              <a:rPr sz="160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从“接受指令后创建一块板架”，提升为“发现创建或恢复需求、形成处理任务、选择执行路线并连接</a:t>
            </a:r>
            <a:r>
              <a:rPr sz="160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CAD</a:t>
            </a:r>
            <a:r>
              <a:rPr sz="160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能力”的工程协作</a:t>
            </a:r>
            <a:r>
              <a:rPr sz="160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Agent</a:t>
            </a:r>
            <a:r>
              <a:rPr sz="160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1600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057852242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C2C12C7-0AEA-4662-828E-FBA260BA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765" y="382905"/>
            <a:ext cx="11158630" cy="5156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>
                <a:solidFill>
                  <a:schemeClr val="accent5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方案总结</a:t>
            </a:r>
            <a:endParaRPr sz="2800" b="1">
              <a:solidFill>
                <a:schemeClr val="accent5">
                  <a:lumMod val="5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6BCA0E84-8A4A-4A6E-A0E9-1C83FE58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2995" y="6492875"/>
            <a:ext cx="553967" cy="365125"/>
          </a:xfrm>
        </p:spPr>
        <p:txBody>
          <a:bodyPr xmlns:a="http://schemas.openxmlformats.org/drawingml/2006/main"/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endParaRPr sz="1600">
              <a:solidFill>
                <a:schemeClr val="bg1"/>
              </a:solidFill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6655C6A-8810-4971-88D0-849DF5798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287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74B8"/>
                </a:solidFill>
                <a:latin typeface="微软雅黑"/>
                <a:ea typeface="微软雅黑"/>
                <a:cs typeface="微软雅黑"/>
              </a:defRPr>
            </a:pPr>
            <a:r>
              <a:rPr sz="1400" b="1">
                <a:solidFill>
                  <a:srgbClr val="1674B8"/>
                </a:solidFill>
                <a:latin typeface="微软雅黑"/>
                <a:ea typeface="微软雅黑"/>
                <a:cs typeface="微软雅黑"/>
              </a:rPr>
              <a:t>已经验证“发现任务、选择路线、安全创建”的流程骨架，下一步把Mock接口替换为公司CAD能力</a:t>
            </a:r>
            <a:endParaRPr sz="1400" b="1">
              <a:solidFill>
                <a:srgbClr val="1674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E833D31E-8091-4E5E-946A-F5414514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380" y="2181225"/>
            <a:ext cx="34290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AF7F2"/>
          </a:solidFill>
          <a:ln xmlns:a="http://schemas.openxmlformats.org/drawingml/2006/main" w="11430">
            <a:solidFill>
              <a:srgbClr val="14805E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4805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4805E"/>
                </a:solidFill>
                <a:latin typeface="微软雅黑"/>
                <a:ea typeface="微软雅黑"/>
                <a:cs typeface="微软雅黑"/>
              </a:rPr>
              <a:t>当前已证明</a:t>
            </a:r>
            <a:endParaRPr sz="1500" b="1">
              <a:solidFill>
                <a:srgbClr val="14805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6C3F617-6A85-4C89-8BE6-2863E588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55" y="2847975"/>
            <a:ext cx="3319145" cy="1057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marL="285750" indent="-285750" algn="l">
              <a:buFont typeface="Arial"/>
              <a:buChar char="•"/>
              <a:defRPr sz="124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4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自然语言 → PanelRequest → 模拟创建</a:t>
            </a:r>
            <a:endParaRPr sz="1240" b="1">
              <a:solidFill>
                <a:srgbClr val="334155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indent="-285750" algn="l">
              <a:buFont typeface="Arial"/>
              <a:buChar char="•"/>
              <a:defRPr sz="124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4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错误快照 → 4个问题组与允许路线</a:t>
            </a:r>
            <a:endParaRPr sz="1240" b="1">
              <a:solidFill>
                <a:srgbClr val="334155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indent="-285750" algn="l">
              <a:buFont typeface="Arial"/>
              <a:buChar char="•"/>
              <a:defRPr sz="124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4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默认策略模拟恢复26条，剩余10条</a:t>
            </a:r>
            <a:endParaRPr sz="1240" b="1">
              <a:solidFill>
                <a:srgbClr val="334155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indent="-285750" algn="l">
              <a:buFont typeface="Arial"/>
              <a:buChar char="•"/>
              <a:defRPr sz="124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4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错误治理页面复用板架创建链</a:t>
            </a:r>
            <a:endParaRPr sz="1240" b="1">
              <a:solidFill>
                <a:srgbClr val="3341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F073F4C3-0764-4286-AE73-09E3746E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380" y="2181225"/>
            <a:ext cx="34290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5E8"/>
          </a:solidFill>
          <a:ln xmlns:a="http://schemas.openxmlformats.org/drawingml/2006/main" w="11430">
            <a:solidFill>
              <a:srgbClr val="C56A00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C56A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C56A00"/>
                </a:solidFill>
                <a:latin typeface="微软雅黑"/>
                <a:ea typeface="微软雅黑"/>
                <a:cs typeface="微软雅黑"/>
              </a:rPr>
              <a:t>当前不足</a:t>
            </a:r>
            <a:endParaRPr sz="1500" b="1">
              <a:solidFill>
                <a:srgbClr val="C56A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8C467C6-6ECD-497A-9985-D2AAEF88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255" y="2847975"/>
            <a:ext cx="3143250" cy="10585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marL="285750" indent="-285750" algn="l">
              <a:buFont typeface="Arial"/>
              <a:buChar char="•"/>
              <a:defRPr sz="124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4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错误、工程目录、执行和复查仍为Mock</a:t>
            </a:r>
            <a:endParaRPr sz="1240" b="1">
              <a:solidFill>
                <a:srgbClr val="334155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indent="-285750" algn="l">
              <a:buFont typeface="Arial"/>
              <a:buChar char="•"/>
              <a:defRPr sz="124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4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恢复候选尚未自动进入板架请求</a:t>
            </a:r>
            <a:endParaRPr sz="1240" b="1">
              <a:solidFill>
                <a:srgbClr val="334155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indent="-285750" algn="l">
              <a:buFont typeface="Arial"/>
              <a:buChar char="•"/>
              <a:defRPr sz="124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4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未实现按板架ID更新、事务和回滚</a:t>
            </a:r>
            <a:endParaRPr sz="1240" b="1">
              <a:solidFill>
                <a:srgbClr val="334155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indent="-285750" algn="l">
              <a:buFont typeface="Arial"/>
              <a:buChar char="•"/>
              <a:defRPr sz="124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4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未验证真实几何、强度和全船规模</a:t>
            </a:r>
            <a:endParaRPr sz="1240" b="1">
              <a:solidFill>
                <a:srgbClr val="3341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E857A573-5CA5-46BE-B498-89163F7B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0380" y="2181225"/>
            <a:ext cx="34290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AF4FA"/>
          </a:solidFill>
          <a:ln xmlns:a="http://schemas.openxmlformats.org/drawingml/2006/main" w="11430">
            <a:solidFill>
              <a:srgbClr val="1674B8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5394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05394"/>
                </a:solidFill>
                <a:latin typeface="微软雅黑"/>
                <a:ea typeface="微软雅黑"/>
                <a:cs typeface="微软雅黑"/>
              </a:rPr>
              <a:t>公司软件落地</a:t>
            </a:r>
            <a:endParaRPr sz="1500" b="1">
              <a:solidFill>
                <a:srgbClr val="00539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1017656-4155-48E1-9C9D-ED31F6C3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0380" y="2847975"/>
            <a:ext cx="3462020" cy="1057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marL="285750" indent="-285750" algn="l">
              <a:buFont typeface="Arial"/>
              <a:buChar char="•"/>
              <a:defRPr sz="124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4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确认错误快照、对象关系和创建/更新接口</a:t>
            </a:r>
            <a:endParaRPr sz="1240" b="1">
              <a:solidFill>
                <a:srgbClr val="334155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indent="-285750" algn="l">
              <a:buFont typeface="Arial"/>
              <a:buChar char="•"/>
              <a:defRPr sz="124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4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接通</a:t>
            </a:r>
            <a:r>
              <a:rPr sz="124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MCP</a:t>
            </a:r>
            <a:r>
              <a:rPr sz="124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调用</a:t>
            </a:r>
            <a:r>
              <a:rPr sz="124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候选与板架请求</a:t>
            </a:r>
            <a:endParaRPr sz="1240" b="1">
              <a:solidFill>
                <a:srgbClr val="334155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indent="-285750" algn="l">
              <a:buFont typeface="Arial"/>
              <a:buChar char="•"/>
              <a:defRPr sz="124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4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明确安全修改权限边界</a:t>
            </a:r>
            <a:endParaRPr sz="1240" b="1">
              <a:solidFill>
                <a:srgbClr val="334155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indent="-285750" algn="l">
              <a:buFont typeface="Arial"/>
              <a:buChar char="•"/>
              <a:defRPr sz="124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24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确认</a:t>
            </a:r>
            <a:r>
              <a:rPr sz="124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langgraph</a:t>
            </a:r>
            <a:r>
              <a:rPr sz="124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24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ollama</a:t>
            </a:r>
            <a:r>
              <a:rPr sz="1240" b="1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等组件的商业</a:t>
            </a:r>
            <a:endParaRPr sz="1240" b="1">
              <a:solidFill>
                <a:srgbClr val="3341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D8824B93-382A-4B41-9BB0-7DF7ED81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1814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B7374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B73746"/>
                </a:solidFill>
                <a:latin typeface="微软雅黑"/>
                <a:ea typeface="微软雅黑"/>
                <a:cs typeface="微软雅黑"/>
              </a:rPr>
              <a:t>落地原则：Python Agent负责理解和编排，CAD连接层提供工程事实，最终几何修改始终由C++ CAD软件完成。</a:t>
            </a:r>
            <a:endParaRPr sz="1275" b="1">
              <a:solidFill>
                <a:srgbClr val="B73746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695754973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EBD5684-BD0B-463F-8CC7-CF7477A2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90750"/>
            <a:ext cx="1219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6345F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6345F"/>
                </a:solidFill>
                <a:latin typeface="微软雅黑"/>
                <a:ea typeface="微软雅黑"/>
                <a:cs typeface="微软雅黑"/>
              </a:rPr>
              <a:t>AI辅助板架自动创建</a:t>
            </a:r>
            <a:endParaRPr sz="3150" b="1">
              <a:solidFill>
                <a:srgbClr val="1634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B7AD74D-6A14-44C0-A1E1-1DCB836A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0375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674B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674B8"/>
                </a:solidFill>
                <a:latin typeface="微软雅黑"/>
                <a:ea typeface="微软雅黑"/>
                <a:cs typeface="微软雅黑"/>
              </a:rPr>
              <a:t>从主动创建扩展到错误触发的安全恢复闭环</a:t>
            </a:r>
            <a:endParaRPr sz="1875" b="1">
              <a:solidFill>
                <a:srgbClr val="1674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C7834FB-B24B-43A5-999B-FDA5FE33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05250"/>
            <a:ext cx="1219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汇报完毕，谢谢！</a:t>
            </a:r>
            <a:endParaRPr sz="19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51514273"/>
      </p:ext>
    </p:extLst>
  </p:cSld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2026-09-13T14:11:48.9420000Z</dcterms:created>
  <dcterms:modified xsi:type="dcterms:W3CDTF">2026-09-13T14:11:48.9420000Z</dcterms:modified>
</coreProperties>
</file>